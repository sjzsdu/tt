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b9a9100c7c4ce1" /><Relationship Type="http://schemas.openxmlformats.org/officeDocument/2006/relationships/extended-properties" Target="/docProps/app.xml" Id="Rb70eb65807734b34" /><Relationship Type="http://schemas.openxmlformats.org/officeDocument/2006/relationships/officeDocument" Target="/ppt/presentation.xml" Id="R5e63397b9f1e4ab2" /></Relationships>
</file>

<file path=ppt/presentation.xml><?xml version="1.0" encoding="utf-8"?>
<p:presentation xmlns:p="http://schemas.openxmlformats.org/presentationml/2006/main">
  <p:sldMasterIdLst>
    <p:sldMasterId xmlns:r="http://schemas.openxmlformats.org/officeDocument/2006/relationships" id="2147483648" r:id="R06f4a71878f84929"/>
  </p:sldMasterIdLst>
  <p:notesMasterIdLst>
    <p:notesMasterId xmlns:r="http://schemas.openxmlformats.org/officeDocument/2006/relationships" r:id="Rb6ec8d67b44c4100"/>
  </p:notesMasterIdLst>
  <p:sldIdLst>
    <p:sldId xmlns:r="http://schemas.openxmlformats.org/officeDocument/2006/relationships" id="256" r:id="Re4fb032691e3419e"/>
    <p:sldId xmlns:r="http://schemas.openxmlformats.org/officeDocument/2006/relationships" id="257" r:id="R221a485d69a04739"/>
    <p:sldId xmlns:r="http://schemas.openxmlformats.org/officeDocument/2006/relationships" id="258" r:id="R7281ddbda35d4b89"/>
    <p:sldId xmlns:r="http://schemas.openxmlformats.org/officeDocument/2006/relationships" id="259" r:id="R1d431d369e27416e"/>
    <p:sldId xmlns:r="http://schemas.openxmlformats.org/officeDocument/2006/relationships" id="260" r:id="Rc51e802ba685499d"/>
    <p:sldId xmlns:r="http://schemas.openxmlformats.org/officeDocument/2006/relationships" id="261" r:id="R53db99afec5f4833"/>
    <p:sldId xmlns:r="http://schemas.openxmlformats.org/officeDocument/2006/relationships" id="262" r:id="R752b4999398347db"/>
    <p:sldId xmlns:r="http://schemas.openxmlformats.org/officeDocument/2006/relationships" id="263" r:id="R38bf8ba1601b4ce4"/>
    <p:sldId xmlns:r="http://schemas.openxmlformats.org/officeDocument/2006/relationships" id="264" r:id="R56b3e791f3c143d1"/>
    <p:sldId xmlns:r="http://schemas.openxmlformats.org/officeDocument/2006/relationships" id="265" r:id="Rffd8b45f983e4e5f"/>
    <p:sldId xmlns:r="http://schemas.openxmlformats.org/officeDocument/2006/relationships" id="266" r:id="R9579adc4d665416c"/>
    <p:sldId xmlns:r="http://schemas.openxmlformats.org/officeDocument/2006/relationships" id="267" r:id="Raa1e67708dd9429a"/>
    <p:sldId xmlns:r="http://schemas.openxmlformats.org/officeDocument/2006/relationships" id="268" r:id="R326045fc71e1405b"/>
    <p:sldId xmlns:r="http://schemas.openxmlformats.org/officeDocument/2006/relationships" id="269" r:id="R486d769ab6cf4602"/>
    <p:sldId xmlns:r="http://schemas.openxmlformats.org/officeDocument/2006/relationships" id="270" r:id="R37760529dffe4052"/>
    <p:sldId xmlns:r="http://schemas.openxmlformats.org/officeDocument/2006/relationships" id="271" r:id="Rcd26d35d07674e66"/>
    <p:sldId xmlns:r="http://schemas.openxmlformats.org/officeDocument/2006/relationships" id="272" r:id="Re46bd5be50cf495d"/>
    <p:sldId xmlns:r="http://schemas.openxmlformats.org/officeDocument/2006/relationships" id="273" r:id="R3e973cc19ce4480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b29aa9ae9f4078" /><Relationship Type="http://schemas.openxmlformats.org/officeDocument/2006/relationships/slideMaster" Target="/ppt/slideMasters/slideMaster1.xml" Id="R06f4a71878f84929" /><Relationship Type="http://schemas.openxmlformats.org/officeDocument/2006/relationships/notesMaster" Target="/ppt/notesMasters/notesMaster1.xml" Id="Rb6ec8d67b44c4100" /><Relationship Type="http://schemas.openxmlformats.org/officeDocument/2006/relationships/presProps" Target="/ppt/presProps.xml" Id="R62aae9a0edac4788" /><Relationship Type="http://schemas.openxmlformats.org/officeDocument/2006/relationships/tableStyles" Target="/ppt/tableStyles.xml" Id="R9c16743b85d44650" /><Relationship Type="http://schemas.openxmlformats.org/officeDocument/2006/relationships/slide" Target="/ppt/slides/slide1.xml" Id="Re4fb032691e3419e" /><Relationship Type="http://schemas.openxmlformats.org/officeDocument/2006/relationships/slide" Target="/ppt/slides/slide2.xml" Id="R221a485d69a04739" /><Relationship Type="http://schemas.openxmlformats.org/officeDocument/2006/relationships/slide" Target="/ppt/slides/slide3.xml" Id="R7281ddbda35d4b89" /><Relationship Type="http://schemas.openxmlformats.org/officeDocument/2006/relationships/slide" Target="/ppt/slides/slide4.xml" Id="R1d431d369e27416e" /><Relationship Type="http://schemas.openxmlformats.org/officeDocument/2006/relationships/slide" Target="/ppt/slides/slide5.xml" Id="Rc51e802ba685499d" /><Relationship Type="http://schemas.openxmlformats.org/officeDocument/2006/relationships/slide" Target="/ppt/slides/slide6.xml" Id="R53db99afec5f4833" /><Relationship Type="http://schemas.openxmlformats.org/officeDocument/2006/relationships/slide" Target="/ppt/slides/slide7.xml" Id="R752b4999398347db" /><Relationship Type="http://schemas.openxmlformats.org/officeDocument/2006/relationships/slide" Target="/ppt/slides/slide8.xml" Id="R38bf8ba1601b4ce4" /><Relationship Type="http://schemas.openxmlformats.org/officeDocument/2006/relationships/slide" Target="/ppt/slides/slide9.xml" Id="R56b3e791f3c143d1" /><Relationship Type="http://schemas.openxmlformats.org/officeDocument/2006/relationships/slide" Target="/ppt/slides/slide10.xml" Id="Rffd8b45f983e4e5f" /><Relationship Type="http://schemas.openxmlformats.org/officeDocument/2006/relationships/slide" Target="/ppt/slides/slide11.xml" Id="R9579adc4d665416c" /><Relationship Type="http://schemas.openxmlformats.org/officeDocument/2006/relationships/slide" Target="/ppt/slides/slide12.xml" Id="Raa1e67708dd9429a" /><Relationship Type="http://schemas.openxmlformats.org/officeDocument/2006/relationships/slide" Target="/ppt/slides/slide13.xml" Id="R326045fc71e1405b" /><Relationship Type="http://schemas.openxmlformats.org/officeDocument/2006/relationships/slide" Target="/ppt/slides/slide14.xml" Id="R486d769ab6cf4602" /><Relationship Type="http://schemas.openxmlformats.org/officeDocument/2006/relationships/slide" Target="/ppt/slides/slide15.xml" Id="R37760529dffe4052" /><Relationship Type="http://schemas.openxmlformats.org/officeDocument/2006/relationships/slide" Target="/ppt/slides/slide16.xml" Id="Rcd26d35d07674e66" /><Relationship Type="http://schemas.openxmlformats.org/officeDocument/2006/relationships/slide" Target="/ppt/slides/slide17.xml" Id="Re46bd5be50cf495d" /><Relationship Type="http://schemas.openxmlformats.org/officeDocument/2006/relationships/slide" Target="/ppt/slides/slide18.xml" Id="R3e973cc19ce448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370d49f9c246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cde0e45b404cf5" /><Relationship Type="http://schemas.openxmlformats.org/officeDocument/2006/relationships/notesMaster" Target="/ppt/notesMasters/notesMaster1.xml" Id="Rae033d3164aa45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285f65ab0f4e14" /><Relationship Type="http://schemas.openxmlformats.org/officeDocument/2006/relationships/notesMaster" Target="/ppt/notesMasters/notesMaster1.xml" Id="Rf19964fda0ec4a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d20d49c5dda40b5" /><Relationship Type="http://schemas.openxmlformats.org/officeDocument/2006/relationships/notesMaster" Target="/ppt/notesMasters/notesMaster1.xml" Id="Rf8d01b7fd6a748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7a7eb8a0fd421c" /><Relationship Type="http://schemas.openxmlformats.org/officeDocument/2006/relationships/notesMaster" Target="/ppt/notesMasters/notesMaster1.xml" Id="R69e0f2599f1e4f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47bd9b05174d71" /><Relationship Type="http://schemas.openxmlformats.org/officeDocument/2006/relationships/notesMaster" Target="/ppt/notesMasters/notesMaster1.xml" Id="R6c7c455a4ae54a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46a8ea3fc14921" /><Relationship Type="http://schemas.openxmlformats.org/officeDocument/2006/relationships/notesMaster" Target="/ppt/notesMasters/notesMaster1.xml" Id="Re22526e226544f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ceaf30c4ce496f" /><Relationship Type="http://schemas.openxmlformats.org/officeDocument/2006/relationships/notesMaster" Target="/ppt/notesMasters/notesMaster1.xml" Id="R6e434222295f42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4f6e322f434001" /><Relationship Type="http://schemas.openxmlformats.org/officeDocument/2006/relationships/notesMaster" Target="/ppt/notesMasters/notesMaster1.xml" Id="R0ed4f2d929ce47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04924b0a7d4dd7" /><Relationship Type="http://schemas.openxmlformats.org/officeDocument/2006/relationships/notesMaster" Target="/ppt/notesMasters/notesMaster1.xml" Id="Rf7153d9427cc4c7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45f56b701d4a14" /><Relationship Type="http://schemas.openxmlformats.org/officeDocument/2006/relationships/notesMaster" Target="/ppt/notesMasters/notesMaster1.xml" Id="Refaa4784021c4e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8f28a48b624430" /><Relationship Type="http://schemas.openxmlformats.org/officeDocument/2006/relationships/notesMaster" Target="/ppt/notesMasters/notesMaster1.xml" Id="R72b20af0692f49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2840a6c7fb40c7" /><Relationship Type="http://schemas.openxmlformats.org/officeDocument/2006/relationships/notesMaster" Target="/ppt/notesMasters/notesMaster1.xml" Id="R0f38a32bb86041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90598b1ffa4ff9" /><Relationship Type="http://schemas.openxmlformats.org/officeDocument/2006/relationships/notesMaster" Target="/ppt/notesMasters/notesMaster1.xml" Id="Rf02cf2c892cf4a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a3bc4d481124a35" /><Relationship Type="http://schemas.openxmlformats.org/officeDocument/2006/relationships/notesMaster" Target="/ppt/notesMasters/notesMaster1.xml" Id="R08a52769dffe40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50778f470643a8" /><Relationship Type="http://schemas.openxmlformats.org/officeDocument/2006/relationships/notesMaster" Target="/ppt/notesMasters/notesMaster1.xml" Id="Rde7d5668ec354b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aaee556e2c4486" /><Relationship Type="http://schemas.openxmlformats.org/officeDocument/2006/relationships/notesMaster" Target="/ppt/notesMasters/notesMaster1.xml" Id="R1468dd97c27a4a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a5011a0d02b456d" /><Relationship Type="http://schemas.openxmlformats.org/officeDocument/2006/relationships/notesMaster" Target="/ppt/notesMasters/notesMaster1.xml" Id="R68b4017fb5334c4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ac9b0d481a4cc2" /><Relationship Type="http://schemas.openxmlformats.org/officeDocument/2006/relationships/notesMaster" Target="/ppt/notesMasters/notesMaster1.xml" Id="R07e78f230b7147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a:t>
            </a:r>
          </a:p>
          <a:p xmlns:a="http://schemas.openxmlformats.org/drawingml/2006/main">
            <a:r>
              <a:t>开场不要先讲命令清单，而是先定义 tt 的定位：一个把多种本地开发辅助能力收拢到同一根命令下的工具箱。</a:t>
            </a:r>
          </a:p>
          <a:p xmlns:a="http://schemas.openxmlformats.org/drawingml/2006/main">
            <a:r>
              <a:t>提醒听众：今天不是逐行代码 walkthrough，而是建立 mental model。后面会给出目录入口和 demo 路线。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这一页可以作为主持节奏表。建议明确中间不单独设置长休息，而是把 demo/讨论穿插到 65 分钟以后。</a:t>
            </a:r>
          </a:p>
          <a:p xmlns:a="http://schemas.openxmlformats.org/drawingml/2006/main">
            <a:r>
              <a:t>如果现场同事更关心落地使用，可以压缩 23-41 的架构部分，把更多时间留给 78-88 的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建议用类比帮助同事建立直觉：tt 不是一个产品页面，而是一个本地开发自动化平台的雏形。</a:t>
            </a:r>
          </a:p>
          <a:p xmlns:a="http://schemas.openxmlformats.org/drawingml/2006/main">
            <a:r>
              <a:t>这里可以点出 README 的核心表述：collection-style CLI toolkit for local task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a:t>
            </a:r>
          </a:p>
          <a:p xmlns:a="http://schemas.openxmlformats.org/drawingml/2006/main">
            <a:r>
              <a:t>把命令按运行模型分组讲，比按 README 列表念更容易记。</a:t>
            </a:r>
          </a:p>
          <a:p xmlns:a="http://schemas.openxmlformats.org/drawingml/2006/main">
            <a:r>
              <a:t>提示：后面架构图中的几条运行路径，基本对应这里的 Web UI、Picoclaw、Formula 和 docs/skill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强调这些数字是当前 workspace 检查值，不是文档里手写的静态数字。</a:t>
            </a:r>
          </a:p>
          <a:p xmlns:a="http://schemas.openxmlformats.org/drawingml/2006/main">
            <a:r>
              <a:t>如果有同事关心维护成本，可以指出 49 个测试文件覆盖了 formula runtime、dashboard、workspace、cmd2skill/repo2skill 等关键路径。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a:t>
            </a:r>
          </a:p>
          <a:p xmlns:a="http://schemas.openxmlformats.org/drawingml/2006/main">
            <a:r>
              <a:t>这一页是后续所有源码解释的 anchor。</a:t>
            </a:r>
          </a:p>
          <a:p xmlns:a="http://schemas.openxmlformats.org/drawingml/2006/main">
            <a:r>
              <a:t>讲解顺序：用户进 cmd；cmd 加载配置和依赖；复杂逻辑进入 internal；运行时可能是 Picoclaw、typed formula runtime 或本地 Web 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这一页适合讲本地 UI 的工程取舍：不是做 SaaS，而是在本地浏览器提供更舒服的读写/观察界面。</a:t>
            </a:r>
          </a:p>
          <a:p xmlns:a="http://schemas.openxmlformats.org/drawingml/2006/main">
            <a:r>
              <a:t>可以顺手展示 internal/webui 和 web/apps 的分工。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a:t>
            </a:r>
          </a:p>
          <a:p xmlns:a="http://schemas.openxmlformats.org/drawingml/2006/main">
            <a:r>
              <a:t>讲 internal/picoclaw 的职责：Load runtime、clone config、apply embedded agent configs、CreateProvider、AgentLoop、DirectRunner。</a:t>
            </a:r>
          </a:p>
          <a:p xmlns:a="http://schemas.openxmlformats.org/drawingml/2006/main">
            <a:r>
              <a:t>强调这不是外部 shell 调用 picoclaw，而是一个 Go 内部适配层。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这里先给公式系统一个强定义，不要马上陷入字段列表。</a:t>
            </a:r>
          </a:p>
          <a:p xmlns:a="http://schemas.openxmlformats.org/drawingml/2006/main">
            <a:r>
              <a:t>一句话要讲清楚：它把重复工作从散乱提示词和脚本，提升为可编译、可恢复、可观察的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a:t>
            </a:r>
          </a:p>
          <a:p xmlns:a="http://schemas.openxmlformats.org/drawingml/2006/main">
            <a:r>
              <a:t>这页是 formula 深挖的核心：先解析与展开，再编译为 typed workflow，然后执行、修复、持久化和展示。</a:t>
            </a:r>
          </a:p>
          <a:p xmlns:a="http://schemas.openxmlformats.org/drawingml/2006/main">
            <a:r>
              <a:t>特别点出 StepFixer：agent/script 走统一修复抽象，但是否重试受 idempotent 控制，script 默认非幂等。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a:t>
            </a:r>
          </a:p>
          <a:p xmlns:a="http://schemas.openxmlformats.org/drawingml/2006/main">
            <a:r>
              <a:t>这里把 step kind 讲成可执行语义，而不是字段列表。</a:t>
            </a:r>
          </a:p>
          <a:p xmlns:a="http://schemas.openxmlformats.org/drawingml/2006/main">
            <a:r>
              <a:t>可以强调 output 默认按 step id 写入 context，下游用 input_context 读取；这让条件、聚合和 resume 更自然。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这页适合展示为什么 formula 比简单脚本更适合长期任务：它保留过程、状态和修复建议。</a:t>
            </a:r>
          </a:p>
          <a:p xmlns:a="http://schemas.openxmlformats.org/drawingml/2006/main">
            <a:r>
              <a:t>强调 dashboard 不是独立产品，而是 run store 的可视化投影。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a:t>
            </a:r>
          </a:p>
          <a:p xmlns:a="http://schemas.openxmlformats.org/drawingml/2006/main">
            <a:r>
              <a:t>这里不要逐个讲 24 个公式，只讲分类和如何选择起点。</a:t>
            </a:r>
          </a:p>
          <a:p xmlns:a="http://schemas.openxmlformats.org/drawingml/2006/main">
            <a:r>
              <a:t>提醒同事 builtin formula 可以 copy 到本地修改，atomics 用于复用最小原子步骤。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把这些命令讲成“面向工程资产生成”的一组能力：文档、skill、agent 都可以从代码或命令中提炼。</a:t>
            </a:r>
          </a:p>
          <a:p xmlns:a="http://schemas.openxmlformats.org/drawingml/2006/main">
            <a:r>
              <a:t>如果现场时间有限，这页可快速过；真正的重点仍然是 Picoclaw 适配层和 formula runtime。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这页帮助使用者理解为什么同一条命令在不同项目目录可能有不同默认行为。</a:t>
            </a:r>
          </a:p>
          <a:p xmlns:a="http://schemas.openxmlformats.org/drawingml/2006/main">
            <a:r>
              <a:t>注意讲清 flags 是最后覆盖层，便于调试模型、session 和 Picoclaw home。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a:t>
            </a:r>
          </a:p>
          <a:p xmlns:a="http://schemas.openxmlformats.org/drawingml/2006/main">
            <a:r>
              <a:t>建议用真实同事视角讲：新人、维护者、PR owner、文档负责人、工具作者分别会从哪里受益。</a:t>
            </a:r>
          </a:p>
          <a:p xmlns:a="http://schemas.openxmlformats.org/drawingml/2006/main">
            <a:r>
              <a:t>也提醒限制：涉及外部 CLI 或平台登录的 formula 要先看 preflight。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a:t>
            </a:r>
          </a:p>
          <a:p xmlns:a="http://schemas.openxmlformats.org/drawingml/2006/main">
            <a:r>
              <a:t>这页是给工程同事的行动地图。建议现场挑一个例子，比如“加一个新的 formula”或“加 embedded agent”。</a:t>
            </a:r>
          </a:p>
          <a:p xmlns:a="http://schemas.openxmlformats.org/drawingml/2006/main">
            <a:r>
              <a:t>提醒：不要从 cmd 文件里塞复杂逻辑；优先把复用逻辑放到 internal 对应主题包。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 wrap, or expand to 8-10 min if you reserve live demo time earlier.</a:t>
            </a:r>
          </a:p>
          <a:p xmlns:a="http://schemas.openxmlformats.org/drawingml/2006/main">
            <a:r>
              <a:t>最后给一个行动建议：不要从最复杂的自动化开始，先挑一个团队里重复、可验收、失败成本低的任务，把它 formula 化。</a:t>
            </a:r>
          </a:p>
          <a:p xmlns:a="http://schemas.openxmlformats.org/drawingml/2006/main">
            <a:r>
              <a:t>如果 demo 出错，直接用 preflight/配置/依赖作为教学点：这类本地自动化本来就需要明确边界。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5f5280df2b40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cf63b2384b4c17" /><Relationship Type="http://schemas.openxmlformats.org/officeDocument/2006/relationships/slideLayout" Target="/ppt/slideLayouts/slideLayout1.xml" Id="Re2e6675c007846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e6675c007846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5c0e56e5014c79" /><Relationship Type="http://schemas.openxmlformats.org/officeDocument/2006/relationships/notesSlide" Target="/ppt/notesSlides/notesSlide1.xml" Id="Rb75b970543ab46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7c4a3d77d5492b" /><Relationship Type="http://schemas.openxmlformats.org/officeDocument/2006/relationships/notesSlide" Target="/ppt/notesSlides/notesSlide2.xml" Id="R721666cd3ab44e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aa2a738c5d42c7" /><Relationship Type="http://schemas.openxmlformats.org/officeDocument/2006/relationships/notesSlide" Target="/ppt/notesSlides/notesSlide3.xml" Id="R3f5662275ae040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247ed95d804b7e" /><Relationship Type="http://schemas.openxmlformats.org/officeDocument/2006/relationships/notesSlide" Target="/ppt/notesSlides/notesSlide4.xml" Id="Rac32d790e20a4e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01be8f9b5e47e1" /><Relationship Type="http://schemas.openxmlformats.org/officeDocument/2006/relationships/notesSlide" Target="/ppt/notesSlides/notesSlide5.xml" Id="Rad1195fd901040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911099d2a440ad" /><Relationship Type="http://schemas.openxmlformats.org/officeDocument/2006/relationships/notesSlide" Target="/ppt/notesSlides/notesSlide6.xml" Id="R0fef9bfbc3d54b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a1b9d77f594591" /><Relationship Type="http://schemas.openxmlformats.org/officeDocument/2006/relationships/notesSlide" Target="/ppt/notesSlides/notesSlide7.xml" Id="R4de518065a424b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48aab47bb14b6f" /><Relationship Type="http://schemas.openxmlformats.org/officeDocument/2006/relationships/notesSlide" Target="/ppt/notesSlides/notesSlide8.xml" Id="Rab26cad4d4304f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a3741265f244f0" /><Relationship Type="http://schemas.openxmlformats.org/officeDocument/2006/relationships/notesSlide" Target="/ppt/notesSlides/notesSlide9.xml" Id="R36f7666e2b7e4e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b891c8a1314fe5" /><Relationship Type="http://schemas.openxmlformats.org/officeDocument/2006/relationships/notesSlide" Target="/ppt/notesSlides/notesSlide10.xml" Id="R17a5fad366f642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a277d299af404b" /><Relationship Type="http://schemas.openxmlformats.org/officeDocument/2006/relationships/notesSlide" Target="/ppt/notesSlides/notesSlide11.xml" Id="R1f670572260048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d05d70f059467a" /><Relationship Type="http://schemas.openxmlformats.org/officeDocument/2006/relationships/notesSlide" Target="/ppt/notesSlides/notesSlide12.xml" Id="R5c65b64fca034b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c58d31607a4797" /><Relationship Type="http://schemas.openxmlformats.org/officeDocument/2006/relationships/notesSlide" Target="/ppt/notesSlides/notesSlide13.xml" Id="R1dc4cdaf2e0e4d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feafbd3347c49c2" /><Relationship Type="http://schemas.openxmlformats.org/officeDocument/2006/relationships/notesSlide" Target="/ppt/notesSlides/notesSlide14.xml" Id="Re0247eb8a0d446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19febb0404f417f" /><Relationship Type="http://schemas.openxmlformats.org/officeDocument/2006/relationships/notesSlide" Target="/ppt/notesSlides/notesSlide15.xml" Id="R78abca4abaf944d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b3ce3f3d4240b4" /><Relationship Type="http://schemas.openxmlformats.org/officeDocument/2006/relationships/notesSlide" Target="/ppt/notesSlides/notesSlide16.xml" Id="R860580b088f84d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105d55f8f64445" /><Relationship Type="http://schemas.openxmlformats.org/officeDocument/2006/relationships/notesSlide" Target="/ppt/notesSlides/notesSlide17.xml" Id="Raed3fd923eaa43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77af3bd8a24224" /><Relationship Type="http://schemas.openxmlformats.org/officeDocument/2006/relationships/notesSlide" Target="/ppt/notesSlides/notesSlide18.xml" Id="Rb7b328f4a71e482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right-field">
            <a:extLst xmlns:a="http://schemas.openxmlformats.org/drawingml/2006/main">
              <a:ext uri="{FF2B5EF4-FFF2-40B4-BE49-F238E27FC236}">
                <a16:creationId xmlns:a16="http://schemas.microsoft.com/office/drawing/2014/main" id="{F00A3767-516C-450E-9A9F-8520E6433D7B}"/>
              </a:ext>
            </a:extLst>
          </p:cNvPr>
          <p:cNvSpPr>
            <a:spLocks xmlns:a="http://schemas.openxmlformats.org/drawingml/2006/main" noGrp="1"/>
          </p:cNvSpPr>
          <p:nvPr/>
        </p:nvSpPr>
        <p:spPr>
          <a:xfrm xmlns:a="http://schemas.openxmlformats.org/drawingml/2006/main">
            <a:off x="8477250" y="0"/>
            <a:ext cx="3714750" cy="68580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 name="orange-slice">
            <a:extLst xmlns:a="http://schemas.openxmlformats.org/drawingml/2006/main">
              <a:ext uri="{FF2B5EF4-FFF2-40B4-BE49-F238E27FC236}">
                <a16:creationId xmlns:a16="http://schemas.microsoft.com/office/drawing/2014/main" id="{8AF2959E-699A-4FFA-9DC6-768F4F8EB58E}"/>
              </a:ext>
            </a:extLst>
          </p:cNvPr>
          <p:cNvSpPr>
            <a:spLocks xmlns:a="http://schemas.openxmlformats.org/drawingml/2006/main" noGrp="1"/>
          </p:cNvSpPr>
          <p:nvPr/>
        </p:nvSpPr>
        <p:spPr>
          <a:xfrm xmlns:a="http://schemas.openxmlformats.org/drawingml/2006/main">
            <a:off x="10763250" y="0"/>
            <a:ext cx="1428750" cy="68580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3" name="brand">
            <a:extLst xmlns:a="http://schemas.openxmlformats.org/drawingml/2006/main">
              <a:ext uri="{FF2B5EF4-FFF2-40B4-BE49-F238E27FC236}">
                <a16:creationId xmlns:a16="http://schemas.microsoft.com/office/drawing/2014/main" id="{67435005-7A0F-4A4B-BC75-CE4C4FFD374A}"/>
              </a:ext>
            </a:extLst>
          </p:cNvPr>
          <p:cNvSpPr>
            <a:spLocks xmlns:a="http://schemas.openxmlformats.org/drawingml/2006/main" noGrp="1"/>
          </p:cNvSpPr>
          <p:nvPr/>
        </p:nvSpPr>
        <p:spPr>
          <a:xfrm xmlns:a="http://schemas.openxmlformats.org/drawingml/2006/main">
            <a:off x="8858250" y="990600"/>
            <a:ext cx="247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6900" b="1">
                <a:solidFill>
                  <a:srgbClr val="FFFFFF"/>
                </a:solidFill>
                <a:latin typeface="SF Mono"/>
                <a:ea typeface="SF Mono"/>
                <a:cs typeface="SF Mono"/>
              </a:defRPr>
            </a:pPr>
            <a:r>
              <a:rPr sz="6900" b="1">
                <a:solidFill>
                  <a:srgbClr val="FFFFFF"/>
                </a:solidFill>
                <a:latin typeface="SF Mono"/>
                <a:ea typeface="SF Mono"/>
                <a:cs typeface="SF Mono"/>
              </a:rPr>
              <a:t>tt</a:t>
            </a:r>
          </a:p>
        </p:txBody>
      </p:sp>
      <p:sp>
        <p:nvSpPr>
          <p:cNvPr id="4" name="brand-sub">
            <a:extLst xmlns:a="http://schemas.openxmlformats.org/drawingml/2006/main">
              <a:ext uri="{FF2B5EF4-FFF2-40B4-BE49-F238E27FC236}">
                <a16:creationId xmlns:a16="http://schemas.microsoft.com/office/drawing/2014/main" id="{7C3CACC8-AA13-4C5A-A9F4-9330D3F948C7}"/>
              </a:ext>
            </a:extLst>
          </p:cNvPr>
          <p:cNvSpPr>
            <a:spLocks xmlns:a="http://schemas.openxmlformats.org/drawingml/2006/main" noGrp="1"/>
          </p:cNvSpPr>
          <p:nvPr/>
        </p:nvSpPr>
        <p:spPr>
          <a:xfrm xmlns:a="http://schemas.openxmlformats.org/drawingml/2006/main">
            <a:off x="8896350" y="20383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500" b="0">
                <a:solidFill>
                  <a:srgbClr val="FFFFFF"/>
                </a:solidFill>
                <a:latin typeface="SF Mono"/>
                <a:ea typeface="SF Mono"/>
                <a:cs typeface="SF Mono"/>
              </a:defRPr>
            </a:pPr>
            <a:r>
              <a:rPr sz="1500" b="0">
                <a:solidFill>
                  <a:srgbClr val="FFFFFF"/>
                </a:solidFill>
                <a:latin typeface="SF Mono"/>
                <a:ea typeface="SF Mono"/>
                <a:cs typeface="SF Mono"/>
              </a:rPr>
              <a:t>local developer workbench</a:t>
            </a:r>
          </a:p>
        </p:txBody>
      </p:sp>
      <p:sp>
        <p:nvSpPr>
          <p:cNvPr id="5" name="title">
            <a:extLst xmlns:a="http://schemas.openxmlformats.org/drawingml/2006/main">
              <a:ext uri="{FF2B5EF4-FFF2-40B4-BE49-F238E27FC236}">
                <a16:creationId xmlns:a16="http://schemas.microsoft.com/office/drawing/2014/main" id="{6CC071F0-BAF9-4DED-ABA7-82BC50148FBE}"/>
              </a:ext>
            </a:extLst>
          </p:cNvPr>
          <p:cNvSpPr>
            <a:spLocks xmlns:a="http://schemas.openxmlformats.org/drawingml/2006/main" noGrp="1"/>
          </p:cNvSpPr>
          <p:nvPr/>
        </p:nvSpPr>
        <p:spPr>
          <a:xfrm xmlns:a="http://schemas.openxmlformats.org/drawingml/2006/main">
            <a:off x="666750" y="876300"/>
            <a:ext cx="647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4950" b="1">
                <a:solidFill>
                  <a:srgbClr val="111111"/>
                </a:solidFill>
                <a:latin typeface="PingFang SC"/>
                <a:ea typeface="PingFang SC"/>
                <a:cs typeface="PingFang SC"/>
              </a:defRPr>
            </a:pPr>
            <a:r>
              <a:rPr sz="4950" b="1">
                <a:solidFill>
                  <a:srgbClr val="111111"/>
                </a:solidFill>
                <a:latin typeface="PingFang SC"/>
                <a:ea typeface="PingFang SC"/>
                <a:cs typeface="PingFang SC"/>
              </a:rPr>
              <a:t>tt 项目介绍</a:t>
            </a:r>
          </a:p>
        </p:txBody>
      </p:sp>
      <p:sp>
        <p:nvSpPr>
          <p:cNvPr id="6" name="subtitle">
            <a:extLst xmlns:a="http://schemas.openxmlformats.org/drawingml/2006/main">
              <a:ext uri="{FF2B5EF4-FFF2-40B4-BE49-F238E27FC236}">
                <a16:creationId xmlns:a16="http://schemas.microsoft.com/office/drawing/2014/main" id="{B868F93A-C5ED-483F-9859-ABDA36EBF180}"/>
              </a:ext>
            </a:extLst>
          </p:cNvPr>
          <p:cNvSpPr>
            <a:spLocks xmlns:a="http://schemas.openxmlformats.org/drawingml/2006/main" noGrp="1"/>
          </p:cNvSpPr>
          <p:nvPr/>
        </p:nvSpPr>
        <p:spPr>
          <a:xfrm xmlns:a="http://schemas.openxmlformats.org/drawingml/2006/main">
            <a:off x="695325" y="200025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2025" b="0">
                <a:solidFill>
                  <a:srgbClr val="555555"/>
                </a:solidFill>
                <a:latin typeface="PingFang SC"/>
                <a:ea typeface="PingFang SC"/>
                <a:cs typeface="PingFang SC"/>
              </a:defRPr>
            </a:pPr>
            <a:r>
              <a:rPr sz="2025" b="0">
                <a:solidFill>
                  <a:srgbClr val="555555"/>
                </a:solidFill>
                <a:latin typeface="PingFang SC"/>
                <a:ea typeface="PingFang SC"/>
                <a:cs typeface="PingFang SC"/>
              </a:rPr>
              <a:t>从架构、功能到使用场景的 90 分钟内部分享</a:t>
            </a:r>
          </a:p>
        </p:txBody>
      </p:sp>
      <p:sp>
        <p:nvSpPr>
          <p:cNvPr id="7" name="rule">
            <a:extLst xmlns:a="http://schemas.openxmlformats.org/drawingml/2006/main">
              <a:ext uri="{FF2B5EF4-FFF2-40B4-BE49-F238E27FC236}">
                <a16:creationId xmlns:a16="http://schemas.microsoft.com/office/drawing/2014/main" id="{71D96A29-8BB6-440D-B659-9F4BEBB160AB}"/>
              </a:ext>
            </a:extLst>
          </p:cNvPr>
          <p:cNvSpPr>
            <a:spLocks xmlns:a="http://schemas.openxmlformats.org/drawingml/2006/main" noGrp="1"/>
          </p:cNvSpPr>
          <p:nvPr/>
        </p:nvSpPr>
        <p:spPr>
          <a:xfrm xmlns:a="http://schemas.openxmlformats.org/drawingml/2006/main">
            <a:off x="695325" y="3000375"/>
            <a:ext cx="6191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8" name="promise-panel">
            <a:extLst xmlns:a="http://schemas.openxmlformats.org/drawingml/2006/main">
              <a:ext uri="{FF2B5EF4-FFF2-40B4-BE49-F238E27FC236}">
                <a16:creationId xmlns:a16="http://schemas.microsoft.com/office/drawing/2014/main" id="{9D03CC50-4D82-432A-B746-84AB43BE57C6}"/>
              </a:ext>
            </a:extLst>
          </p:cNvPr>
          <p:cNvSpPr>
            <a:spLocks xmlns:a="http://schemas.openxmlformats.org/drawingml/2006/main" noGrp="1"/>
          </p:cNvSpPr>
          <p:nvPr/>
        </p:nvSpPr>
        <p:spPr>
          <a:xfrm xmlns:a="http://schemas.openxmlformats.org/drawingml/2006/main">
            <a:off x="695325" y="3429000"/>
            <a:ext cx="6096000" cy="142875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9" name="promise-accent">
            <a:extLst xmlns:a="http://schemas.openxmlformats.org/drawingml/2006/main">
              <a:ext uri="{FF2B5EF4-FFF2-40B4-BE49-F238E27FC236}">
                <a16:creationId xmlns:a16="http://schemas.microsoft.com/office/drawing/2014/main" id="{B8AA4262-BF1E-4F04-BE85-327F2E0BD341}"/>
              </a:ext>
            </a:extLst>
          </p:cNvPr>
          <p:cNvSpPr>
            <a:spLocks xmlns:a="http://schemas.openxmlformats.org/drawingml/2006/main" noGrp="1"/>
          </p:cNvSpPr>
          <p:nvPr/>
        </p:nvSpPr>
        <p:spPr>
          <a:xfrm xmlns:a="http://schemas.openxmlformats.org/drawingml/2006/main">
            <a:off x="695325" y="3429000"/>
            <a:ext cx="66675" cy="14287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0" name="promise-label">
            <a:extLst xmlns:a="http://schemas.openxmlformats.org/drawingml/2006/main">
              <a:ext uri="{FF2B5EF4-FFF2-40B4-BE49-F238E27FC236}">
                <a16:creationId xmlns:a16="http://schemas.microsoft.com/office/drawing/2014/main" id="{0F7152AC-D1BE-418B-8BCA-B09CDD698179}"/>
              </a:ext>
            </a:extLst>
          </p:cNvPr>
          <p:cNvSpPr>
            <a:spLocks xmlns:a="http://schemas.openxmlformats.org/drawingml/2006/main" noGrp="1"/>
          </p:cNvSpPr>
          <p:nvPr/>
        </p:nvSpPr>
        <p:spPr>
          <a:xfrm xmlns:a="http://schemas.openxmlformats.org/drawingml/2006/main">
            <a:off x="904875" y="3638550"/>
            <a:ext cx="567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本场目标</a:t>
            </a:r>
          </a:p>
        </p:txBody>
      </p:sp>
      <p:sp>
        <p:nvSpPr>
          <p:cNvPr id="11" name="promise-body">
            <a:extLst xmlns:a="http://schemas.openxmlformats.org/drawingml/2006/main">
              <a:ext uri="{FF2B5EF4-FFF2-40B4-BE49-F238E27FC236}">
                <a16:creationId xmlns:a16="http://schemas.microsoft.com/office/drawing/2014/main" id="{5267E2E0-4932-43E1-9B1D-C36FC50E5C35}"/>
              </a:ext>
            </a:extLst>
          </p:cNvPr>
          <p:cNvSpPr>
            <a:spLocks xmlns:a="http://schemas.openxmlformats.org/drawingml/2006/main" noGrp="1"/>
          </p:cNvSpPr>
          <p:nvPr/>
        </p:nvSpPr>
        <p:spPr>
          <a:xfrm xmlns:a="http://schemas.openxmlformats.org/drawingml/2006/main">
            <a:off x="904875" y="4057650"/>
            <a:ext cx="5676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772"/>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听完后，同事应该知道 tt 解决什么问题、核心系统如何协作、常见使用场景在哪里，以及后续扩展该从哪些目录入手。</a:t>
            </a:r>
          </a:p>
        </p:txBody>
      </p:sp>
      <p:sp>
        <p:nvSpPr>
          <p:cNvPr id="12" name="date">
            <a:extLst xmlns:a="http://schemas.openxmlformats.org/drawingml/2006/main">
              <a:ext uri="{FF2B5EF4-FFF2-40B4-BE49-F238E27FC236}">
                <a16:creationId xmlns:a16="http://schemas.microsoft.com/office/drawing/2014/main" id="{921860FE-9235-468A-8AF4-5118B1175E95}"/>
              </a:ext>
            </a:extLst>
          </p:cNvPr>
          <p:cNvSpPr>
            <a:spLocks xmlns:a="http://schemas.openxmlformats.org/drawingml/2006/main" noGrp="1"/>
          </p:cNvSpPr>
          <p:nvPr/>
        </p:nvSpPr>
        <p:spPr>
          <a:xfrm xmlns:a="http://schemas.openxmlformats.org/drawingml/2006/main">
            <a:off x="695325" y="61912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0">
                <a:solidFill>
                  <a:srgbClr val="555555"/>
                </a:solidFill>
                <a:latin typeface="PingFang SC"/>
                <a:ea typeface="PingFang SC"/>
                <a:cs typeface="PingFang SC"/>
              </a:defRPr>
            </a:pPr>
            <a:r>
              <a:rPr sz="1125" b="0">
                <a:solidFill>
                  <a:srgbClr val="555555"/>
                </a:solidFill>
                <a:latin typeface="PingFang SC"/>
                <a:ea typeface="PingFang SC"/>
                <a:cs typeface="PingFang SC"/>
              </a:rPr>
              <a:t>Generated from local workspace evidence</a:t>
            </a:r>
          </a:p>
        </p:txBody>
      </p:sp>
    </p:spTree>
    <p:extLst>
      <p:ext uri="{BB962C8B-B14F-4D97-AF65-F5344CB8AC3E}">
        <p14:creationId xmlns:p14="http://schemas.microsoft.com/office/powerpoint/2010/main" val="17918558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90072648-3E48-4685-8872-38BD9F3E0C7E}"/>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90-minute pacing</a:t>
            </a:r>
          </a:p>
        </p:txBody>
      </p:sp>
      <p:sp>
        <p:nvSpPr>
          <p:cNvPr id="2" name="title">
            <a:extLst xmlns:a="http://schemas.openxmlformats.org/drawingml/2006/main">
              <a:ext uri="{FF2B5EF4-FFF2-40B4-BE49-F238E27FC236}">
                <a16:creationId xmlns:a16="http://schemas.microsoft.com/office/drawing/2014/main" id="{EE808669-436F-4DB3-BE13-C8267DDD1B30}"/>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建议分享节奏</a:t>
            </a:r>
          </a:p>
        </p:txBody>
      </p:sp>
      <p:sp>
        <p:nvSpPr>
          <p:cNvPr id="3" name="subtitle">
            <a:extLst xmlns:a="http://schemas.openxmlformats.org/drawingml/2006/main">
              <a:ext uri="{FF2B5EF4-FFF2-40B4-BE49-F238E27FC236}">
                <a16:creationId xmlns:a16="http://schemas.microsoft.com/office/drawing/2014/main" id="{E3DB1BCA-3614-47CE-A722-F0524228A4E8}"/>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把内容拆成地图、架构、深挖、场景和扩展五段。</a:t>
            </a:r>
          </a:p>
        </p:txBody>
      </p:sp>
      <p:sp>
        <p:nvSpPr>
          <p:cNvPr id="4" name="footer-left">
            <a:extLst xmlns:a="http://schemas.openxmlformats.org/drawingml/2006/main">
              <a:ext uri="{FF2B5EF4-FFF2-40B4-BE49-F238E27FC236}">
                <a16:creationId xmlns:a16="http://schemas.microsoft.com/office/drawing/2014/main" id="{044B12AC-B511-4918-BEE1-2A710EA92362}"/>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8DE9A61A-642A-47AC-BEA7-125D67EF4D32}"/>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02</a:t>
            </a:r>
          </a:p>
        </p:txBody>
      </p:sp>
      <p:sp>
        <p:nvSpPr>
          <p:cNvPr id="6" name="time-00-07">
            <a:extLst xmlns:a="http://schemas.openxmlformats.org/drawingml/2006/main">
              <a:ext uri="{FF2B5EF4-FFF2-40B4-BE49-F238E27FC236}">
                <a16:creationId xmlns:a16="http://schemas.microsoft.com/office/drawing/2014/main" id="{F0F3F8EC-E417-41DF-93D2-E03A20BB1A73}"/>
              </a:ext>
            </a:extLst>
          </p:cNvPr>
          <p:cNvSpPr>
            <a:spLocks xmlns:a="http://schemas.openxmlformats.org/drawingml/2006/main" noGrp="1"/>
          </p:cNvSpPr>
          <p:nvPr/>
        </p:nvSpPr>
        <p:spPr>
          <a:xfrm xmlns:a="http://schemas.openxmlformats.org/drawingml/2006/main">
            <a:off x="609600" y="21336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FF6B35"/>
                </a:solidFill>
                <a:latin typeface="SF Mono"/>
                <a:ea typeface="SF Mono"/>
                <a:cs typeface="SF Mono"/>
              </a:defRPr>
            </a:pPr>
            <a:r>
              <a:rPr sz="1800" b="1">
                <a:solidFill>
                  <a:srgbClr val="FF6B35"/>
                </a:solidFill>
                <a:latin typeface="SF Mono"/>
                <a:ea typeface="SF Mono"/>
                <a:cs typeface="SF Mono"/>
              </a:rPr>
              <a:t>00-07</a:t>
            </a:r>
          </a:p>
        </p:txBody>
      </p:sp>
      <p:sp>
        <p:nvSpPr>
          <p:cNvPr id="7" name="row-00-07">
            <a:extLst xmlns:a="http://schemas.openxmlformats.org/drawingml/2006/main">
              <a:ext uri="{FF2B5EF4-FFF2-40B4-BE49-F238E27FC236}">
                <a16:creationId xmlns:a16="http://schemas.microsoft.com/office/drawing/2014/main" id="{76798FF8-9F41-4E45-A4B8-E53B55C2EEF1}"/>
              </a:ext>
            </a:extLst>
          </p:cNvPr>
          <p:cNvSpPr>
            <a:spLocks xmlns:a="http://schemas.openxmlformats.org/drawingml/2006/main" noGrp="1"/>
          </p:cNvSpPr>
          <p:nvPr/>
        </p:nvSpPr>
        <p:spPr>
          <a:xfrm xmlns:a="http://schemas.openxmlformats.org/drawingml/2006/main">
            <a:off x="1714500" y="2095500"/>
            <a:ext cx="9620250" cy="438150"/>
          </a:xfrm>
          <a:prstGeom xmlns:a="http://schemas.openxmlformats.org/drawingml/2006/main" prst="rect">
            <a:avLst/>
          </a:prstGeom>
          <a:solidFill xmlns:a="http://schemas.openxmlformats.org/drawingml/2006/main">
            <a:srgbClr val="F7F7F7"/>
          </a:solidFill>
          <a:ln xmlns:a="http://schemas.openxmlformats.org/drawingml/2006/main" w="9525">
            <a:solidFill>
              <a:srgbClr val="E1E1E1"/>
            </a:solidFill>
            <a:prstDash val="solid"/>
          </a:ln>
        </p:spPr>
      </p:sp>
      <p:sp>
        <p:nvSpPr>
          <p:cNvPr id="8" name="label-00-07">
            <a:extLst xmlns:a="http://schemas.openxmlformats.org/drawingml/2006/main">
              <a:ext uri="{FF2B5EF4-FFF2-40B4-BE49-F238E27FC236}">
                <a16:creationId xmlns:a16="http://schemas.microsoft.com/office/drawing/2014/main" id="{032EB601-B5EA-453F-A763-3654BF86A1D3}"/>
              </a:ext>
            </a:extLst>
          </p:cNvPr>
          <p:cNvSpPr>
            <a:spLocks xmlns:a="http://schemas.openxmlformats.org/drawingml/2006/main" noGrp="1"/>
          </p:cNvSpPr>
          <p:nvPr/>
        </p:nvSpPr>
        <p:spPr>
          <a:xfrm xmlns:a="http://schemas.openxmlformats.org/drawingml/2006/main">
            <a:off x="1943100" y="22002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定位与目标</a:t>
            </a:r>
          </a:p>
        </p:txBody>
      </p:sp>
      <p:sp>
        <p:nvSpPr>
          <p:cNvPr id="9" name="desc-00-07">
            <a:extLst xmlns:a="http://schemas.openxmlformats.org/drawingml/2006/main">
              <a:ext uri="{FF2B5EF4-FFF2-40B4-BE49-F238E27FC236}">
                <a16:creationId xmlns:a16="http://schemas.microsoft.com/office/drawing/2014/main" id="{F4C786C8-B6B2-4F7B-8693-3D539C35BD39}"/>
              </a:ext>
            </a:extLst>
          </p:cNvPr>
          <p:cNvSpPr>
            <a:spLocks xmlns:a="http://schemas.openxmlformats.org/drawingml/2006/main" noGrp="1"/>
          </p:cNvSpPr>
          <p:nvPr/>
        </p:nvSpPr>
        <p:spPr>
          <a:xfrm xmlns:a="http://schemas.openxmlformats.org/drawingml/2006/main">
            <a:off x="3857625" y="2200275"/>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39"/>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统一项目语言，解释为什么它不是单一命令，而是本地工作台。</a:t>
            </a:r>
          </a:p>
        </p:txBody>
      </p:sp>
      <p:sp>
        <p:nvSpPr>
          <p:cNvPr id="10" name="time-07-23">
            <a:extLst xmlns:a="http://schemas.openxmlformats.org/drawingml/2006/main">
              <a:ext uri="{FF2B5EF4-FFF2-40B4-BE49-F238E27FC236}">
                <a16:creationId xmlns:a16="http://schemas.microsoft.com/office/drawing/2014/main" id="{4D7E8B2E-1CE9-45E5-987F-E0F8159AD6A8}"/>
              </a:ext>
            </a:extLst>
          </p:cNvPr>
          <p:cNvSpPr>
            <a:spLocks xmlns:a="http://schemas.openxmlformats.org/drawingml/2006/main" noGrp="1"/>
          </p:cNvSpPr>
          <p:nvPr/>
        </p:nvSpPr>
        <p:spPr>
          <a:xfrm xmlns:a="http://schemas.openxmlformats.org/drawingml/2006/main">
            <a:off x="609600" y="26670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FF6B35"/>
                </a:solidFill>
                <a:latin typeface="SF Mono"/>
                <a:ea typeface="SF Mono"/>
                <a:cs typeface="SF Mono"/>
              </a:defRPr>
            </a:pPr>
            <a:r>
              <a:rPr sz="1800" b="1">
                <a:solidFill>
                  <a:srgbClr val="FF6B35"/>
                </a:solidFill>
                <a:latin typeface="SF Mono"/>
                <a:ea typeface="SF Mono"/>
                <a:cs typeface="SF Mono"/>
              </a:rPr>
              <a:t>07-23</a:t>
            </a:r>
          </a:p>
        </p:txBody>
      </p:sp>
      <p:sp>
        <p:nvSpPr>
          <p:cNvPr id="11" name="row-07-23">
            <a:extLst xmlns:a="http://schemas.openxmlformats.org/drawingml/2006/main">
              <a:ext uri="{FF2B5EF4-FFF2-40B4-BE49-F238E27FC236}">
                <a16:creationId xmlns:a16="http://schemas.microsoft.com/office/drawing/2014/main" id="{BA10C19D-A640-4C0A-B28B-62F7DA1F1E57}"/>
              </a:ext>
            </a:extLst>
          </p:cNvPr>
          <p:cNvSpPr>
            <a:spLocks xmlns:a="http://schemas.openxmlformats.org/drawingml/2006/main" noGrp="1"/>
          </p:cNvSpPr>
          <p:nvPr/>
        </p:nvSpPr>
        <p:spPr>
          <a:xfrm xmlns:a="http://schemas.openxmlformats.org/drawingml/2006/main">
            <a:off x="1714500" y="2628900"/>
            <a:ext cx="9620250" cy="438150"/>
          </a:xfrm>
          <a:prstGeom xmlns:a="http://schemas.openxmlformats.org/drawingml/2006/main" prst="rect">
            <a:avLst/>
          </a:prstGeom>
          <a:solidFill xmlns:a="http://schemas.openxmlformats.org/drawingml/2006/main">
            <a:srgbClr val="F7F7F7"/>
          </a:solidFill>
          <a:ln xmlns:a="http://schemas.openxmlformats.org/drawingml/2006/main" w="9525">
            <a:solidFill>
              <a:srgbClr val="E1E1E1"/>
            </a:solidFill>
            <a:prstDash val="solid"/>
          </a:ln>
        </p:spPr>
      </p:sp>
      <p:sp>
        <p:nvSpPr>
          <p:cNvPr id="12" name="label-07-23">
            <a:extLst xmlns:a="http://schemas.openxmlformats.org/drawingml/2006/main">
              <a:ext uri="{FF2B5EF4-FFF2-40B4-BE49-F238E27FC236}">
                <a16:creationId xmlns:a16="http://schemas.microsoft.com/office/drawing/2014/main" id="{15F88931-9D20-42A5-A3CF-BE29C435289D}"/>
              </a:ext>
            </a:extLst>
          </p:cNvPr>
          <p:cNvSpPr>
            <a:spLocks xmlns:a="http://schemas.openxmlformats.org/drawingml/2006/main" noGrp="1"/>
          </p:cNvSpPr>
          <p:nvPr/>
        </p:nvSpPr>
        <p:spPr>
          <a:xfrm xmlns:a="http://schemas.openxmlformats.org/drawingml/2006/main">
            <a:off x="1943100" y="27336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能力地图</a:t>
            </a:r>
          </a:p>
        </p:txBody>
      </p:sp>
      <p:sp>
        <p:nvSpPr>
          <p:cNvPr id="13" name="desc-07-23">
            <a:extLst xmlns:a="http://schemas.openxmlformats.org/drawingml/2006/main">
              <a:ext uri="{FF2B5EF4-FFF2-40B4-BE49-F238E27FC236}">
                <a16:creationId xmlns:a16="http://schemas.microsoft.com/office/drawing/2014/main" id="{74457948-9901-493C-BA0F-7FE79F10876F}"/>
              </a:ext>
            </a:extLst>
          </p:cNvPr>
          <p:cNvSpPr>
            <a:spLocks xmlns:a="http://schemas.openxmlformats.org/drawingml/2006/main" noGrp="1"/>
          </p:cNvSpPr>
          <p:nvPr/>
        </p:nvSpPr>
        <p:spPr>
          <a:xfrm xmlns:a="http://schemas.openxmlformats.org/drawingml/2006/main">
            <a:off x="3857625" y="2733675"/>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39"/>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从命令族、源码统计和目录职责建立全局视角。</a:t>
            </a:r>
          </a:p>
        </p:txBody>
      </p:sp>
      <p:sp>
        <p:nvSpPr>
          <p:cNvPr id="14" name="time-23-41">
            <a:extLst xmlns:a="http://schemas.openxmlformats.org/drawingml/2006/main">
              <a:ext uri="{FF2B5EF4-FFF2-40B4-BE49-F238E27FC236}">
                <a16:creationId xmlns:a16="http://schemas.microsoft.com/office/drawing/2014/main" id="{D4E2A9BD-CAC6-448E-B938-774466FC8CFA}"/>
              </a:ext>
            </a:extLst>
          </p:cNvPr>
          <p:cNvSpPr>
            <a:spLocks xmlns:a="http://schemas.openxmlformats.org/drawingml/2006/main" noGrp="1"/>
          </p:cNvSpPr>
          <p:nvPr/>
        </p:nvSpPr>
        <p:spPr>
          <a:xfrm xmlns:a="http://schemas.openxmlformats.org/drawingml/2006/main">
            <a:off x="609600" y="32004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FF6B35"/>
                </a:solidFill>
                <a:latin typeface="SF Mono"/>
                <a:ea typeface="SF Mono"/>
                <a:cs typeface="SF Mono"/>
              </a:defRPr>
            </a:pPr>
            <a:r>
              <a:rPr sz="1800" b="1">
                <a:solidFill>
                  <a:srgbClr val="FF6B35"/>
                </a:solidFill>
                <a:latin typeface="SF Mono"/>
                <a:ea typeface="SF Mono"/>
                <a:cs typeface="SF Mono"/>
              </a:rPr>
              <a:t>23-41</a:t>
            </a:r>
          </a:p>
        </p:txBody>
      </p:sp>
      <p:sp>
        <p:nvSpPr>
          <p:cNvPr id="15" name="row-23-41">
            <a:extLst xmlns:a="http://schemas.openxmlformats.org/drawingml/2006/main">
              <a:ext uri="{FF2B5EF4-FFF2-40B4-BE49-F238E27FC236}">
                <a16:creationId xmlns:a16="http://schemas.microsoft.com/office/drawing/2014/main" id="{8DD97F9C-821C-4820-BBEE-B0ABD3A68D83}"/>
              </a:ext>
            </a:extLst>
          </p:cNvPr>
          <p:cNvSpPr>
            <a:spLocks xmlns:a="http://schemas.openxmlformats.org/drawingml/2006/main" noGrp="1"/>
          </p:cNvSpPr>
          <p:nvPr/>
        </p:nvSpPr>
        <p:spPr>
          <a:xfrm xmlns:a="http://schemas.openxmlformats.org/drawingml/2006/main">
            <a:off x="1714500" y="3162300"/>
            <a:ext cx="9620250" cy="438150"/>
          </a:xfrm>
          <a:prstGeom xmlns:a="http://schemas.openxmlformats.org/drawingml/2006/main" prst="rect">
            <a:avLst/>
          </a:prstGeom>
          <a:solidFill xmlns:a="http://schemas.openxmlformats.org/drawingml/2006/main">
            <a:srgbClr val="F7F7F7"/>
          </a:solidFill>
          <a:ln xmlns:a="http://schemas.openxmlformats.org/drawingml/2006/main" w="9525">
            <a:solidFill>
              <a:srgbClr val="E1E1E1"/>
            </a:solidFill>
            <a:prstDash val="solid"/>
          </a:ln>
        </p:spPr>
      </p:sp>
      <p:sp>
        <p:nvSpPr>
          <p:cNvPr id="16" name="label-23-41">
            <a:extLst xmlns:a="http://schemas.openxmlformats.org/drawingml/2006/main">
              <a:ext uri="{FF2B5EF4-FFF2-40B4-BE49-F238E27FC236}">
                <a16:creationId xmlns:a16="http://schemas.microsoft.com/office/drawing/2014/main" id="{FCA54A2F-9264-4DFD-8F62-32B47F23F401}"/>
              </a:ext>
            </a:extLst>
          </p:cNvPr>
          <p:cNvSpPr>
            <a:spLocks xmlns:a="http://schemas.openxmlformats.org/drawingml/2006/main" noGrp="1"/>
          </p:cNvSpPr>
          <p:nvPr/>
        </p:nvSpPr>
        <p:spPr>
          <a:xfrm xmlns:a="http://schemas.openxmlformats.org/drawingml/2006/main">
            <a:off x="1943100" y="32670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架构主线</a:t>
            </a:r>
          </a:p>
        </p:txBody>
      </p:sp>
      <p:sp>
        <p:nvSpPr>
          <p:cNvPr id="17" name="desc-23-41">
            <a:extLst xmlns:a="http://schemas.openxmlformats.org/drawingml/2006/main">
              <a:ext uri="{FF2B5EF4-FFF2-40B4-BE49-F238E27FC236}">
                <a16:creationId xmlns:a16="http://schemas.microsoft.com/office/drawing/2014/main" id="{3C2E5DD1-4F94-40F5-88ED-426CBD41A13E}"/>
              </a:ext>
            </a:extLst>
          </p:cNvPr>
          <p:cNvSpPr>
            <a:spLocks xmlns:a="http://schemas.openxmlformats.org/drawingml/2006/main" noGrp="1"/>
          </p:cNvSpPr>
          <p:nvPr/>
        </p:nvSpPr>
        <p:spPr>
          <a:xfrm xmlns:a="http://schemas.openxmlformats.org/drawingml/2006/main">
            <a:off x="3857625" y="3267075"/>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39"/>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讲清 Cobra、internal 领域包、Picoclaw、Web UI 的协作方式。</a:t>
            </a:r>
          </a:p>
        </p:txBody>
      </p:sp>
      <p:sp>
        <p:nvSpPr>
          <p:cNvPr id="18" name="time-41-65">
            <a:extLst xmlns:a="http://schemas.openxmlformats.org/drawingml/2006/main">
              <a:ext uri="{FF2B5EF4-FFF2-40B4-BE49-F238E27FC236}">
                <a16:creationId xmlns:a16="http://schemas.microsoft.com/office/drawing/2014/main" id="{7BAD37BC-5136-4607-A79E-5384761DAA1A}"/>
              </a:ext>
            </a:extLst>
          </p:cNvPr>
          <p:cNvSpPr>
            <a:spLocks xmlns:a="http://schemas.openxmlformats.org/drawingml/2006/main" noGrp="1"/>
          </p:cNvSpPr>
          <p:nvPr/>
        </p:nvSpPr>
        <p:spPr>
          <a:xfrm xmlns:a="http://schemas.openxmlformats.org/drawingml/2006/main">
            <a:off x="609600" y="37338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FF6B35"/>
                </a:solidFill>
                <a:latin typeface="SF Mono"/>
                <a:ea typeface="SF Mono"/>
                <a:cs typeface="SF Mono"/>
              </a:defRPr>
            </a:pPr>
            <a:r>
              <a:rPr sz="1800" b="1">
                <a:solidFill>
                  <a:srgbClr val="FF6B35"/>
                </a:solidFill>
                <a:latin typeface="SF Mono"/>
                <a:ea typeface="SF Mono"/>
                <a:cs typeface="SF Mono"/>
              </a:rPr>
              <a:t>41-65</a:t>
            </a:r>
          </a:p>
        </p:txBody>
      </p:sp>
      <p:sp>
        <p:nvSpPr>
          <p:cNvPr id="19" name="row-41-65">
            <a:extLst xmlns:a="http://schemas.openxmlformats.org/drawingml/2006/main">
              <a:ext uri="{FF2B5EF4-FFF2-40B4-BE49-F238E27FC236}">
                <a16:creationId xmlns:a16="http://schemas.microsoft.com/office/drawing/2014/main" id="{26BDE587-974B-4456-A85E-B41A99EB8B27}"/>
              </a:ext>
            </a:extLst>
          </p:cNvPr>
          <p:cNvSpPr>
            <a:spLocks xmlns:a="http://schemas.openxmlformats.org/drawingml/2006/main" noGrp="1"/>
          </p:cNvSpPr>
          <p:nvPr/>
        </p:nvSpPr>
        <p:spPr>
          <a:xfrm xmlns:a="http://schemas.openxmlformats.org/drawingml/2006/main">
            <a:off x="1714500" y="3695700"/>
            <a:ext cx="9620250" cy="438150"/>
          </a:xfrm>
          <a:prstGeom xmlns:a="http://schemas.openxmlformats.org/drawingml/2006/main" prst="rect">
            <a:avLst/>
          </a:prstGeom>
          <a:solidFill xmlns:a="http://schemas.openxmlformats.org/drawingml/2006/main">
            <a:srgbClr val="F7F7F7"/>
          </a:solidFill>
          <a:ln xmlns:a="http://schemas.openxmlformats.org/drawingml/2006/main" w="9525">
            <a:solidFill>
              <a:srgbClr val="E1E1E1"/>
            </a:solidFill>
            <a:prstDash val="solid"/>
          </a:ln>
        </p:spPr>
      </p:sp>
      <p:sp>
        <p:nvSpPr>
          <p:cNvPr id="20" name="label-41-65">
            <a:extLst xmlns:a="http://schemas.openxmlformats.org/drawingml/2006/main">
              <a:ext uri="{FF2B5EF4-FFF2-40B4-BE49-F238E27FC236}">
                <a16:creationId xmlns:a16="http://schemas.microsoft.com/office/drawing/2014/main" id="{E9F91B17-4C49-41F3-BD7F-0EF55675ED99}"/>
              </a:ext>
            </a:extLst>
          </p:cNvPr>
          <p:cNvSpPr>
            <a:spLocks xmlns:a="http://schemas.openxmlformats.org/drawingml/2006/main" noGrp="1"/>
          </p:cNvSpPr>
          <p:nvPr/>
        </p:nvSpPr>
        <p:spPr>
          <a:xfrm xmlns:a="http://schemas.openxmlformats.org/drawingml/2006/main">
            <a:off x="1943100" y="38004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Formula 深挖</a:t>
            </a:r>
          </a:p>
        </p:txBody>
      </p:sp>
      <p:sp>
        <p:nvSpPr>
          <p:cNvPr id="21" name="desc-41-65">
            <a:extLst xmlns:a="http://schemas.openxmlformats.org/drawingml/2006/main">
              <a:ext uri="{FF2B5EF4-FFF2-40B4-BE49-F238E27FC236}">
                <a16:creationId xmlns:a16="http://schemas.microsoft.com/office/drawing/2014/main" id="{4A3C5B6A-B3D5-4986-A0FF-89026E82E35D}"/>
              </a:ext>
            </a:extLst>
          </p:cNvPr>
          <p:cNvSpPr>
            <a:spLocks xmlns:a="http://schemas.openxmlformats.org/drawingml/2006/main" noGrp="1"/>
          </p:cNvSpPr>
          <p:nvPr/>
        </p:nvSpPr>
        <p:spPr>
          <a:xfrm xmlns:a="http://schemas.openxmlformats.org/drawingml/2006/main">
            <a:off x="3857625" y="3800475"/>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39"/>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解析 typed workflow、step kind、run store、dashboard 和 self-repair。</a:t>
            </a:r>
          </a:p>
        </p:txBody>
      </p:sp>
      <p:sp>
        <p:nvSpPr>
          <p:cNvPr id="22" name="time-65-78">
            <a:extLst xmlns:a="http://schemas.openxmlformats.org/drawingml/2006/main">
              <a:ext uri="{FF2B5EF4-FFF2-40B4-BE49-F238E27FC236}">
                <a16:creationId xmlns:a16="http://schemas.microsoft.com/office/drawing/2014/main" id="{17AD8DAF-3CAA-49E5-9105-CEA2D947C906}"/>
              </a:ext>
            </a:extLst>
          </p:cNvPr>
          <p:cNvSpPr>
            <a:spLocks xmlns:a="http://schemas.openxmlformats.org/drawingml/2006/main" noGrp="1"/>
          </p:cNvSpPr>
          <p:nvPr/>
        </p:nvSpPr>
        <p:spPr>
          <a:xfrm xmlns:a="http://schemas.openxmlformats.org/drawingml/2006/main">
            <a:off x="609600" y="42672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FF6B35"/>
                </a:solidFill>
                <a:latin typeface="SF Mono"/>
                <a:ea typeface="SF Mono"/>
                <a:cs typeface="SF Mono"/>
              </a:defRPr>
            </a:pPr>
            <a:r>
              <a:rPr sz="1800" b="1">
                <a:solidFill>
                  <a:srgbClr val="FF6B35"/>
                </a:solidFill>
                <a:latin typeface="SF Mono"/>
                <a:ea typeface="SF Mono"/>
                <a:cs typeface="SF Mono"/>
              </a:rPr>
              <a:t>65-78</a:t>
            </a:r>
          </a:p>
        </p:txBody>
      </p:sp>
      <p:sp>
        <p:nvSpPr>
          <p:cNvPr id="23" name="row-65-78">
            <a:extLst xmlns:a="http://schemas.openxmlformats.org/drawingml/2006/main">
              <a:ext uri="{FF2B5EF4-FFF2-40B4-BE49-F238E27FC236}">
                <a16:creationId xmlns:a16="http://schemas.microsoft.com/office/drawing/2014/main" id="{540DD428-55F0-4BDC-B0C0-B7AD521F6103}"/>
              </a:ext>
            </a:extLst>
          </p:cNvPr>
          <p:cNvSpPr>
            <a:spLocks xmlns:a="http://schemas.openxmlformats.org/drawingml/2006/main" noGrp="1"/>
          </p:cNvSpPr>
          <p:nvPr/>
        </p:nvSpPr>
        <p:spPr>
          <a:xfrm xmlns:a="http://schemas.openxmlformats.org/drawingml/2006/main">
            <a:off x="1714500" y="4229100"/>
            <a:ext cx="9620250" cy="438150"/>
          </a:xfrm>
          <a:prstGeom xmlns:a="http://schemas.openxmlformats.org/drawingml/2006/main" prst="rect">
            <a:avLst/>
          </a:prstGeom>
          <a:solidFill xmlns:a="http://schemas.openxmlformats.org/drawingml/2006/main">
            <a:srgbClr val="F7F7F7"/>
          </a:solidFill>
          <a:ln xmlns:a="http://schemas.openxmlformats.org/drawingml/2006/main" w="9525">
            <a:solidFill>
              <a:srgbClr val="E1E1E1"/>
            </a:solidFill>
            <a:prstDash val="solid"/>
          </a:ln>
        </p:spPr>
      </p:sp>
      <p:sp>
        <p:nvSpPr>
          <p:cNvPr id="24" name="label-65-78">
            <a:extLst xmlns:a="http://schemas.openxmlformats.org/drawingml/2006/main">
              <a:ext uri="{FF2B5EF4-FFF2-40B4-BE49-F238E27FC236}">
                <a16:creationId xmlns:a16="http://schemas.microsoft.com/office/drawing/2014/main" id="{92572B90-9D52-4BFE-BBAB-1A309ED6BB3B}"/>
              </a:ext>
            </a:extLst>
          </p:cNvPr>
          <p:cNvSpPr>
            <a:spLocks xmlns:a="http://schemas.openxmlformats.org/drawingml/2006/main" noGrp="1"/>
          </p:cNvSpPr>
          <p:nvPr/>
        </p:nvSpPr>
        <p:spPr>
          <a:xfrm xmlns:a="http://schemas.openxmlformats.org/drawingml/2006/main">
            <a:off x="1943100" y="43338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使用场景</a:t>
            </a:r>
          </a:p>
        </p:txBody>
      </p:sp>
      <p:sp>
        <p:nvSpPr>
          <p:cNvPr id="25" name="desc-65-78">
            <a:extLst xmlns:a="http://schemas.openxmlformats.org/drawingml/2006/main">
              <a:ext uri="{FF2B5EF4-FFF2-40B4-BE49-F238E27FC236}">
                <a16:creationId xmlns:a16="http://schemas.microsoft.com/office/drawing/2014/main" id="{87C6DDF9-460F-4B50-B964-4FA481B1C205}"/>
              </a:ext>
            </a:extLst>
          </p:cNvPr>
          <p:cNvSpPr>
            <a:spLocks xmlns:a="http://schemas.openxmlformats.org/drawingml/2006/main" noGrp="1"/>
          </p:cNvSpPr>
          <p:nvPr/>
        </p:nvSpPr>
        <p:spPr>
          <a:xfrm xmlns:a="http://schemas.openxmlformats.org/drawingml/2006/main">
            <a:off x="3857625" y="4333875"/>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39"/>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用团队日常任务串起 formula、agent、docs、skill 生成等能力。</a:t>
            </a:r>
          </a:p>
        </p:txBody>
      </p:sp>
      <p:sp>
        <p:nvSpPr>
          <p:cNvPr id="26" name="time-78-88">
            <a:extLst xmlns:a="http://schemas.openxmlformats.org/drawingml/2006/main">
              <a:ext uri="{FF2B5EF4-FFF2-40B4-BE49-F238E27FC236}">
                <a16:creationId xmlns:a16="http://schemas.microsoft.com/office/drawing/2014/main" id="{D79446B9-6BF8-4E94-981C-8ACDE6140AE6}"/>
              </a:ext>
            </a:extLst>
          </p:cNvPr>
          <p:cNvSpPr>
            <a:spLocks xmlns:a="http://schemas.openxmlformats.org/drawingml/2006/main" noGrp="1"/>
          </p:cNvSpPr>
          <p:nvPr/>
        </p:nvSpPr>
        <p:spPr>
          <a:xfrm xmlns:a="http://schemas.openxmlformats.org/drawingml/2006/main">
            <a:off x="609600" y="48006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FF6B35"/>
                </a:solidFill>
                <a:latin typeface="SF Mono"/>
                <a:ea typeface="SF Mono"/>
                <a:cs typeface="SF Mono"/>
              </a:defRPr>
            </a:pPr>
            <a:r>
              <a:rPr sz="1800" b="1">
                <a:solidFill>
                  <a:srgbClr val="FF6B35"/>
                </a:solidFill>
                <a:latin typeface="SF Mono"/>
                <a:ea typeface="SF Mono"/>
                <a:cs typeface="SF Mono"/>
              </a:rPr>
              <a:t>78-88</a:t>
            </a:r>
          </a:p>
        </p:txBody>
      </p:sp>
      <p:sp>
        <p:nvSpPr>
          <p:cNvPr id="27" name="row-78-88">
            <a:extLst xmlns:a="http://schemas.openxmlformats.org/drawingml/2006/main">
              <a:ext uri="{FF2B5EF4-FFF2-40B4-BE49-F238E27FC236}">
                <a16:creationId xmlns:a16="http://schemas.microsoft.com/office/drawing/2014/main" id="{7776B69E-90CA-4D94-90D2-F09E96667EA2}"/>
              </a:ext>
            </a:extLst>
          </p:cNvPr>
          <p:cNvSpPr>
            <a:spLocks xmlns:a="http://schemas.openxmlformats.org/drawingml/2006/main" noGrp="1"/>
          </p:cNvSpPr>
          <p:nvPr/>
        </p:nvSpPr>
        <p:spPr>
          <a:xfrm xmlns:a="http://schemas.openxmlformats.org/drawingml/2006/main">
            <a:off x="1714500" y="4762500"/>
            <a:ext cx="9620250" cy="438150"/>
          </a:xfrm>
          <a:prstGeom xmlns:a="http://schemas.openxmlformats.org/drawingml/2006/main" prst="rect">
            <a:avLst/>
          </a:prstGeom>
          <a:solidFill xmlns:a="http://schemas.openxmlformats.org/drawingml/2006/main">
            <a:srgbClr val="F7F7F7"/>
          </a:solidFill>
          <a:ln xmlns:a="http://schemas.openxmlformats.org/drawingml/2006/main" w="9525">
            <a:solidFill>
              <a:srgbClr val="E1E1E1"/>
            </a:solidFill>
            <a:prstDash val="solid"/>
          </a:ln>
        </p:spPr>
      </p:sp>
      <p:sp>
        <p:nvSpPr>
          <p:cNvPr id="28" name="label-78-88">
            <a:extLst xmlns:a="http://schemas.openxmlformats.org/drawingml/2006/main">
              <a:ext uri="{FF2B5EF4-FFF2-40B4-BE49-F238E27FC236}">
                <a16:creationId xmlns:a16="http://schemas.microsoft.com/office/drawing/2014/main" id="{E2E404A5-39DB-49DB-AEB5-B08540537AFF}"/>
              </a:ext>
            </a:extLst>
          </p:cNvPr>
          <p:cNvSpPr>
            <a:spLocks xmlns:a="http://schemas.openxmlformats.org/drawingml/2006/main" noGrp="1"/>
          </p:cNvSpPr>
          <p:nvPr/>
        </p:nvSpPr>
        <p:spPr>
          <a:xfrm xmlns:a="http://schemas.openxmlformats.org/drawingml/2006/main">
            <a:off x="1943100" y="48672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扩展和 demo</a:t>
            </a:r>
          </a:p>
        </p:txBody>
      </p:sp>
      <p:sp>
        <p:nvSpPr>
          <p:cNvPr id="29" name="desc-78-88">
            <a:extLst xmlns:a="http://schemas.openxmlformats.org/drawingml/2006/main">
              <a:ext uri="{FF2B5EF4-FFF2-40B4-BE49-F238E27FC236}">
                <a16:creationId xmlns:a16="http://schemas.microsoft.com/office/drawing/2014/main" id="{CC0BC91D-F39A-4854-90F2-F1EE4D870162}"/>
              </a:ext>
            </a:extLst>
          </p:cNvPr>
          <p:cNvSpPr>
            <a:spLocks xmlns:a="http://schemas.openxmlformats.org/drawingml/2006/main" noGrp="1"/>
          </p:cNvSpPr>
          <p:nvPr/>
        </p:nvSpPr>
        <p:spPr>
          <a:xfrm xmlns:a="http://schemas.openxmlformats.org/drawingml/2006/main">
            <a:off x="3857625" y="4867275"/>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39"/>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展示改哪里、怎么加命令/agent/formula，以及建议现场命令。</a:t>
            </a:r>
          </a:p>
        </p:txBody>
      </p:sp>
      <p:sp>
        <p:nvSpPr>
          <p:cNvPr id="30" name="time-88-90">
            <a:extLst xmlns:a="http://schemas.openxmlformats.org/drawingml/2006/main">
              <a:ext uri="{FF2B5EF4-FFF2-40B4-BE49-F238E27FC236}">
                <a16:creationId xmlns:a16="http://schemas.microsoft.com/office/drawing/2014/main" id="{990D97D3-AEFB-4008-89FD-87F8749358D5}"/>
              </a:ext>
            </a:extLst>
          </p:cNvPr>
          <p:cNvSpPr>
            <a:spLocks xmlns:a="http://schemas.openxmlformats.org/drawingml/2006/main" noGrp="1"/>
          </p:cNvSpPr>
          <p:nvPr/>
        </p:nvSpPr>
        <p:spPr>
          <a:xfrm xmlns:a="http://schemas.openxmlformats.org/drawingml/2006/main">
            <a:off x="609600" y="53340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FF6B35"/>
                </a:solidFill>
                <a:latin typeface="SF Mono"/>
                <a:ea typeface="SF Mono"/>
                <a:cs typeface="SF Mono"/>
              </a:defRPr>
            </a:pPr>
            <a:r>
              <a:rPr sz="1800" b="1">
                <a:solidFill>
                  <a:srgbClr val="FF6B35"/>
                </a:solidFill>
                <a:latin typeface="SF Mono"/>
                <a:ea typeface="SF Mono"/>
                <a:cs typeface="SF Mono"/>
              </a:rPr>
              <a:t>88-90</a:t>
            </a:r>
          </a:p>
        </p:txBody>
      </p:sp>
      <p:sp>
        <p:nvSpPr>
          <p:cNvPr id="31" name="row-88-90">
            <a:extLst xmlns:a="http://schemas.openxmlformats.org/drawingml/2006/main">
              <a:ext uri="{FF2B5EF4-FFF2-40B4-BE49-F238E27FC236}">
                <a16:creationId xmlns:a16="http://schemas.microsoft.com/office/drawing/2014/main" id="{FAFC1343-DA10-4705-B91E-DFCE6191F16C}"/>
              </a:ext>
            </a:extLst>
          </p:cNvPr>
          <p:cNvSpPr>
            <a:spLocks xmlns:a="http://schemas.openxmlformats.org/drawingml/2006/main" noGrp="1"/>
          </p:cNvSpPr>
          <p:nvPr/>
        </p:nvSpPr>
        <p:spPr>
          <a:xfrm xmlns:a="http://schemas.openxmlformats.org/drawingml/2006/main">
            <a:off x="1714500" y="5295900"/>
            <a:ext cx="9620250" cy="438150"/>
          </a:xfrm>
          <a:prstGeom xmlns:a="http://schemas.openxmlformats.org/drawingml/2006/main" prst="rect">
            <a:avLst/>
          </a:prstGeom>
          <a:solidFill xmlns:a="http://schemas.openxmlformats.org/drawingml/2006/main">
            <a:srgbClr val="F7F7F7"/>
          </a:solidFill>
          <a:ln xmlns:a="http://schemas.openxmlformats.org/drawingml/2006/main" w="9525">
            <a:solidFill>
              <a:srgbClr val="E1E1E1"/>
            </a:solidFill>
            <a:prstDash val="solid"/>
          </a:ln>
        </p:spPr>
      </p:sp>
      <p:sp>
        <p:nvSpPr>
          <p:cNvPr id="32" name="label-88-90">
            <a:extLst xmlns:a="http://schemas.openxmlformats.org/drawingml/2006/main">
              <a:ext uri="{FF2B5EF4-FFF2-40B4-BE49-F238E27FC236}">
                <a16:creationId xmlns:a16="http://schemas.microsoft.com/office/drawing/2014/main" id="{37C8592E-A4EC-41A0-90B4-C524B47E1EAE}"/>
              </a:ext>
            </a:extLst>
          </p:cNvPr>
          <p:cNvSpPr>
            <a:spLocks xmlns:a="http://schemas.openxmlformats.org/drawingml/2006/main" noGrp="1"/>
          </p:cNvSpPr>
          <p:nvPr/>
        </p:nvSpPr>
        <p:spPr>
          <a:xfrm xmlns:a="http://schemas.openxmlformats.org/drawingml/2006/main">
            <a:off x="1943100" y="54006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收束</a:t>
            </a:r>
          </a:p>
        </p:txBody>
      </p:sp>
      <p:sp>
        <p:nvSpPr>
          <p:cNvPr id="33" name="desc-88-90">
            <a:extLst xmlns:a="http://schemas.openxmlformats.org/drawingml/2006/main">
              <a:ext uri="{FF2B5EF4-FFF2-40B4-BE49-F238E27FC236}">
                <a16:creationId xmlns:a16="http://schemas.microsoft.com/office/drawing/2014/main" id="{9D15CD3E-F0EC-4349-B1E9-04F4D1F8176B}"/>
              </a:ext>
            </a:extLst>
          </p:cNvPr>
          <p:cNvSpPr>
            <a:spLocks xmlns:a="http://schemas.openxmlformats.org/drawingml/2006/main" noGrp="1"/>
          </p:cNvSpPr>
          <p:nvPr/>
        </p:nvSpPr>
        <p:spPr>
          <a:xfrm xmlns:a="http://schemas.openxmlformats.org/drawingml/2006/main">
            <a:off x="3857625" y="5400675"/>
            <a:ext cx="714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939"/>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总结下一步：谁适合用、如何试用、哪些风险要注意。</a:t>
            </a:r>
          </a:p>
        </p:txBody>
      </p:sp>
    </p:spTree>
    <p:extLst>
      <p:ext uri="{BB962C8B-B14F-4D97-AF65-F5344CB8AC3E}">
        <p14:creationId xmlns:p14="http://schemas.microsoft.com/office/powerpoint/2010/main" val="42013591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B8493E75-290D-434B-8793-450E3B1AC7CD}"/>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positioning</a:t>
            </a:r>
          </a:p>
        </p:txBody>
      </p:sp>
      <p:sp>
        <p:nvSpPr>
          <p:cNvPr id="2" name="title">
            <a:extLst xmlns:a="http://schemas.openxmlformats.org/drawingml/2006/main">
              <a:ext uri="{FF2B5EF4-FFF2-40B4-BE49-F238E27FC236}">
                <a16:creationId xmlns:a16="http://schemas.microsoft.com/office/drawing/2014/main" id="{A2EF4D05-4E25-45EB-9C6C-16A982A4AF99}"/>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tt 是什么</a:t>
            </a:r>
          </a:p>
        </p:txBody>
      </p:sp>
      <p:sp>
        <p:nvSpPr>
          <p:cNvPr id="3" name="subtitle">
            <a:extLst xmlns:a="http://schemas.openxmlformats.org/drawingml/2006/main">
              <a:ext uri="{FF2B5EF4-FFF2-40B4-BE49-F238E27FC236}">
                <a16:creationId xmlns:a16="http://schemas.microsoft.com/office/drawing/2014/main" id="{65EF136E-CED4-4713-9B20-1477E9968C11}"/>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89"/>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`tt` 是一个 Go 编写的集合式 CLI，把分散的本地开发辅助能力收拢到同一根命令下。</a:t>
            </a:r>
          </a:p>
        </p:txBody>
      </p:sp>
      <p:sp>
        <p:nvSpPr>
          <p:cNvPr id="4" name="footer-left">
            <a:extLst xmlns:a="http://schemas.openxmlformats.org/drawingml/2006/main">
              <a:ext uri="{FF2B5EF4-FFF2-40B4-BE49-F238E27FC236}">
                <a16:creationId xmlns:a16="http://schemas.microsoft.com/office/drawing/2014/main" id="{9A1404D5-E579-477A-A70F-EE3C77ECCF78}"/>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78FEC98E-7BC4-491E-9FC3-206CC1202F53}"/>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03</a:t>
            </a:r>
          </a:p>
        </p:txBody>
      </p:sp>
      <p:sp>
        <p:nvSpPr>
          <p:cNvPr id="6" name="p1-panel">
            <a:extLst xmlns:a="http://schemas.openxmlformats.org/drawingml/2006/main">
              <a:ext uri="{FF2B5EF4-FFF2-40B4-BE49-F238E27FC236}">
                <a16:creationId xmlns:a16="http://schemas.microsoft.com/office/drawing/2014/main" id="{7E8AB1F6-6527-46BE-BC4B-A01BC2D697D1}"/>
              </a:ext>
            </a:extLst>
          </p:cNvPr>
          <p:cNvSpPr>
            <a:spLocks xmlns:a="http://schemas.openxmlformats.org/drawingml/2006/main" noGrp="1"/>
          </p:cNvSpPr>
          <p:nvPr/>
        </p:nvSpPr>
        <p:spPr>
          <a:xfrm xmlns:a="http://schemas.openxmlformats.org/drawingml/2006/main">
            <a:off x="590550" y="2095500"/>
            <a:ext cx="33337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7" name="p1-accent">
            <a:extLst xmlns:a="http://schemas.openxmlformats.org/drawingml/2006/main">
              <a:ext uri="{FF2B5EF4-FFF2-40B4-BE49-F238E27FC236}">
                <a16:creationId xmlns:a16="http://schemas.microsoft.com/office/drawing/2014/main" id="{C95B9C37-9B85-4568-BF64-E6B4A78F361F}"/>
              </a:ext>
            </a:extLst>
          </p:cNvPr>
          <p:cNvSpPr>
            <a:spLocks xmlns:a="http://schemas.openxmlformats.org/drawingml/2006/main" noGrp="1"/>
          </p:cNvSpPr>
          <p:nvPr/>
        </p:nvSpPr>
        <p:spPr>
          <a:xfrm xmlns:a="http://schemas.openxmlformats.org/drawingml/2006/main">
            <a:off x="590550" y="2095500"/>
            <a:ext cx="66675" cy="18097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p1-label">
            <a:extLst xmlns:a="http://schemas.openxmlformats.org/drawingml/2006/main">
              <a:ext uri="{FF2B5EF4-FFF2-40B4-BE49-F238E27FC236}">
                <a16:creationId xmlns:a16="http://schemas.microsoft.com/office/drawing/2014/main" id="{80E2D64A-2796-42EC-A7FE-6CAD378ABC19}"/>
              </a:ext>
            </a:extLst>
          </p:cNvPr>
          <p:cNvSpPr>
            <a:spLocks xmlns:a="http://schemas.openxmlformats.org/drawingml/2006/main" noGrp="1"/>
          </p:cNvSpPr>
          <p:nvPr/>
        </p:nvSpPr>
        <p:spPr>
          <a:xfrm xmlns:a="http://schemas.openxmlformats.org/drawingml/2006/main">
            <a:off x="800100" y="2305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不是单点工具</a:t>
            </a:r>
          </a:p>
        </p:txBody>
      </p:sp>
      <p:sp>
        <p:nvSpPr>
          <p:cNvPr id="9" name="p1-body">
            <a:extLst xmlns:a="http://schemas.openxmlformats.org/drawingml/2006/main">
              <a:ext uri="{FF2B5EF4-FFF2-40B4-BE49-F238E27FC236}">
                <a16:creationId xmlns:a16="http://schemas.microsoft.com/office/drawing/2014/main" id="{CF9982D3-CFBE-4F72-AF75-3844ADD0C58C}"/>
              </a:ext>
            </a:extLst>
          </p:cNvPr>
          <p:cNvSpPr>
            <a:spLocks xmlns:a="http://schemas.openxmlformats.org/drawingml/2006/main" noGrp="1"/>
          </p:cNvSpPr>
          <p:nvPr/>
        </p:nvSpPr>
        <p:spPr>
          <a:xfrm xmlns:a="http://schemas.openxmlformats.org/drawingml/2006/main">
            <a:off x="800100" y="2724150"/>
            <a:ext cx="2914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66"/>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它不是只做 markdown 预览、也不是只跑 agent；它把文件浏览、agent runtime、工作流、文档/skill 生成放在同一个入口。</a:t>
            </a:r>
          </a:p>
        </p:txBody>
      </p:sp>
      <p:sp>
        <p:nvSpPr>
          <p:cNvPr id="10" name="p2-panel">
            <a:extLst xmlns:a="http://schemas.openxmlformats.org/drawingml/2006/main">
              <a:ext uri="{FF2B5EF4-FFF2-40B4-BE49-F238E27FC236}">
                <a16:creationId xmlns:a16="http://schemas.microsoft.com/office/drawing/2014/main" id="{C3546663-5815-4769-A0BD-A96CDA29A323}"/>
              </a:ext>
            </a:extLst>
          </p:cNvPr>
          <p:cNvSpPr>
            <a:spLocks xmlns:a="http://schemas.openxmlformats.org/drawingml/2006/main" noGrp="1"/>
          </p:cNvSpPr>
          <p:nvPr/>
        </p:nvSpPr>
        <p:spPr>
          <a:xfrm xmlns:a="http://schemas.openxmlformats.org/drawingml/2006/main">
            <a:off x="4429125" y="2095500"/>
            <a:ext cx="33337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1" name="p2-accent">
            <a:extLst xmlns:a="http://schemas.openxmlformats.org/drawingml/2006/main">
              <a:ext uri="{FF2B5EF4-FFF2-40B4-BE49-F238E27FC236}">
                <a16:creationId xmlns:a16="http://schemas.microsoft.com/office/drawing/2014/main" id="{D4DF4EA4-20D3-4476-A386-8AD84A74C019}"/>
              </a:ext>
            </a:extLst>
          </p:cNvPr>
          <p:cNvSpPr>
            <a:spLocks xmlns:a="http://schemas.openxmlformats.org/drawingml/2006/main" noGrp="1"/>
          </p:cNvSpPr>
          <p:nvPr/>
        </p:nvSpPr>
        <p:spPr>
          <a:xfrm xmlns:a="http://schemas.openxmlformats.org/drawingml/2006/main">
            <a:off x="4429125" y="2095500"/>
            <a:ext cx="66675" cy="1809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2" name="p2-label">
            <a:extLst xmlns:a="http://schemas.openxmlformats.org/drawingml/2006/main">
              <a:ext uri="{FF2B5EF4-FFF2-40B4-BE49-F238E27FC236}">
                <a16:creationId xmlns:a16="http://schemas.microsoft.com/office/drawing/2014/main" id="{CF44C4F1-5750-4A1D-9ABB-AFACBEAFE6CE}"/>
              </a:ext>
            </a:extLst>
          </p:cNvPr>
          <p:cNvSpPr>
            <a:spLocks xmlns:a="http://schemas.openxmlformats.org/drawingml/2006/main" noGrp="1"/>
          </p:cNvSpPr>
          <p:nvPr/>
        </p:nvSpPr>
        <p:spPr>
          <a:xfrm xmlns:a="http://schemas.openxmlformats.org/drawingml/2006/main">
            <a:off x="4638675" y="2305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像一个本地工作台</a:t>
            </a:r>
          </a:p>
        </p:txBody>
      </p:sp>
      <p:sp>
        <p:nvSpPr>
          <p:cNvPr id="13" name="p2-body">
            <a:extLst xmlns:a="http://schemas.openxmlformats.org/drawingml/2006/main">
              <a:ext uri="{FF2B5EF4-FFF2-40B4-BE49-F238E27FC236}">
                <a16:creationId xmlns:a16="http://schemas.microsoft.com/office/drawing/2014/main" id="{AFFB3C8D-E38B-4487-8184-66EC8DBD15B3}"/>
              </a:ext>
            </a:extLst>
          </p:cNvPr>
          <p:cNvSpPr>
            <a:spLocks xmlns:a="http://schemas.openxmlformats.org/drawingml/2006/main" noGrp="1"/>
          </p:cNvSpPr>
          <p:nvPr/>
        </p:nvSpPr>
        <p:spPr>
          <a:xfrm xmlns:a="http://schemas.openxmlformats.org/drawingml/2006/main">
            <a:off x="4638675" y="2724150"/>
            <a:ext cx="2914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9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用户通过 `tt &lt;command&gt;` 调用一组任务型能力；Go CLI 负责本地边界，必要时启动 Web UI 或 Picoclaw agent。</a:t>
            </a:r>
          </a:p>
        </p:txBody>
      </p:sp>
      <p:sp>
        <p:nvSpPr>
          <p:cNvPr id="14" name="p3-panel">
            <a:extLst xmlns:a="http://schemas.openxmlformats.org/drawingml/2006/main">
              <a:ext uri="{FF2B5EF4-FFF2-40B4-BE49-F238E27FC236}">
                <a16:creationId xmlns:a16="http://schemas.microsoft.com/office/drawing/2014/main" id="{41D19FAF-027F-4482-9B98-A5BB249D3943}"/>
              </a:ext>
            </a:extLst>
          </p:cNvPr>
          <p:cNvSpPr>
            <a:spLocks xmlns:a="http://schemas.openxmlformats.org/drawingml/2006/main" noGrp="1"/>
          </p:cNvSpPr>
          <p:nvPr/>
        </p:nvSpPr>
        <p:spPr>
          <a:xfrm xmlns:a="http://schemas.openxmlformats.org/drawingml/2006/main">
            <a:off x="8267700" y="2095500"/>
            <a:ext cx="3333750" cy="180975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5" name="p3-accent">
            <a:extLst xmlns:a="http://schemas.openxmlformats.org/drawingml/2006/main">
              <a:ext uri="{FF2B5EF4-FFF2-40B4-BE49-F238E27FC236}">
                <a16:creationId xmlns:a16="http://schemas.microsoft.com/office/drawing/2014/main" id="{FE4B4B2B-AD82-4F81-963E-B922C3D38718}"/>
              </a:ext>
            </a:extLst>
          </p:cNvPr>
          <p:cNvSpPr>
            <a:spLocks xmlns:a="http://schemas.openxmlformats.org/drawingml/2006/main" noGrp="1"/>
          </p:cNvSpPr>
          <p:nvPr/>
        </p:nvSpPr>
        <p:spPr>
          <a:xfrm xmlns:a="http://schemas.openxmlformats.org/drawingml/2006/main">
            <a:off x="8267700" y="2095500"/>
            <a:ext cx="66675" cy="18097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6" name="p3-label">
            <a:extLst xmlns:a="http://schemas.openxmlformats.org/drawingml/2006/main">
              <a:ext uri="{FF2B5EF4-FFF2-40B4-BE49-F238E27FC236}">
                <a16:creationId xmlns:a16="http://schemas.microsoft.com/office/drawing/2014/main" id="{CBC46F0A-CA17-4680-A0D5-2D72F9C0DF89}"/>
              </a:ext>
            </a:extLst>
          </p:cNvPr>
          <p:cNvSpPr>
            <a:spLocks xmlns:a="http://schemas.openxmlformats.org/drawingml/2006/main" noGrp="1"/>
          </p:cNvSpPr>
          <p:nvPr/>
        </p:nvSpPr>
        <p:spPr>
          <a:xfrm xmlns:a="http://schemas.openxmlformats.org/drawingml/2006/main">
            <a:off x="8477250" y="2305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重点是可扩展</a:t>
            </a:r>
          </a:p>
        </p:txBody>
      </p:sp>
      <p:sp>
        <p:nvSpPr>
          <p:cNvPr id="17" name="p3-body">
            <a:extLst xmlns:a="http://schemas.openxmlformats.org/drawingml/2006/main">
              <a:ext uri="{FF2B5EF4-FFF2-40B4-BE49-F238E27FC236}">
                <a16:creationId xmlns:a16="http://schemas.microsoft.com/office/drawing/2014/main" id="{98B93DD3-238B-41A4-8ED2-2A327064ECA8}"/>
              </a:ext>
            </a:extLst>
          </p:cNvPr>
          <p:cNvSpPr>
            <a:spLocks xmlns:a="http://schemas.openxmlformats.org/drawingml/2006/main" noGrp="1"/>
          </p:cNvSpPr>
          <p:nvPr/>
        </p:nvSpPr>
        <p:spPr>
          <a:xfrm xmlns:a="http://schemas.openxmlformats.org/drawingml/2006/main">
            <a:off x="8477250" y="2724150"/>
            <a:ext cx="29146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9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新命令、新公式、新内嵌 agent、新前端 UI 都能沿现有目录结构扩展，而不是散落成脚本。</a:t>
            </a:r>
          </a:p>
        </p:txBody>
      </p:sp>
      <p:sp>
        <p:nvSpPr>
          <p:cNvPr id="18" name="quote">
            <a:extLst xmlns:a="http://schemas.openxmlformats.org/drawingml/2006/main">
              <a:ext uri="{FF2B5EF4-FFF2-40B4-BE49-F238E27FC236}">
                <a16:creationId xmlns:a16="http://schemas.microsoft.com/office/drawing/2014/main" id="{8327D3A5-5394-4D99-A9C7-1850EE725FED}"/>
              </a:ext>
            </a:extLst>
          </p:cNvPr>
          <p:cNvSpPr>
            <a:spLocks xmlns:a="http://schemas.openxmlformats.org/drawingml/2006/main" noGrp="1"/>
          </p:cNvSpPr>
          <p:nvPr/>
        </p:nvSpPr>
        <p:spPr>
          <a:xfrm xmlns:a="http://schemas.openxmlformats.org/drawingml/2006/main">
            <a:off x="1428750" y="478155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99206"/>
          </a:bodyPr>
          <a:lstStyle xmlns:a="http://schemas.openxmlformats.org/drawingml/2006/main"/>
          <a:p xmlns:a="http://schemas.openxmlformats.org/drawingml/2006/main">
            <a:pPr>
              <a:lnSpc>
                <a:spcPct val="105000"/>
              </a:lnSpc>
              <a:buNone/>
              <a:defRPr sz="2100">
                <a:solidFill>
                  <a:srgbClr val="111111"/>
                </a:solidFill>
                <a:latin typeface="PingFang SC"/>
                <a:ea typeface="PingFang SC"/>
                <a:cs typeface="PingFang SC"/>
              </a:defRPr>
            </a:pPr>
            <a:r>
              <a:rPr sz="2100" b="1">
                <a:solidFill>
                  <a:srgbClr val="111111"/>
                </a:solidFill>
                <a:latin typeface="PingFang SC"/>
                <a:ea typeface="PingFang SC"/>
                <a:cs typeface="PingFang SC"/>
              </a:rPr>
              <a:t>一句话：</a:t>
            </a:r>
            <a:r>
              <a:rPr sz="2100">
                <a:solidFill>
                  <a:srgbClr val="111111"/>
                </a:solidFill>
                <a:latin typeface="PingFang SC"/>
                <a:ea typeface="PingFang SC"/>
                <a:cs typeface="PingFang SC"/>
              </a:rPr>
              <a:t>tt = collection-style CLI + embedded agents + typed formula workflows + local Web UI surfaces.</a:t>
            </a:r>
          </a:p>
        </p:txBody>
      </p:sp>
    </p:spTree>
    <p:extLst>
      <p:ext uri="{BB962C8B-B14F-4D97-AF65-F5344CB8AC3E}">
        <p14:creationId xmlns:p14="http://schemas.microsoft.com/office/powerpoint/2010/main" val="184806789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E85E27FE-56FF-4DAF-9801-EF76DBC9AEE6}"/>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capability map</a:t>
            </a:r>
          </a:p>
        </p:txBody>
      </p:sp>
      <p:sp>
        <p:nvSpPr>
          <p:cNvPr id="2" name="title">
            <a:extLst xmlns:a="http://schemas.openxmlformats.org/drawingml/2006/main">
              <a:ext uri="{FF2B5EF4-FFF2-40B4-BE49-F238E27FC236}">
                <a16:creationId xmlns:a16="http://schemas.microsoft.com/office/drawing/2014/main" id="{4384B105-316D-4232-9BF2-9C00002154DC}"/>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五类能力入口</a:t>
            </a:r>
          </a:p>
        </p:txBody>
      </p:sp>
      <p:sp>
        <p:nvSpPr>
          <p:cNvPr id="3" name="subtitle">
            <a:extLst xmlns:a="http://schemas.openxmlformats.org/drawingml/2006/main">
              <a:ext uri="{FF2B5EF4-FFF2-40B4-BE49-F238E27FC236}">
                <a16:creationId xmlns:a16="http://schemas.microsoft.com/office/drawing/2014/main" id="{4F455BAB-94EF-4D0C-A93E-03CF83E92EF8}"/>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从用户视角看，命令可以按运行模型分组，而不是按文件名背诵。</a:t>
            </a:r>
          </a:p>
        </p:txBody>
      </p:sp>
      <p:sp>
        <p:nvSpPr>
          <p:cNvPr id="4" name="footer-left">
            <a:extLst xmlns:a="http://schemas.openxmlformats.org/drawingml/2006/main">
              <a:ext uri="{FF2B5EF4-FFF2-40B4-BE49-F238E27FC236}">
                <a16:creationId xmlns:a16="http://schemas.microsoft.com/office/drawing/2014/main" id="{A5A55F21-76F0-4DD9-AE8E-03EDDDEF3A35}"/>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DCA6737D-4CF7-45DF-AE66-1A9170143923}"/>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04</a:t>
            </a:r>
          </a:p>
        </p:txBody>
      </p:sp>
      <p:sp>
        <p:nvSpPr>
          <p:cNvPr id="6" name="cap-0">
            <a:extLst xmlns:a="http://schemas.openxmlformats.org/drawingml/2006/main">
              <a:ext uri="{FF2B5EF4-FFF2-40B4-BE49-F238E27FC236}">
                <a16:creationId xmlns:a16="http://schemas.microsoft.com/office/drawing/2014/main" id="{C3D5F593-65D9-4062-90C0-93015A3D820E}"/>
              </a:ext>
            </a:extLst>
          </p:cNvPr>
          <p:cNvSpPr>
            <a:spLocks xmlns:a="http://schemas.openxmlformats.org/drawingml/2006/main" noGrp="1"/>
          </p:cNvSpPr>
          <p:nvPr/>
        </p:nvSpPr>
        <p:spPr>
          <a:xfrm xmlns:a="http://schemas.openxmlformats.org/drawingml/2006/main">
            <a:off x="590550" y="2095500"/>
            <a:ext cx="2076450" cy="3048000"/>
          </a:xfrm>
          <a:prstGeom xmlns:a="http://schemas.openxmlformats.org/drawingml/2006/main" prst="rect">
            <a:avLst/>
          </a:prstGeom>
          <a:solidFill xmlns:a="http://schemas.openxmlformats.org/drawingml/2006/main">
            <a:srgbClr val="F7F7F7"/>
          </a:solidFill>
          <a:ln xmlns:a="http://schemas.openxmlformats.org/drawingml/2006/main" w="9525">
            <a:solidFill>
              <a:srgbClr val="DADADA"/>
            </a:solidFill>
            <a:prstDash val="solid"/>
          </a:ln>
        </p:spPr>
      </p:sp>
      <p:sp>
        <p:nvSpPr>
          <p:cNvPr id="7" name="cap-accent-0">
            <a:extLst xmlns:a="http://schemas.openxmlformats.org/drawingml/2006/main">
              <a:ext uri="{FF2B5EF4-FFF2-40B4-BE49-F238E27FC236}">
                <a16:creationId xmlns:a16="http://schemas.microsoft.com/office/drawing/2014/main" id="{5E546EB1-992C-424B-82EC-E7DD7CEA1DFB}"/>
              </a:ext>
            </a:extLst>
          </p:cNvPr>
          <p:cNvSpPr>
            <a:spLocks xmlns:a="http://schemas.openxmlformats.org/drawingml/2006/main" noGrp="1"/>
          </p:cNvSpPr>
          <p:nvPr/>
        </p:nvSpPr>
        <p:spPr>
          <a:xfrm xmlns:a="http://schemas.openxmlformats.org/drawingml/2006/main">
            <a:off x="590550" y="2095500"/>
            <a:ext cx="2076450" cy="762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cap-label-0">
            <a:extLst xmlns:a="http://schemas.openxmlformats.org/drawingml/2006/main">
              <a:ext uri="{FF2B5EF4-FFF2-40B4-BE49-F238E27FC236}">
                <a16:creationId xmlns:a16="http://schemas.microsoft.com/office/drawing/2014/main" id="{3D7C6CCB-C2F3-4308-9CC1-8819015DAC1F}"/>
              </a:ext>
            </a:extLst>
          </p:cNvPr>
          <p:cNvSpPr>
            <a:spLocks xmlns:a="http://schemas.openxmlformats.org/drawingml/2006/main" noGrp="1"/>
          </p:cNvSpPr>
          <p:nvPr/>
        </p:nvSpPr>
        <p:spPr>
          <a:xfrm xmlns:a="http://schemas.openxmlformats.org/drawingml/2006/main">
            <a:off x="742950" y="236220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文件 / Web UI</a:t>
            </a:r>
          </a:p>
        </p:txBody>
      </p:sp>
      <p:sp>
        <p:nvSpPr>
          <p:cNvPr id="9" name="cap-cmd-0">
            <a:extLst xmlns:a="http://schemas.openxmlformats.org/drawingml/2006/main">
              <a:ext uri="{FF2B5EF4-FFF2-40B4-BE49-F238E27FC236}">
                <a16:creationId xmlns:a16="http://schemas.microsoft.com/office/drawing/2014/main" id="{2CF3E066-2B18-4808-93B3-47414A98378C}"/>
              </a:ext>
            </a:extLst>
          </p:cNvPr>
          <p:cNvSpPr>
            <a:spLocks xmlns:a="http://schemas.openxmlformats.org/drawingml/2006/main" noGrp="1"/>
          </p:cNvSpPr>
          <p:nvPr/>
        </p:nvSpPr>
        <p:spPr>
          <a:xfrm xmlns:a="http://schemas.openxmlformats.org/drawingml/2006/main">
            <a:off x="742950" y="2952750"/>
            <a:ext cx="177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FF6B35"/>
                </a:solidFill>
                <a:latin typeface="SF Mono"/>
                <a:ea typeface="SF Mono"/>
                <a:cs typeface="SF Mono"/>
              </a:defRPr>
            </a:pPr>
            <a:r>
              <a:rPr sz="1200" b="0">
                <a:solidFill>
                  <a:srgbClr val="FF6B35"/>
                </a:solidFill>
                <a:latin typeface="SF Mono"/>
                <a:ea typeface="SF Mono"/>
                <a:cs typeface="SF Mono"/>
              </a:rPr>
              <a:t>markdown, json, conversation, skill</a:t>
            </a:r>
          </a:p>
        </p:txBody>
      </p:sp>
      <p:sp>
        <p:nvSpPr>
          <p:cNvPr id="10" name="cap-body-0">
            <a:extLst xmlns:a="http://schemas.openxmlformats.org/drawingml/2006/main">
              <a:ext uri="{FF2B5EF4-FFF2-40B4-BE49-F238E27FC236}">
                <a16:creationId xmlns:a16="http://schemas.microsoft.com/office/drawing/2014/main" id="{3C5B6609-6DB3-4425-994F-30DFAD209679}"/>
              </a:ext>
            </a:extLst>
          </p:cNvPr>
          <p:cNvSpPr>
            <a:spLocks xmlns:a="http://schemas.openxmlformats.org/drawingml/2006/main" noGrp="1"/>
          </p:cNvSpPr>
          <p:nvPr/>
        </p:nvSpPr>
        <p:spPr>
          <a:xfrm xmlns:a="http://schemas.openxmlformats.org/drawingml/2006/main">
            <a:off x="742950" y="3829050"/>
            <a:ext cx="17716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本地 HTTP + 嵌入式前端，适合浏览、预览、编辑结构化内容。</a:t>
            </a:r>
          </a:p>
        </p:txBody>
      </p:sp>
      <p:sp>
        <p:nvSpPr>
          <p:cNvPr id="11" name="cap-1">
            <a:extLst xmlns:a="http://schemas.openxmlformats.org/drawingml/2006/main">
              <a:ext uri="{FF2B5EF4-FFF2-40B4-BE49-F238E27FC236}">
                <a16:creationId xmlns:a16="http://schemas.microsoft.com/office/drawing/2014/main" id="{FD2CB91E-C964-4C33-8138-056CDEF407BF}"/>
              </a:ext>
            </a:extLst>
          </p:cNvPr>
          <p:cNvSpPr>
            <a:spLocks xmlns:a="http://schemas.openxmlformats.org/drawingml/2006/main" noGrp="1"/>
          </p:cNvSpPr>
          <p:nvPr/>
        </p:nvSpPr>
        <p:spPr>
          <a:xfrm xmlns:a="http://schemas.openxmlformats.org/drawingml/2006/main">
            <a:off x="2876550" y="2095500"/>
            <a:ext cx="2076450" cy="3048000"/>
          </a:xfrm>
          <a:prstGeom xmlns:a="http://schemas.openxmlformats.org/drawingml/2006/main" prst="rect">
            <a:avLst/>
          </a:prstGeom>
          <a:solidFill xmlns:a="http://schemas.openxmlformats.org/drawingml/2006/main">
            <a:srgbClr val="F7F7F7"/>
          </a:solidFill>
          <a:ln xmlns:a="http://schemas.openxmlformats.org/drawingml/2006/main" w="9525">
            <a:solidFill>
              <a:srgbClr val="DADADA"/>
            </a:solidFill>
            <a:prstDash val="solid"/>
          </a:ln>
        </p:spPr>
      </p:sp>
      <p:sp>
        <p:nvSpPr>
          <p:cNvPr id="12" name="cap-accent-1">
            <a:extLst xmlns:a="http://schemas.openxmlformats.org/drawingml/2006/main">
              <a:ext uri="{FF2B5EF4-FFF2-40B4-BE49-F238E27FC236}">
                <a16:creationId xmlns:a16="http://schemas.microsoft.com/office/drawing/2014/main" id="{7D851055-9CCB-486A-BCBF-FB7EBF2B4473}"/>
              </a:ext>
            </a:extLst>
          </p:cNvPr>
          <p:cNvSpPr>
            <a:spLocks xmlns:a="http://schemas.openxmlformats.org/drawingml/2006/main" noGrp="1"/>
          </p:cNvSpPr>
          <p:nvPr/>
        </p:nvSpPr>
        <p:spPr>
          <a:xfrm xmlns:a="http://schemas.openxmlformats.org/drawingml/2006/main">
            <a:off x="2876550" y="2095500"/>
            <a:ext cx="207645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cap-label-1">
            <a:extLst xmlns:a="http://schemas.openxmlformats.org/drawingml/2006/main">
              <a:ext uri="{FF2B5EF4-FFF2-40B4-BE49-F238E27FC236}">
                <a16:creationId xmlns:a16="http://schemas.microsoft.com/office/drawing/2014/main" id="{87C969FF-B1B4-404D-B6D8-A3B52DACF6FE}"/>
              </a:ext>
            </a:extLst>
          </p:cNvPr>
          <p:cNvSpPr>
            <a:spLocks xmlns:a="http://schemas.openxmlformats.org/drawingml/2006/main" noGrp="1"/>
          </p:cNvSpPr>
          <p:nvPr/>
        </p:nvSpPr>
        <p:spPr>
          <a:xfrm xmlns:a="http://schemas.openxmlformats.org/drawingml/2006/main">
            <a:off x="3028950" y="236220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Agent runtime</a:t>
            </a:r>
          </a:p>
        </p:txBody>
      </p:sp>
      <p:sp>
        <p:nvSpPr>
          <p:cNvPr id="14" name="cap-cmd-1">
            <a:extLst xmlns:a="http://schemas.openxmlformats.org/drawingml/2006/main">
              <a:ext uri="{FF2B5EF4-FFF2-40B4-BE49-F238E27FC236}">
                <a16:creationId xmlns:a16="http://schemas.microsoft.com/office/drawing/2014/main" id="{68190B0E-6765-4E3A-89E3-912A76C9D70E}"/>
              </a:ext>
            </a:extLst>
          </p:cNvPr>
          <p:cNvSpPr>
            <a:spLocks xmlns:a="http://schemas.openxmlformats.org/drawingml/2006/main" noGrp="1"/>
          </p:cNvSpPr>
          <p:nvPr/>
        </p:nvSpPr>
        <p:spPr>
          <a:xfrm xmlns:a="http://schemas.openxmlformats.org/drawingml/2006/main">
            <a:off x="3028950" y="2952750"/>
            <a:ext cx="177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0F766E"/>
                </a:solidFill>
                <a:latin typeface="SF Mono"/>
                <a:ea typeface="SF Mono"/>
                <a:cs typeface="SF Mono"/>
              </a:defRPr>
            </a:pPr>
            <a:r>
              <a:rPr sz="1200" b="0">
                <a:solidFill>
                  <a:srgbClr val="0F766E"/>
                </a:solidFill>
                <a:latin typeface="SF Mono"/>
                <a:ea typeface="SF Mono"/>
                <a:cs typeface="SF Mono"/>
              </a:rPr>
              <a:t>agent, translate, debate, nvwa</a:t>
            </a:r>
          </a:p>
        </p:txBody>
      </p:sp>
      <p:sp>
        <p:nvSpPr>
          <p:cNvPr id="15" name="cap-body-1">
            <a:extLst xmlns:a="http://schemas.openxmlformats.org/drawingml/2006/main">
              <a:ext uri="{FF2B5EF4-FFF2-40B4-BE49-F238E27FC236}">
                <a16:creationId xmlns:a16="http://schemas.microsoft.com/office/drawing/2014/main" id="{AA1E7EB8-A927-495D-9AA7-600676F7CF5B}"/>
              </a:ext>
            </a:extLst>
          </p:cNvPr>
          <p:cNvSpPr>
            <a:spLocks xmlns:a="http://schemas.openxmlformats.org/drawingml/2006/main" noGrp="1"/>
          </p:cNvSpPr>
          <p:nvPr/>
        </p:nvSpPr>
        <p:spPr>
          <a:xfrm xmlns:a="http://schemas.openxmlformats.org/drawingml/2006/main">
            <a:off x="3028950" y="3829050"/>
            <a:ext cx="17716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复用 Picoclaw 的模型、agent、skill、session 和配置。</a:t>
            </a:r>
          </a:p>
        </p:txBody>
      </p:sp>
      <p:sp>
        <p:nvSpPr>
          <p:cNvPr id="16" name="cap-2">
            <a:extLst xmlns:a="http://schemas.openxmlformats.org/drawingml/2006/main">
              <a:ext uri="{FF2B5EF4-FFF2-40B4-BE49-F238E27FC236}">
                <a16:creationId xmlns:a16="http://schemas.microsoft.com/office/drawing/2014/main" id="{EA66B380-53FE-4AAB-A05A-33DAF16BADEF}"/>
              </a:ext>
            </a:extLst>
          </p:cNvPr>
          <p:cNvSpPr>
            <a:spLocks xmlns:a="http://schemas.openxmlformats.org/drawingml/2006/main" noGrp="1"/>
          </p:cNvSpPr>
          <p:nvPr/>
        </p:nvSpPr>
        <p:spPr>
          <a:xfrm xmlns:a="http://schemas.openxmlformats.org/drawingml/2006/main">
            <a:off x="5162550" y="2095500"/>
            <a:ext cx="2076450" cy="3048000"/>
          </a:xfrm>
          <a:prstGeom xmlns:a="http://schemas.openxmlformats.org/drawingml/2006/main" prst="rect">
            <a:avLst/>
          </a:prstGeom>
          <a:solidFill xmlns:a="http://schemas.openxmlformats.org/drawingml/2006/main">
            <a:srgbClr val="F7F7F7"/>
          </a:solidFill>
          <a:ln xmlns:a="http://schemas.openxmlformats.org/drawingml/2006/main" w="9525">
            <a:solidFill>
              <a:srgbClr val="DADADA"/>
            </a:solidFill>
            <a:prstDash val="solid"/>
          </a:ln>
        </p:spPr>
      </p:sp>
      <p:sp>
        <p:nvSpPr>
          <p:cNvPr id="17" name="cap-accent-2">
            <a:extLst xmlns:a="http://schemas.openxmlformats.org/drawingml/2006/main">
              <a:ext uri="{FF2B5EF4-FFF2-40B4-BE49-F238E27FC236}">
                <a16:creationId xmlns:a16="http://schemas.microsoft.com/office/drawing/2014/main" id="{5D1F206D-B178-47D8-8CA9-4ED02D6AFC9C}"/>
              </a:ext>
            </a:extLst>
          </p:cNvPr>
          <p:cNvSpPr>
            <a:spLocks xmlns:a="http://schemas.openxmlformats.org/drawingml/2006/main" noGrp="1"/>
          </p:cNvSpPr>
          <p:nvPr/>
        </p:nvSpPr>
        <p:spPr>
          <a:xfrm xmlns:a="http://schemas.openxmlformats.org/drawingml/2006/main">
            <a:off x="5162550" y="2095500"/>
            <a:ext cx="2076450" cy="76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8" name="cap-label-2">
            <a:extLst xmlns:a="http://schemas.openxmlformats.org/drawingml/2006/main">
              <a:ext uri="{FF2B5EF4-FFF2-40B4-BE49-F238E27FC236}">
                <a16:creationId xmlns:a16="http://schemas.microsoft.com/office/drawing/2014/main" id="{474ACA77-0404-4204-8AFA-7C91A0584C61}"/>
              </a:ext>
            </a:extLst>
          </p:cNvPr>
          <p:cNvSpPr>
            <a:spLocks xmlns:a="http://schemas.openxmlformats.org/drawingml/2006/main" noGrp="1"/>
          </p:cNvSpPr>
          <p:nvPr/>
        </p:nvSpPr>
        <p:spPr>
          <a:xfrm xmlns:a="http://schemas.openxmlformats.org/drawingml/2006/main">
            <a:off x="5314950" y="236220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Formula 工作流</a:t>
            </a:r>
          </a:p>
        </p:txBody>
      </p:sp>
      <p:sp>
        <p:nvSpPr>
          <p:cNvPr id="19" name="cap-cmd-2">
            <a:extLst xmlns:a="http://schemas.openxmlformats.org/drawingml/2006/main">
              <a:ext uri="{FF2B5EF4-FFF2-40B4-BE49-F238E27FC236}">
                <a16:creationId xmlns:a16="http://schemas.microsoft.com/office/drawing/2014/main" id="{A24A57F7-5961-48B5-A6F8-F6B6B90486F9}"/>
              </a:ext>
            </a:extLst>
          </p:cNvPr>
          <p:cNvSpPr>
            <a:spLocks xmlns:a="http://schemas.openxmlformats.org/drawingml/2006/main" noGrp="1"/>
          </p:cNvSpPr>
          <p:nvPr/>
        </p:nvSpPr>
        <p:spPr>
          <a:xfrm xmlns:a="http://schemas.openxmlformats.org/drawingml/2006/main">
            <a:off x="5314950" y="2952750"/>
            <a:ext cx="177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2563EB"/>
                </a:solidFill>
                <a:latin typeface="SF Mono"/>
                <a:ea typeface="SF Mono"/>
                <a:cs typeface="SF Mono"/>
              </a:defRPr>
            </a:pPr>
            <a:r>
              <a:rPr sz="1200" b="0">
                <a:solidFill>
                  <a:srgbClr val="2563EB"/>
                </a:solidFill>
                <a:latin typeface="SF Mono"/>
                <a:ea typeface="SF Mono"/>
                <a:cs typeface="SF Mono"/>
              </a:rPr>
              <a:t>formula run / schedule / resume</a:t>
            </a:r>
          </a:p>
        </p:txBody>
      </p:sp>
      <p:sp>
        <p:nvSpPr>
          <p:cNvPr id="20" name="cap-body-2">
            <a:extLst xmlns:a="http://schemas.openxmlformats.org/drawingml/2006/main">
              <a:ext uri="{FF2B5EF4-FFF2-40B4-BE49-F238E27FC236}">
                <a16:creationId xmlns:a16="http://schemas.microsoft.com/office/drawing/2014/main" id="{730EE1DE-205C-463D-B880-55E5966B40ED}"/>
              </a:ext>
            </a:extLst>
          </p:cNvPr>
          <p:cNvSpPr>
            <a:spLocks xmlns:a="http://schemas.openxmlformats.org/drawingml/2006/main" noGrp="1"/>
          </p:cNvSpPr>
          <p:nvPr/>
        </p:nvSpPr>
        <p:spPr>
          <a:xfrm xmlns:a="http://schemas.openxmlformats.org/drawingml/2006/main">
            <a:off x="5314950" y="3829050"/>
            <a:ext cx="17716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把重复任务声明成 TOML，编译为 typed workflow 后可观察执行。</a:t>
            </a:r>
          </a:p>
        </p:txBody>
      </p:sp>
      <p:sp>
        <p:nvSpPr>
          <p:cNvPr id="21" name="cap-3">
            <a:extLst xmlns:a="http://schemas.openxmlformats.org/drawingml/2006/main">
              <a:ext uri="{FF2B5EF4-FFF2-40B4-BE49-F238E27FC236}">
                <a16:creationId xmlns:a16="http://schemas.microsoft.com/office/drawing/2014/main" id="{A0E74F5C-1881-416C-A363-580F69641855}"/>
              </a:ext>
            </a:extLst>
          </p:cNvPr>
          <p:cNvSpPr>
            <a:spLocks xmlns:a="http://schemas.openxmlformats.org/drawingml/2006/main" noGrp="1"/>
          </p:cNvSpPr>
          <p:nvPr/>
        </p:nvSpPr>
        <p:spPr>
          <a:xfrm xmlns:a="http://schemas.openxmlformats.org/drawingml/2006/main">
            <a:off x="7448550" y="2095500"/>
            <a:ext cx="2076450" cy="3048000"/>
          </a:xfrm>
          <a:prstGeom xmlns:a="http://schemas.openxmlformats.org/drawingml/2006/main" prst="rect">
            <a:avLst/>
          </a:prstGeom>
          <a:solidFill xmlns:a="http://schemas.openxmlformats.org/drawingml/2006/main">
            <a:srgbClr val="F7F7F7"/>
          </a:solidFill>
          <a:ln xmlns:a="http://schemas.openxmlformats.org/drawingml/2006/main" w="9525">
            <a:solidFill>
              <a:srgbClr val="DADADA"/>
            </a:solidFill>
            <a:prstDash val="solid"/>
          </a:ln>
        </p:spPr>
      </p:sp>
      <p:sp>
        <p:nvSpPr>
          <p:cNvPr id="22" name="cap-accent-3">
            <a:extLst xmlns:a="http://schemas.openxmlformats.org/drawingml/2006/main">
              <a:ext uri="{FF2B5EF4-FFF2-40B4-BE49-F238E27FC236}">
                <a16:creationId xmlns:a16="http://schemas.microsoft.com/office/drawing/2014/main" id="{0C48D782-622A-421C-A329-5A6CCDA76DFA}"/>
              </a:ext>
            </a:extLst>
          </p:cNvPr>
          <p:cNvSpPr>
            <a:spLocks xmlns:a="http://schemas.openxmlformats.org/drawingml/2006/main" noGrp="1"/>
          </p:cNvSpPr>
          <p:nvPr/>
        </p:nvSpPr>
        <p:spPr>
          <a:xfrm xmlns:a="http://schemas.openxmlformats.org/drawingml/2006/main">
            <a:off x="7448550" y="2095500"/>
            <a:ext cx="2076450" cy="762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3" name="cap-label-3">
            <a:extLst xmlns:a="http://schemas.openxmlformats.org/drawingml/2006/main">
              <a:ext uri="{FF2B5EF4-FFF2-40B4-BE49-F238E27FC236}">
                <a16:creationId xmlns:a16="http://schemas.microsoft.com/office/drawing/2014/main" id="{2EED6CD2-6D95-4EEF-BEA7-181F2D8BA9A5}"/>
              </a:ext>
            </a:extLst>
          </p:cNvPr>
          <p:cNvSpPr>
            <a:spLocks xmlns:a="http://schemas.openxmlformats.org/drawingml/2006/main" noGrp="1"/>
          </p:cNvSpPr>
          <p:nvPr/>
        </p:nvSpPr>
        <p:spPr>
          <a:xfrm xmlns:a="http://schemas.openxmlformats.org/drawingml/2006/main">
            <a:off x="7600950" y="2362200"/>
            <a:ext cx="1771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生成式工程工具</a:t>
            </a:r>
          </a:p>
        </p:txBody>
      </p:sp>
      <p:sp>
        <p:nvSpPr>
          <p:cNvPr id="24" name="cap-cmd-3">
            <a:extLst xmlns:a="http://schemas.openxmlformats.org/drawingml/2006/main">
              <a:ext uri="{FF2B5EF4-FFF2-40B4-BE49-F238E27FC236}">
                <a16:creationId xmlns:a16="http://schemas.microsoft.com/office/drawing/2014/main" id="{2BDD7B67-0BA5-47B9-9BAC-8A7D9FD345A6}"/>
              </a:ext>
            </a:extLst>
          </p:cNvPr>
          <p:cNvSpPr>
            <a:spLocks xmlns:a="http://schemas.openxmlformats.org/drawingml/2006/main" noGrp="1"/>
          </p:cNvSpPr>
          <p:nvPr/>
        </p:nvSpPr>
        <p:spPr>
          <a:xfrm xmlns:a="http://schemas.openxmlformats.org/drawingml/2006/main">
            <a:off x="7600950" y="2952750"/>
            <a:ext cx="1771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F59E0B"/>
                </a:solidFill>
                <a:latin typeface="SF Mono"/>
                <a:ea typeface="SF Mono"/>
                <a:cs typeface="SF Mono"/>
              </a:defRPr>
            </a:pPr>
            <a:r>
              <a:rPr sz="1200" b="0">
                <a:solidFill>
                  <a:srgbClr val="F59E0B"/>
                </a:solidFill>
                <a:latin typeface="SF Mono"/>
                <a:ea typeface="SF Mono"/>
                <a:cs typeface="SF Mono"/>
              </a:rPr>
              <a:t>cmd2skill, repo2skill, docs analyze</a:t>
            </a:r>
          </a:p>
        </p:txBody>
      </p:sp>
      <p:sp>
        <p:nvSpPr>
          <p:cNvPr id="25" name="cap-body-3">
            <a:extLst xmlns:a="http://schemas.openxmlformats.org/drawingml/2006/main">
              <a:ext uri="{FF2B5EF4-FFF2-40B4-BE49-F238E27FC236}">
                <a16:creationId xmlns:a16="http://schemas.microsoft.com/office/drawing/2014/main" id="{AB39B90D-207E-4F6C-B68D-49BE66636864}"/>
              </a:ext>
            </a:extLst>
          </p:cNvPr>
          <p:cNvSpPr>
            <a:spLocks xmlns:a="http://schemas.openxmlformats.org/drawingml/2006/main" noGrp="1"/>
          </p:cNvSpPr>
          <p:nvPr/>
        </p:nvSpPr>
        <p:spPr>
          <a:xfrm xmlns:a="http://schemas.openxmlformats.org/drawingml/2006/main">
            <a:off x="7600950" y="3829050"/>
            <a:ext cx="17716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把命令、仓库、代码结构转成面向 agent 或人类的文档资产。</a:t>
            </a:r>
          </a:p>
        </p:txBody>
      </p:sp>
      <p:sp>
        <p:nvSpPr>
          <p:cNvPr id="26" name="cap-4">
            <a:extLst xmlns:a="http://schemas.openxmlformats.org/drawingml/2006/main">
              <a:ext uri="{FF2B5EF4-FFF2-40B4-BE49-F238E27FC236}">
                <a16:creationId xmlns:a16="http://schemas.microsoft.com/office/drawing/2014/main" id="{B6A42EEE-049A-42CA-A64F-3F78054C3903}"/>
              </a:ext>
            </a:extLst>
          </p:cNvPr>
          <p:cNvSpPr>
            <a:spLocks xmlns:a="http://schemas.openxmlformats.org/drawingml/2006/main" noGrp="1"/>
          </p:cNvSpPr>
          <p:nvPr/>
        </p:nvSpPr>
        <p:spPr>
          <a:xfrm xmlns:a="http://schemas.openxmlformats.org/drawingml/2006/main">
            <a:off x="9734550" y="2095500"/>
            <a:ext cx="2038350" cy="3048000"/>
          </a:xfrm>
          <a:prstGeom xmlns:a="http://schemas.openxmlformats.org/drawingml/2006/main" prst="rect">
            <a:avLst/>
          </a:prstGeom>
          <a:solidFill xmlns:a="http://schemas.openxmlformats.org/drawingml/2006/main">
            <a:srgbClr val="F7F7F7"/>
          </a:solidFill>
          <a:ln xmlns:a="http://schemas.openxmlformats.org/drawingml/2006/main" w="9525">
            <a:solidFill>
              <a:srgbClr val="DADADA"/>
            </a:solidFill>
            <a:prstDash val="solid"/>
          </a:ln>
        </p:spPr>
      </p:sp>
      <p:sp>
        <p:nvSpPr>
          <p:cNvPr id="27" name="cap-accent-4">
            <a:extLst xmlns:a="http://schemas.openxmlformats.org/drawingml/2006/main">
              <a:ext uri="{FF2B5EF4-FFF2-40B4-BE49-F238E27FC236}">
                <a16:creationId xmlns:a16="http://schemas.microsoft.com/office/drawing/2014/main" id="{C89FC4A9-7516-49D9-BBE9-94173AA69B39}"/>
              </a:ext>
            </a:extLst>
          </p:cNvPr>
          <p:cNvSpPr>
            <a:spLocks xmlns:a="http://schemas.openxmlformats.org/drawingml/2006/main" noGrp="1"/>
          </p:cNvSpPr>
          <p:nvPr/>
        </p:nvSpPr>
        <p:spPr>
          <a:xfrm xmlns:a="http://schemas.openxmlformats.org/drawingml/2006/main">
            <a:off x="9734550" y="2095500"/>
            <a:ext cx="2038350" cy="762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8" name="cap-label-4">
            <a:extLst xmlns:a="http://schemas.openxmlformats.org/drawingml/2006/main">
              <a:ext uri="{FF2B5EF4-FFF2-40B4-BE49-F238E27FC236}">
                <a16:creationId xmlns:a16="http://schemas.microsoft.com/office/drawing/2014/main" id="{4B0440DC-F5CC-4290-A1C6-7D920867F2C1}"/>
              </a:ext>
            </a:extLst>
          </p:cNvPr>
          <p:cNvSpPr>
            <a:spLocks xmlns:a="http://schemas.openxmlformats.org/drawingml/2006/main" noGrp="1"/>
          </p:cNvSpPr>
          <p:nvPr/>
        </p:nvSpPr>
        <p:spPr>
          <a:xfrm xmlns:a="http://schemas.openxmlformats.org/drawingml/2006/main">
            <a:off x="9886950" y="2362200"/>
            <a:ext cx="1733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配置与镜像</a:t>
            </a:r>
          </a:p>
        </p:txBody>
      </p:sp>
      <p:sp>
        <p:nvSpPr>
          <p:cNvPr id="29" name="cap-cmd-4">
            <a:extLst xmlns:a="http://schemas.openxmlformats.org/drawingml/2006/main">
              <a:ext uri="{FF2B5EF4-FFF2-40B4-BE49-F238E27FC236}">
                <a16:creationId xmlns:a16="http://schemas.microsoft.com/office/drawing/2014/main" id="{10D84386-CC19-428F-A32E-806395D50FA1}"/>
              </a:ext>
            </a:extLst>
          </p:cNvPr>
          <p:cNvSpPr>
            <a:spLocks xmlns:a="http://schemas.openxmlformats.org/drawingml/2006/main" noGrp="1"/>
          </p:cNvSpPr>
          <p:nvPr/>
        </p:nvSpPr>
        <p:spPr>
          <a:xfrm xmlns:a="http://schemas.openxmlformats.org/drawingml/2006/main">
            <a:off x="9886950" y="2952750"/>
            <a:ext cx="1733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111111"/>
                </a:solidFill>
                <a:latin typeface="SF Mono"/>
                <a:ea typeface="SF Mono"/>
                <a:cs typeface="SF Mono"/>
              </a:defRPr>
            </a:pPr>
            <a:r>
              <a:rPr sz="1200" b="0">
                <a:solidFill>
                  <a:srgbClr val="111111"/>
                </a:solidFill>
                <a:latin typeface="SF Mono"/>
                <a:ea typeface="SF Mono"/>
                <a:cs typeface="SF Mono"/>
              </a:rPr>
              <a:t>config, mirror, version</a:t>
            </a:r>
          </a:p>
        </p:txBody>
      </p:sp>
      <p:sp>
        <p:nvSpPr>
          <p:cNvPr id="30" name="cap-body-4">
            <a:extLst xmlns:a="http://schemas.openxmlformats.org/drawingml/2006/main">
              <a:ext uri="{FF2B5EF4-FFF2-40B4-BE49-F238E27FC236}">
                <a16:creationId xmlns:a16="http://schemas.microsoft.com/office/drawing/2014/main" id="{D90D049B-0143-4E73-8EA5-467B3A7F001E}"/>
              </a:ext>
            </a:extLst>
          </p:cNvPr>
          <p:cNvSpPr>
            <a:spLocks xmlns:a="http://schemas.openxmlformats.org/drawingml/2006/main" noGrp="1"/>
          </p:cNvSpPr>
          <p:nvPr/>
        </p:nvSpPr>
        <p:spPr>
          <a:xfrm xmlns:a="http://schemas.openxmlformats.org/drawingml/2006/main">
            <a:off x="9886950" y="3829050"/>
            <a:ext cx="17335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承载全局/项目配置、工具配置共享和基础诊断。</a:t>
            </a:r>
          </a:p>
        </p:txBody>
      </p:sp>
    </p:spTree>
    <p:extLst>
      <p:ext uri="{BB962C8B-B14F-4D97-AF65-F5344CB8AC3E}">
        <p14:creationId xmlns:p14="http://schemas.microsoft.com/office/powerpoint/2010/main" val="12885098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E3CF845B-821E-4A8F-8F24-75581B022A40}"/>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repo map</a:t>
            </a:r>
          </a:p>
        </p:txBody>
      </p:sp>
      <p:sp>
        <p:nvSpPr>
          <p:cNvPr id="2" name="title">
            <a:extLst xmlns:a="http://schemas.openxmlformats.org/drawingml/2006/main">
              <a:ext uri="{FF2B5EF4-FFF2-40B4-BE49-F238E27FC236}">
                <a16:creationId xmlns:a16="http://schemas.microsoft.com/office/drawing/2014/main" id="{C90271B3-9182-47EC-895D-C174FD80E0B5}"/>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当前工作区快照</a:t>
            </a:r>
          </a:p>
        </p:txBody>
      </p:sp>
      <p:sp>
        <p:nvSpPr>
          <p:cNvPr id="3" name="subtitle">
            <a:extLst xmlns:a="http://schemas.openxmlformats.org/drawingml/2006/main">
              <a:ext uri="{FF2B5EF4-FFF2-40B4-BE49-F238E27FC236}">
                <a16:creationId xmlns:a16="http://schemas.microsoft.com/office/drawing/2014/main" id="{80D8C0F9-FF68-4F83-8707-41306F5A3CE4}"/>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这些数字用于建立项目体量感，来自本地源码检查。</a:t>
            </a:r>
          </a:p>
        </p:txBody>
      </p:sp>
      <p:sp>
        <p:nvSpPr>
          <p:cNvPr id="4" name="footer-left">
            <a:extLst xmlns:a="http://schemas.openxmlformats.org/drawingml/2006/main">
              <a:ext uri="{FF2B5EF4-FFF2-40B4-BE49-F238E27FC236}">
                <a16:creationId xmlns:a16="http://schemas.microsoft.com/office/drawing/2014/main" id="{F009B6BF-852B-49D2-9C0C-56C62ACFE45A}"/>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50E7D69E-0F13-4664-BAB1-833AB8C13976}"/>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05</a:t>
            </a:r>
          </a:p>
        </p:txBody>
      </p:sp>
      <p:sp>
        <p:nvSpPr>
          <p:cNvPr id="6" name="go-main-panel">
            <a:extLst xmlns:a="http://schemas.openxmlformats.org/drawingml/2006/main">
              <a:ext uri="{FF2B5EF4-FFF2-40B4-BE49-F238E27FC236}">
                <a16:creationId xmlns:a16="http://schemas.microsoft.com/office/drawing/2014/main" id="{19A756B8-947F-4639-89EC-366802FD688E}"/>
              </a:ext>
            </a:extLst>
          </p:cNvPr>
          <p:cNvSpPr>
            <a:spLocks xmlns:a="http://schemas.openxmlformats.org/drawingml/2006/main" noGrp="1"/>
          </p:cNvSpPr>
          <p:nvPr/>
        </p:nvSpPr>
        <p:spPr>
          <a:xfrm xmlns:a="http://schemas.openxmlformats.org/drawingml/2006/main">
            <a:off x="590550" y="1952625"/>
            <a:ext cx="238125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go-main-value">
            <a:extLst xmlns:a="http://schemas.openxmlformats.org/drawingml/2006/main">
              <a:ext uri="{FF2B5EF4-FFF2-40B4-BE49-F238E27FC236}">
                <a16:creationId xmlns:a16="http://schemas.microsoft.com/office/drawing/2014/main" id="{CED2CA53-BB31-4DE4-B2F2-173153526676}"/>
              </a:ext>
            </a:extLst>
          </p:cNvPr>
          <p:cNvSpPr>
            <a:spLocks xmlns:a="http://schemas.openxmlformats.org/drawingml/2006/main" noGrp="1"/>
          </p:cNvSpPr>
          <p:nvPr/>
        </p:nvSpPr>
        <p:spPr>
          <a:xfrm xmlns:a="http://schemas.openxmlformats.org/drawingml/2006/main">
            <a:off x="781050" y="2181225"/>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200" b="1">
                <a:solidFill>
                  <a:srgbClr val="FF6B35"/>
                </a:solidFill>
                <a:latin typeface="PingFang SC"/>
                <a:ea typeface="PingFang SC"/>
                <a:cs typeface="PingFang SC"/>
              </a:defRPr>
            </a:pPr>
            <a:r>
              <a:rPr sz="4200" b="1">
                <a:solidFill>
                  <a:srgbClr val="FF6B35"/>
                </a:solidFill>
                <a:latin typeface="PingFang SC"/>
                <a:ea typeface="PingFang SC"/>
                <a:cs typeface="PingFang SC"/>
              </a:rPr>
              <a:t>123</a:t>
            </a:r>
          </a:p>
        </p:txBody>
      </p:sp>
      <p:sp>
        <p:nvSpPr>
          <p:cNvPr id="8" name="go-main-label">
            <a:extLst xmlns:a="http://schemas.openxmlformats.org/drawingml/2006/main">
              <a:ext uri="{FF2B5EF4-FFF2-40B4-BE49-F238E27FC236}">
                <a16:creationId xmlns:a16="http://schemas.microsoft.com/office/drawing/2014/main" id="{8B82F9DE-A5D4-4F2B-A7F6-0D62CB0C38A3}"/>
              </a:ext>
            </a:extLst>
          </p:cNvPr>
          <p:cNvSpPr>
            <a:spLocks xmlns:a="http://schemas.openxmlformats.org/drawingml/2006/main" noGrp="1"/>
          </p:cNvSpPr>
          <p:nvPr/>
        </p:nvSpPr>
        <p:spPr>
          <a:xfrm xmlns:a="http://schemas.openxmlformats.org/drawingml/2006/main">
            <a:off x="781050" y="2981325"/>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Go implementation files under cmd/internal</a:t>
            </a:r>
          </a:p>
        </p:txBody>
      </p:sp>
      <p:sp>
        <p:nvSpPr>
          <p:cNvPr id="9" name="go-test-panel">
            <a:extLst xmlns:a="http://schemas.openxmlformats.org/drawingml/2006/main">
              <a:ext uri="{FF2B5EF4-FFF2-40B4-BE49-F238E27FC236}">
                <a16:creationId xmlns:a16="http://schemas.microsoft.com/office/drawing/2014/main" id="{64FB4437-BEDE-4041-BA7E-48A29A9BF833}"/>
              </a:ext>
            </a:extLst>
          </p:cNvPr>
          <p:cNvSpPr>
            <a:spLocks xmlns:a="http://schemas.openxmlformats.org/drawingml/2006/main" noGrp="1"/>
          </p:cNvSpPr>
          <p:nvPr/>
        </p:nvSpPr>
        <p:spPr>
          <a:xfrm xmlns:a="http://schemas.openxmlformats.org/drawingml/2006/main">
            <a:off x="3333750" y="1952625"/>
            <a:ext cx="238125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go-test-value">
            <a:extLst xmlns:a="http://schemas.openxmlformats.org/drawingml/2006/main">
              <a:ext uri="{FF2B5EF4-FFF2-40B4-BE49-F238E27FC236}">
                <a16:creationId xmlns:a16="http://schemas.microsoft.com/office/drawing/2014/main" id="{E69E4059-8302-428F-95D4-8F9824F82EFE}"/>
              </a:ext>
            </a:extLst>
          </p:cNvPr>
          <p:cNvSpPr>
            <a:spLocks xmlns:a="http://schemas.openxmlformats.org/drawingml/2006/main" noGrp="1"/>
          </p:cNvSpPr>
          <p:nvPr/>
        </p:nvSpPr>
        <p:spPr>
          <a:xfrm xmlns:a="http://schemas.openxmlformats.org/drawingml/2006/main">
            <a:off x="3524250" y="2181225"/>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200" b="1">
                <a:solidFill>
                  <a:srgbClr val="0F766E"/>
                </a:solidFill>
                <a:latin typeface="PingFang SC"/>
                <a:ea typeface="PingFang SC"/>
                <a:cs typeface="PingFang SC"/>
              </a:defRPr>
            </a:pPr>
            <a:r>
              <a:rPr sz="4200" b="1">
                <a:solidFill>
                  <a:srgbClr val="0F766E"/>
                </a:solidFill>
                <a:latin typeface="PingFang SC"/>
                <a:ea typeface="PingFang SC"/>
                <a:cs typeface="PingFang SC"/>
              </a:rPr>
              <a:t>49</a:t>
            </a:r>
          </a:p>
        </p:txBody>
      </p:sp>
      <p:sp>
        <p:nvSpPr>
          <p:cNvPr id="11" name="go-test-label">
            <a:extLst xmlns:a="http://schemas.openxmlformats.org/drawingml/2006/main">
              <a:ext uri="{FF2B5EF4-FFF2-40B4-BE49-F238E27FC236}">
                <a16:creationId xmlns:a16="http://schemas.microsoft.com/office/drawing/2014/main" id="{F41F260B-4E5E-4507-A41C-C0DAEB507FAC}"/>
              </a:ext>
            </a:extLst>
          </p:cNvPr>
          <p:cNvSpPr>
            <a:spLocks xmlns:a="http://schemas.openxmlformats.org/drawingml/2006/main" noGrp="1"/>
          </p:cNvSpPr>
          <p:nvPr/>
        </p:nvSpPr>
        <p:spPr>
          <a:xfrm xmlns:a="http://schemas.openxmlformats.org/drawingml/2006/main">
            <a:off x="3524250" y="2981325"/>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Go test files under cmd/internal</a:t>
            </a:r>
          </a:p>
        </p:txBody>
      </p:sp>
      <p:sp>
        <p:nvSpPr>
          <p:cNvPr id="12" name="formulas-panel">
            <a:extLst xmlns:a="http://schemas.openxmlformats.org/drawingml/2006/main">
              <a:ext uri="{FF2B5EF4-FFF2-40B4-BE49-F238E27FC236}">
                <a16:creationId xmlns:a16="http://schemas.microsoft.com/office/drawing/2014/main" id="{07681E67-4266-4D6E-8D84-4A67BB64748C}"/>
              </a:ext>
            </a:extLst>
          </p:cNvPr>
          <p:cNvSpPr>
            <a:spLocks xmlns:a="http://schemas.openxmlformats.org/drawingml/2006/main" noGrp="1"/>
          </p:cNvSpPr>
          <p:nvPr/>
        </p:nvSpPr>
        <p:spPr>
          <a:xfrm xmlns:a="http://schemas.openxmlformats.org/drawingml/2006/main">
            <a:off x="6076950" y="1952625"/>
            <a:ext cx="238125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ormulas-value">
            <a:extLst xmlns:a="http://schemas.openxmlformats.org/drawingml/2006/main">
              <a:ext uri="{FF2B5EF4-FFF2-40B4-BE49-F238E27FC236}">
                <a16:creationId xmlns:a16="http://schemas.microsoft.com/office/drawing/2014/main" id="{6384E82B-67EA-4157-8468-5EC931D04B01}"/>
              </a:ext>
            </a:extLst>
          </p:cNvPr>
          <p:cNvSpPr>
            <a:spLocks xmlns:a="http://schemas.openxmlformats.org/drawingml/2006/main" noGrp="1"/>
          </p:cNvSpPr>
          <p:nvPr/>
        </p:nvSpPr>
        <p:spPr>
          <a:xfrm xmlns:a="http://schemas.openxmlformats.org/drawingml/2006/main">
            <a:off x="6267450" y="2181225"/>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200" b="1">
                <a:solidFill>
                  <a:srgbClr val="2563EB"/>
                </a:solidFill>
                <a:latin typeface="PingFang SC"/>
                <a:ea typeface="PingFang SC"/>
                <a:cs typeface="PingFang SC"/>
              </a:defRPr>
            </a:pPr>
            <a:r>
              <a:rPr sz="4200" b="1">
                <a:solidFill>
                  <a:srgbClr val="2563EB"/>
                </a:solidFill>
                <a:latin typeface="PingFang SC"/>
                <a:ea typeface="PingFang SC"/>
                <a:cs typeface="PingFang SC"/>
              </a:rPr>
              <a:t>24</a:t>
            </a:r>
          </a:p>
        </p:txBody>
      </p:sp>
      <p:sp>
        <p:nvSpPr>
          <p:cNvPr id="14" name="formulas-label">
            <a:extLst xmlns:a="http://schemas.openxmlformats.org/drawingml/2006/main">
              <a:ext uri="{FF2B5EF4-FFF2-40B4-BE49-F238E27FC236}">
                <a16:creationId xmlns:a16="http://schemas.microsoft.com/office/drawing/2014/main" id="{668AF2D8-E9B6-4F9A-9827-AA1968C6F338}"/>
              </a:ext>
            </a:extLst>
          </p:cNvPr>
          <p:cNvSpPr>
            <a:spLocks xmlns:a="http://schemas.openxmlformats.org/drawingml/2006/main" noGrp="1"/>
          </p:cNvSpPr>
          <p:nvPr/>
        </p:nvSpPr>
        <p:spPr>
          <a:xfrm xmlns:a="http://schemas.openxmlformats.org/drawingml/2006/main">
            <a:off x="6267450" y="2981325"/>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builtin formula TOML recipes</a:t>
            </a:r>
          </a:p>
        </p:txBody>
      </p:sp>
      <p:sp>
        <p:nvSpPr>
          <p:cNvPr id="15" name="agents-panel">
            <a:extLst xmlns:a="http://schemas.openxmlformats.org/drawingml/2006/main">
              <a:ext uri="{FF2B5EF4-FFF2-40B4-BE49-F238E27FC236}">
                <a16:creationId xmlns:a16="http://schemas.microsoft.com/office/drawing/2014/main" id="{A545F1DA-6FB4-4764-8F7D-149D0871E13A}"/>
              </a:ext>
            </a:extLst>
          </p:cNvPr>
          <p:cNvSpPr>
            <a:spLocks xmlns:a="http://schemas.openxmlformats.org/drawingml/2006/main" noGrp="1"/>
          </p:cNvSpPr>
          <p:nvPr/>
        </p:nvSpPr>
        <p:spPr>
          <a:xfrm xmlns:a="http://schemas.openxmlformats.org/drawingml/2006/main">
            <a:off x="8820150" y="1952625"/>
            <a:ext cx="2381250"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6" name="agents-value">
            <a:extLst xmlns:a="http://schemas.openxmlformats.org/drawingml/2006/main">
              <a:ext uri="{FF2B5EF4-FFF2-40B4-BE49-F238E27FC236}">
                <a16:creationId xmlns:a16="http://schemas.microsoft.com/office/drawing/2014/main" id="{B68DD9B2-C403-4069-A9CD-20505EA61546}"/>
              </a:ext>
            </a:extLst>
          </p:cNvPr>
          <p:cNvSpPr>
            <a:spLocks xmlns:a="http://schemas.openxmlformats.org/drawingml/2006/main" noGrp="1"/>
          </p:cNvSpPr>
          <p:nvPr/>
        </p:nvSpPr>
        <p:spPr>
          <a:xfrm xmlns:a="http://schemas.openxmlformats.org/drawingml/2006/main">
            <a:off x="9010650" y="2181225"/>
            <a:ext cx="200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200" b="1">
                <a:solidFill>
                  <a:srgbClr val="F59E0B"/>
                </a:solidFill>
                <a:latin typeface="PingFang SC"/>
                <a:ea typeface="PingFang SC"/>
                <a:cs typeface="PingFang SC"/>
              </a:defRPr>
            </a:pPr>
            <a:r>
              <a:rPr sz="4200" b="1">
                <a:solidFill>
                  <a:srgbClr val="F59E0B"/>
                </a:solidFill>
                <a:latin typeface="PingFang SC"/>
                <a:ea typeface="PingFang SC"/>
                <a:cs typeface="PingFang SC"/>
              </a:rPr>
              <a:t>21</a:t>
            </a:r>
          </a:p>
        </p:txBody>
      </p:sp>
      <p:sp>
        <p:nvSpPr>
          <p:cNvPr id="17" name="agents-label">
            <a:extLst xmlns:a="http://schemas.openxmlformats.org/drawingml/2006/main">
              <a:ext uri="{FF2B5EF4-FFF2-40B4-BE49-F238E27FC236}">
                <a16:creationId xmlns:a16="http://schemas.microsoft.com/office/drawing/2014/main" id="{C2EA5AA8-7FE8-4E9C-9C50-196AF8B019C6}"/>
              </a:ext>
            </a:extLst>
          </p:cNvPr>
          <p:cNvSpPr>
            <a:spLocks xmlns:a="http://schemas.openxmlformats.org/drawingml/2006/main" noGrp="1"/>
          </p:cNvSpPr>
          <p:nvPr/>
        </p:nvSpPr>
        <p:spPr>
          <a:xfrm xmlns:a="http://schemas.openxmlformats.org/drawingml/2006/main">
            <a:off x="9010650" y="2981325"/>
            <a:ext cx="200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embedded agent definitions</a:t>
            </a:r>
          </a:p>
        </p:txBody>
      </p:sp>
      <p:sp>
        <p:nvSpPr>
          <p:cNvPr id="18" name="takeaway">
            <a:extLst xmlns:a="http://schemas.openxmlformats.org/drawingml/2006/main">
              <a:ext uri="{FF2B5EF4-FFF2-40B4-BE49-F238E27FC236}">
                <a16:creationId xmlns:a16="http://schemas.microsoft.com/office/drawing/2014/main" id="{B5D28DFB-691B-40AF-A635-E5DC1987E656}"/>
              </a:ext>
            </a:extLst>
          </p:cNvPr>
          <p:cNvSpPr>
            <a:spLocks xmlns:a="http://schemas.openxmlformats.org/drawingml/2006/main" noGrp="1"/>
          </p:cNvSpPr>
          <p:nvPr/>
        </p:nvSpPr>
        <p:spPr>
          <a:xfrm xmlns:a="http://schemas.openxmlformats.org/drawingml/2006/main">
            <a:off x="1066800" y="4429125"/>
            <a:ext cx="952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代码重心：</a:t>
            </a:r>
            <a:r>
              <a:rPr sz="1650">
                <a:solidFill>
                  <a:srgbClr val="111111"/>
                </a:solidFill>
                <a:latin typeface="PingFang SC"/>
                <a:ea typeface="PingFang SC"/>
                <a:cs typeface="PingFang SC"/>
              </a:rPr>
              <a:t>`cmd/` 是命令装配层，复杂逻辑集中在 `internal/`。</a:t>
            </a:r>
          </a:p>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资产重心：</a:t>
            </a:r>
            <a:r>
              <a:rPr sz="1650">
                <a:solidFill>
                  <a:srgbClr val="111111"/>
                </a:solidFill>
                <a:latin typeface="PingFang SC"/>
                <a:ea typeface="PingFang SC"/>
                <a:cs typeface="PingFang SC"/>
              </a:rPr>
              <a:t>`internal/formula/builtin` 和 `internal/agents/embedded` 是可复用自动化资产。</a:t>
            </a:r>
          </a:p>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前端重心：</a:t>
            </a:r>
            <a:r>
              <a:rPr sz="1650">
                <a:solidFill>
                  <a:srgbClr val="111111"/>
                </a:solidFill>
                <a:latin typeface="PingFang SC"/>
                <a:ea typeface="PingFang SC"/>
                <a:cs typeface="PingFang SC"/>
              </a:rPr>
              <a:t>`web/apps/*` 产物通过 embed 进入 Go 二进制，服务本地浏览器界面。</a:t>
            </a:r>
          </a:p>
        </p:txBody>
      </p:sp>
    </p:spTree>
    <p:extLst>
      <p:ext uri="{BB962C8B-B14F-4D97-AF65-F5344CB8AC3E}">
        <p14:creationId xmlns:p14="http://schemas.microsoft.com/office/powerpoint/2010/main" val="16135087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CB76C2D6-0F8D-4C05-9C63-6442090641A1}"/>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architecture</a:t>
            </a:r>
          </a:p>
        </p:txBody>
      </p:sp>
      <p:sp>
        <p:nvSpPr>
          <p:cNvPr id="2" name="title">
            <a:extLst xmlns:a="http://schemas.openxmlformats.org/drawingml/2006/main">
              <a:ext uri="{FF2B5EF4-FFF2-40B4-BE49-F238E27FC236}">
                <a16:creationId xmlns:a16="http://schemas.microsoft.com/office/drawing/2014/main" id="{35A36B2A-1876-422C-8ADF-98AE0E6994D9}"/>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三层架构主线</a:t>
            </a:r>
          </a:p>
        </p:txBody>
      </p:sp>
      <p:sp>
        <p:nvSpPr>
          <p:cNvPr id="3" name="subtitle">
            <a:extLst xmlns:a="http://schemas.openxmlformats.org/drawingml/2006/main">
              <a:ext uri="{FF2B5EF4-FFF2-40B4-BE49-F238E27FC236}">
                <a16:creationId xmlns:a16="http://schemas.microsoft.com/office/drawing/2014/main" id="{50F1D2BB-7B2E-49EE-B471-DFB9FCB6036D}"/>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对外是 CLI，对内是一组共享基础设施的命令簇。</a:t>
            </a:r>
          </a:p>
        </p:txBody>
      </p:sp>
      <p:sp>
        <p:nvSpPr>
          <p:cNvPr id="4" name="footer-left">
            <a:extLst xmlns:a="http://schemas.openxmlformats.org/drawingml/2006/main">
              <a:ext uri="{FF2B5EF4-FFF2-40B4-BE49-F238E27FC236}">
                <a16:creationId xmlns:a16="http://schemas.microsoft.com/office/drawing/2014/main" id="{7ADC45C3-A45B-4B0D-94ED-E26561F33BB4}"/>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5EAA039E-FC66-4D14-83DD-00DB1C329DF0}"/>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06</a:t>
            </a:r>
          </a:p>
        </p:txBody>
      </p:sp>
      <p:sp>
        <p:nvSpPr>
          <p:cNvPr id="6" name="layer1-box">
            <a:extLst xmlns:a="http://schemas.openxmlformats.org/drawingml/2006/main">
              <a:ext uri="{FF2B5EF4-FFF2-40B4-BE49-F238E27FC236}">
                <a16:creationId xmlns:a16="http://schemas.microsoft.com/office/drawing/2014/main" id="{70CE2EC1-DFBC-4738-8F71-1BEB1345A0C4}"/>
              </a:ext>
            </a:extLst>
          </p:cNvPr>
          <p:cNvSpPr>
            <a:spLocks xmlns:a="http://schemas.openxmlformats.org/drawingml/2006/main" noGrp="1"/>
          </p:cNvSpPr>
          <p:nvPr/>
        </p:nvSpPr>
        <p:spPr>
          <a:xfrm xmlns:a="http://schemas.openxmlformats.org/drawingml/2006/main">
            <a:off x="895350" y="2286000"/>
            <a:ext cx="285750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layer1-bar">
            <a:extLst xmlns:a="http://schemas.openxmlformats.org/drawingml/2006/main">
              <a:ext uri="{FF2B5EF4-FFF2-40B4-BE49-F238E27FC236}">
                <a16:creationId xmlns:a16="http://schemas.microsoft.com/office/drawing/2014/main" id="{848E07C5-5FCF-4B57-BAAA-479670EEE6D0}"/>
              </a:ext>
            </a:extLst>
          </p:cNvPr>
          <p:cNvSpPr>
            <a:spLocks xmlns:a="http://schemas.openxmlformats.org/drawingml/2006/main" noGrp="1"/>
          </p:cNvSpPr>
          <p:nvPr/>
        </p:nvSpPr>
        <p:spPr>
          <a:xfrm xmlns:a="http://schemas.openxmlformats.org/drawingml/2006/main">
            <a:off x="895350" y="2286000"/>
            <a:ext cx="2857500"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layer1-label">
            <a:extLst xmlns:a="http://schemas.openxmlformats.org/drawingml/2006/main">
              <a:ext uri="{FF2B5EF4-FFF2-40B4-BE49-F238E27FC236}">
                <a16:creationId xmlns:a16="http://schemas.microsoft.com/office/drawing/2014/main" id="{C16BFC71-BE79-41C3-857A-E863AC9D46FD}"/>
              </a:ext>
            </a:extLst>
          </p:cNvPr>
          <p:cNvSpPr>
            <a:spLocks xmlns:a="http://schemas.openxmlformats.org/drawingml/2006/main" noGrp="1"/>
          </p:cNvSpPr>
          <p:nvPr/>
        </p:nvSpPr>
        <p:spPr>
          <a:xfrm xmlns:a="http://schemas.openxmlformats.org/drawingml/2006/main">
            <a:off x="1066800" y="24765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命令编排层</a:t>
            </a:r>
          </a:p>
        </p:txBody>
      </p:sp>
      <p:sp>
        <p:nvSpPr>
          <p:cNvPr id="9" name="layer1-body">
            <a:extLst xmlns:a="http://schemas.openxmlformats.org/drawingml/2006/main">
              <a:ext uri="{FF2B5EF4-FFF2-40B4-BE49-F238E27FC236}">
                <a16:creationId xmlns:a16="http://schemas.microsoft.com/office/drawing/2014/main" id="{57A05B2C-C4E9-4F80-A0B3-E5DC1E502188}"/>
              </a:ext>
            </a:extLst>
          </p:cNvPr>
          <p:cNvSpPr>
            <a:spLocks xmlns:a="http://schemas.openxmlformats.org/drawingml/2006/main" noGrp="1"/>
          </p:cNvSpPr>
          <p:nvPr/>
        </p:nvSpPr>
        <p:spPr>
          <a:xfrm xmlns:a="http://schemas.openxmlformats.org/drawingml/2006/main">
            <a:off x="1066800" y="2800350"/>
            <a:ext cx="25146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cmd/</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Cobra 命令、flags、输入归一化、输出组织</a:t>
            </a:r>
          </a:p>
        </p:txBody>
      </p:sp>
      <p:sp>
        <p:nvSpPr>
          <p:cNvPr id="10" name="layer2-box">
            <a:extLst xmlns:a="http://schemas.openxmlformats.org/drawingml/2006/main">
              <a:ext uri="{FF2B5EF4-FFF2-40B4-BE49-F238E27FC236}">
                <a16:creationId xmlns:a16="http://schemas.microsoft.com/office/drawing/2014/main" id="{7CBD6503-8687-4583-B6DA-3431D830DB33}"/>
              </a:ext>
            </a:extLst>
          </p:cNvPr>
          <p:cNvSpPr>
            <a:spLocks xmlns:a="http://schemas.openxmlformats.org/drawingml/2006/main" noGrp="1"/>
          </p:cNvSpPr>
          <p:nvPr/>
        </p:nvSpPr>
        <p:spPr>
          <a:xfrm xmlns:a="http://schemas.openxmlformats.org/drawingml/2006/main">
            <a:off x="4667250" y="2095500"/>
            <a:ext cx="3143250" cy="21907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1" name="layer2-bar">
            <a:extLst xmlns:a="http://schemas.openxmlformats.org/drawingml/2006/main">
              <a:ext uri="{FF2B5EF4-FFF2-40B4-BE49-F238E27FC236}">
                <a16:creationId xmlns:a16="http://schemas.microsoft.com/office/drawing/2014/main" id="{22B4E2A9-F134-4DFE-9396-E5B6FBF07C2E}"/>
              </a:ext>
            </a:extLst>
          </p:cNvPr>
          <p:cNvSpPr>
            <a:spLocks xmlns:a="http://schemas.openxmlformats.org/drawingml/2006/main" noGrp="1"/>
          </p:cNvSpPr>
          <p:nvPr/>
        </p:nvSpPr>
        <p:spPr>
          <a:xfrm xmlns:a="http://schemas.openxmlformats.org/drawingml/2006/main">
            <a:off x="4667250" y="2095500"/>
            <a:ext cx="3143250"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2" name="layer2-label">
            <a:extLst xmlns:a="http://schemas.openxmlformats.org/drawingml/2006/main">
              <a:ext uri="{FF2B5EF4-FFF2-40B4-BE49-F238E27FC236}">
                <a16:creationId xmlns:a16="http://schemas.microsoft.com/office/drawing/2014/main" id="{32A006D2-EA44-4846-9BA5-B9F0070FD61A}"/>
              </a:ext>
            </a:extLst>
          </p:cNvPr>
          <p:cNvSpPr>
            <a:spLocks xmlns:a="http://schemas.openxmlformats.org/drawingml/2006/main" noGrp="1"/>
          </p:cNvSpPr>
          <p:nvPr/>
        </p:nvSpPr>
        <p:spPr>
          <a:xfrm xmlns:a="http://schemas.openxmlformats.org/drawingml/2006/main">
            <a:off x="4838700" y="228600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领域能力层</a:t>
            </a:r>
          </a:p>
        </p:txBody>
      </p:sp>
      <p:sp>
        <p:nvSpPr>
          <p:cNvPr id="13" name="layer2-body">
            <a:extLst xmlns:a="http://schemas.openxmlformats.org/drawingml/2006/main">
              <a:ext uri="{FF2B5EF4-FFF2-40B4-BE49-F238E27FC236}">
                <a16:creationId xmlns:a16="http://schemas.microsoft.com/office/drawing/2014/main" id="{01B1AD31-E7A9-469C-BC05-B7CAB669299F}"/>
              </a:ext>
            </a:extLst>
          </p:cNvPr>
          <p:cNvSpPr>
            <a:spLocks xmlns:a="http://schemas.openxmlformats.org/drawingml/2006/main" noGrp="1"/>
          </p:cNvSpPr>
          <p:nvPr/>
        </p:nvSpPr>
        <p:spPr>
          <a:xfrm xmlns:a="http://schemas.openxmlformats.org/drawingml/2006/main">
            <a:off x="4838700" y="2609850"/>
            <a:ext cx="28003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internal/</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formula、picoclaw、agents、webui、repo2skill、cmd2skill、ttconfig</a:t>
            </a:r>
          </a:p>
        </p:txBody>
      </p:sp>
      <p:sp>
        <p:nvSpPr>
          <p:cNvPr id="14" name="layer3-box">
            <a:extLst xmlns:a="http://schemas.openxmlformats.org/drawingml/2006/main">
              <a:ext uri="{FF2B5EF4-FFF2-40B4-BE49-F238E27FC236}">
                <a16:creationId xmlns:a16="http://schemas.microsoft.com/office/drawing/2014/main" id="{45B1DC5B-39B3-49C3-91EC-BD4759C5F5F6}"/>
              </a:ext>
            </a:extLst>
          </p:cNvPr>
          <p:cNvSpPr>
            <a:spLocks xmlns:a="http://schemas.openxmlformats.org/drawingml/2006/main" noGrp="1"/>
          </p:cNvSpPr>
          <p:nvPr/>
        </p:nvSpPr>
        <p:spPr>
          <a:xfrm xmlns:a="http://schemas.openxmlformats.org/drawingml/2006/main">
            <a:off x="8763000" y="2286000"/>
            <a:ext cx="285750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layer3-bar">
            <a:extLst xmlns:a="http://schemas.openxmlformats.org/drawingml/2006/main">
              <a:ext uri="{FF2B5EF4-FFF2-40B4-BE49-F238E27FC236}">
                <a16:creationId xmlns:a16="http://schemas.microsoft.com/office/drawing/2014/main" id="{66500915-C870-43E7-AF86-F8D13053D0F4}"/>
              </a:ext>
            </a:extLst>
          </p:cNvPr>
          <p:cNvSpPr>
            <a:spLocks xmlns:a="http://schemas.openxmlformats.org/drawingml/2006/main" noGrp="1"/>
          </p:cNvSpPr>
          <p:nvPr/>
        </p:nvSpPr>
        <p:spPr>
          <a:xfrm xmlns:a="http://schemas.openxmlformats.org/drawingml/2006/main">
            <a:off x="8763000" y="2286000"/>
            <a:ext cx="2857500" cy="57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6" name="layer3-label">
            <a:extLst xmlns:a="http://schemas.openxmlformats.org/drawingml/2006/main">
              <a:ext uri="{FF2B5EF4-FFF2-40B4-BE49-F238E27FC236}">
                <a16:creationId xmlns:a16="http://schemas.microsoft.com/office/drawing/2014/main" id="{B2D433C8-4A6A-4D91-BDE0-E0333DD92E36}"/>
              </a:ext>
            </a:extLst>
          </p:cNvPr>
          <p:cNvSpPr>
            <a:spLocks xmlns:a="http://schemas.openxmlformats.org/drawingml/2006/main" noGrp="1"/>
          </p:cNvSpPr>
          <p:nvPr/>
        </p:nvSpPr>
        <p:spPr>
          <a:xfrm xmlns:a="http://schemas.openxmlformats.org/drawingml/2006/main">
            <a:off x="8934450" y="2476500"/>
            <a:ext cx="2514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运行时与呈现层</a:t>
            </a:r>
          </a:p>
        </p:txBody>
      </p:sp>
      <p:sp>
        <p:nvSpPr>
          <p:cNvPr id="17" name="layer3-body">
            <a:extLst xmlns:a="http://schemas.openxmlformats.org/drawingml/2006/main">
              <a:ext uri="{FF2B5EF4-FFF2-40B4-BE49-F238E27FC236}">
                <a16:creationId xmlns:a16="http://schemas.microsoft.com/office/drawing/2014/main" id="{A27F8ACA-7FCF-4D91-BE4C-08FAD11A3701}"/>
              </a:ext>
            </a:extLst>
          </p:cNvPr>
          <p:cNvSpPr>
            <a:spLocks xmlns:a="http://schemas.openxmlformats.org/drawingml/2006/main" noGrp="1"/>
          </p:cNvSpPr>
          <p:nvPr/>
        </p:nvSpPr>
        <p:spPr>
          <a:xfrm xmlns:a="http://schemas.openxmlformats.org/drawingml/2006/main">
            <a:off x="8934450" y="2800350"/>
            <a:ext cx="25146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Picoclaw provider/loop</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Formula runtime/run store</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Local HTTP/Web UI/dashboard</a:t>
            </a:r>
          </a:p>
        </p:txBody>
      </p:sp>
      <p:cxnSp>
        <p:nvCxnSpPr>
          <p:cNvPr id="38" name=""/>
          <p:cNvCxnSpPr>
            <a:stCxn xmlns:a="http://schemas.openxmlformats.org/drawingml/2006/main" id="6" idx="3"/>
            <a:endCxn xmlns:a="http://schemas.openxmlformats.org/drawingml/2006/main" id="10" idx="1"/>
          </p:cNvCxnSpPr>
          <p:nvPr/>
        </p:nvCxnSpPr>
        <p:spPr>
          <a:xfrm xmlns:a="http://schemas.openxmlformats.org/drawingml/2006/main">
            <a:off x="3752850" y="3190875"/>
            <a:ext cx="91440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cxnSp>
        <p:nvCxnSpPr>
          <p:cNvPr id="39" name=""/>
          <p:cNvCxnSpPr>
            <a:stCxn xmlns:a="http://schemas.openxmlformats.org/drawingml/2006/main" id="10" idx="3"/>
            <a:endCxn xmlns:a="http://schemas.openxmlformats.org/drawingml/2006/main" id="14" idx="1"/>
          </p:cNvCxnSpPr>
          <p:nvPr/>
        </p:nvCxnSpPr>
        <p:spPr>
          <a:xfrm xmlns:a="http://schemas.openxmlformats.org/drawingml/2006/main">
            <a:off x="7810500" y="3190875"/>
            <a:ext cx="95250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20" name="caption">
            <a:extLst xmlns:a="http://schemas.openxmlformats.org/drawingml/2006/main">
              <a:ext uri="{FF2B5EF4-FFF2-40B4-BE49-F238E27FC236}">
                <a16:creationId xmlns:a16="http://schemas.microsoft.com/office/drawing/2014/main" id="{FCD2CC6C-A4F0-4BC1-AA89-C5EF4906FE9F}"/>
              </a:ext>
            </a:extLst>
          </p:cNvPr>
          <p:cNvSpPr>
            <a:spLocks xmlns:a="http://schemas.openxmlformats.org/drawingml/2006/main" noGrp="1"/>
          </p:cNvSpPr>
          <p:nvPr/>
        </p:nvSpPr>
        <p:spPr>
          <a:xfrm xmlns:a="http://schemas.openxmlformats.org/drawingml/2006/main">
            <a:off x="1381125" y="4953000"/>
            <a:ext cx="952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62"/>
          </a:bodyPr>
          <a:lstStyle xmlns:a="http://schemas.openxmlformats.org/drawingml/2006/main"/>
          <a:p xmlns:a="http://schemas.openxmlformats.org/drawingml/2006/main">
            <a:pPr algn="ctr">
              <a:lnSpc>
                <a:spcPct val="112000"/>
              </a:lnSpc>
              <a:buNone/>
              <a:defRPr sz="1875" b="1">
                <a:solidFill>
                  <a:srgbClr val="111111"/>
                </a:solidFill>
                <a:latin typeface="PingFang SC"/>
                <a:ea typeface="PingFang SC"/>
                <a:cs typeface="PingFang SC"/>
              </a:defRPr>
            </a:pPr>
            <a:r>
              <a:rPr sz="1875" b="1">
                <a:solidFill>
                  <a:srgbClr val="111111"/>
                </a:solidFill>
                <a:latin typeface="PingFang SC"/>
                <a:ea typeface="PingFang SC"/>
                <a:cs typeface="PingFang SC"/>
              </a:rPr>
              <a:t>核心判断：`cmd/` 不是复杂逻辑归宿，而是把配置、运行时、领域包和 UI 组装成用户命令。</a:t>
            </a:r>
          </a:p>
        </p:txBody>
      </p:sp>
    </p:spTree>
    <p:extLst>
      <p:ext uri="{BB962C8B-B14F-4D97-AF65-F5344CB8AC3E}">
        <p14:creationId xmlns:p14="http://schemas.microsoft.com/office/powerpoint/2010/main" val="198756933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1F346FA0-09CF-4063-A88C-1ABF4E7EC8BB}"/>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runtime path</a:t>
            </a:r>
          </a:p>
        </p:txBody>
      </p:sp>
      <p:sp>
        <p:nvSpPr>
          <p:cNvPr id="2" name="title">
            <a:extLst xmlns:a="http://schemas.openxmlformats.org/drawingml/2006/main">
              <a:ext uri="{FF2B5EF4-FFF2-40B4-BE49-F238E27FC236}">
                <a16:creationId xmlns:a16="http://schemas.microsoft.com/office/drawing/2014/main" id="{983319FC-1D56-486B-BEC1-55DE7824C869}"/>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路径一：本地 Web UI</a:t>
            </a:r>
          </a:p>
        </p:txBody>
      </p:sp>
      <p:sp>
        <p:nvSpPr>
          <p:cNvPr id="3" name="subtitle">
            <a:extLst xmlns:a="http://schemas.openxmlformats.org/drawingml/2006/main">
              <a:ext uri="{FF2B5EF4-FFF2-40B4-BE49-F238E27FC236}">
                <a16:creationId xmlns:a16="http://schemas.microsoft.com/office/drawing/2014/main" id="{3E9157CC-04BA-4B3C-8FBA-DCA6BD286B6F}"/>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661"/>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适用于 markdown/json/conversation/skill，以及 formula dashboard 的浏览器界面。</a:t>
            </a:r>
          </a:p>
        </p:txBody>
      </p:sp>
      <p:sp>
        <p:nvSpPr>
          <p:cNvPr id="4" name="footer-left">
            <a:extLst xmlns:a="http://schemas.openxmlformats.org/drawingml/2006/main">
              <a:ext uri="{FF2B5EF4-FFF2-40B4-BE49-F238E27FC236}">
                <a16:creationId xmlns:a16="http://schemas.microsoft.com/office/drawing/2014/main" id="{BAF29480-13C7-46BB-96EF-A04D24EB3C32}"/>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6DC23FBA-2E71-437D-95A0-911241F2266B}"/>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07</a:t>
            </a:r>
          </a:p>
        </p:txBody>
      </p:sp>
      <p:sp>
        <p:nvSpPr>
          <p:cNvPr id="6" name="web-user-box">
            <a:extLst xmlns:a="http://schemas.openxmlformats.org/drawingml/2006/main">
              <a:ext uri="{FF2B5EF4-FFF2-40B4-BE49-F238E27FC236}">
                <a16:creationId xmlns:a16="http://schemas.microsoft.com/office/drawing/2014/main" id="{52787414-8955-49A8-A6E5-1EABA1BD3A8C}"/>
              </a:ext>
            </a:extLst>
          </p:cNvPr>
          <p:cNvSpPr>
            <a:spLocks xmlns:a="http://schemas.openxmlformats.org/drawingml/2006/main" noGrp="1"/>
          </p:cNvSpPr>
          <p:nvPr/>
        </p:nvSpPr>
        <p:spPr>
          <a:xfrm xmlns:a="http://schemas.openxmlformats.org/drawingml/2006/main">
            <a:off x="666750" y="2619375"/>
            <a:ext cx="20955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web-user-bar">
            <a:extLst xmlns:a="http://schemas.openxmlformats.org/drawingml/2006/main">
              <a:ext uri="{FF2B5EF4-FFF2-40B4-BE49-F238E27FC236}">
                <a16:creationId xmlns:a16="http://schemas.microsoft.com/office/drawing/2014/main" id="{F71E7825-3148-4134-9414-353784970011}"/>
              </a:ext>
            </a:extLst>
          </p:cNvPr>
          <p:cNvSpPr>
            <a:spLocks xmlns:a="http://schemas.openxmlformats.org/drawingml/2006/main" noGrp="1"/>
          </p:cNvSpPr>
          <p:nvPr/>
        </p:nvSpPr>
        <p:spPr>
          <a:xfrm xmlns:a="http://schemas.openxmlformats.org/drawingml/2006/main">
            <a:off x="666750" y="2619375"/>
            <a:ext cx="2095500"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web-user-label">
            <a:extLst xmlns:a="http://schemas.openxmlformats.org/drawingml/2006/main">
              <a:ext uri="{FF2B5EF4-FFF2-40B4-BE49-F238E27FC236}">
                <a16:creationId xmlns:a16="http://schemas.microsoft.com/office/drawing/2014/main" id="{11C513E6-8842-4F38-A900-168D4CC65E55}"/>
              </a:ext>
            </a:extLst>
          </p:cNvPr>
          <p:cNvSpPr>
            <a:spLocks xmlns:a="http://schemas.openxmlformats.org/drawingml/2006/main" noGrp="1"/>
          </p:cNvSpPr>
          <p:nvPr/>
        </p:nvSpPr>
        <p:spPr>
          <a:xfrm xmlns:a="http://schemas.openxmlformats.org/drawingml/2006/main">
            <a:off x="838200" y="2809875"/>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User</a:t>
            </a:r>
          </a:p>
        </p:txBody>
      </p:sp>
      <p:sp>
        <p:nvSpPr>
          <p:cNvPr id="9" name="web-user-body">
            <a:extLst xmlns:a="http://schemas.openxmlformats.org/drawingml/2006/main">
              <a:ext uri="{FF2B5EF4-FFF2-40B4-BE49-F238E27FC236}">
                <a16:creationId xmlns:a16="http://schemas.microsoft.com/office/drawing/2014/main" id="{F5670B5C-D220-4D9B-AFC6-B335EEAA3970}"/>
              </a:ext>
            </a:extLst>
          </p:cNvPr>
          <p:cNvSpPr>
            <a:spLocks xmlns:a="http://schemas.openxmlformats.org/drawingml/2006/main" noGrp="1"/>
          </p:cNvSpPr>
          <p:nvPr/>
        </p:nvSpPr>
        <p:spPr>
          <a:xfrm xmlns:a="http://schemas.openxmlformats.org/drawingml/2006/main">
            <a:off x="838200" y="3133725"/>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535"/>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`tt markdown`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`tt json`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`tt formula run --web`</a:t>
            </a:r>
          </a:p>
        </p:txBody>
      </p:sp>
      <p:sp>
        <p:nvSpPr>
          <p:cNvPr id="10" name="web-cmd-box">
            <a:extLst xmlns:a="http://schemas.openxmlformats.org/drawingml/2006/main">
              <a:ext uri="{FF2B5EF4-FFF2-40B4-BE49-F238E27FC236}">
                <a16:creationId xmlns:a16="http://schemas.microsoft.com/office/drawing/2014/main" id="{430B801B-F61D-4E2F-A564-9CCFB40E8216}"/>
              </a:ext>
            </a:extLst>
          </p:cNvPr>
          <p:cNvSpPr>
            <a:spLocks xmlns:a="http://schemas.openxmlformats.org/drawingml/2006/main" noGrp="1"/>
          </p:cNvSpPr>
          <p:nvPr/>
        </p:nvSpPr>
        <p:spPr>
          <a:xfrm xmlns:a="http://schemas.openxmlformats.org/drawingml/2006/main">
            <a:off x="3333750" y="2619375"/>
            <a:ext cx="2095500" cy="12382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1" name="web-cmd-bar">
            <a:extLst xmlns:a="http://schemas.openxmlformats.org/drawingml/2006/main">
              <a:ext uri="{FF2B5EF4-FFF2-40B4-BE49-F238E27FC236}">
                <a16:creationId xmlns:a16="http://schemas.microsoft.com/office/drawing/2014/main" id="{D2A598D8-2F72-4C64-A2A3-7F0AF15F93A4}"/>
              </a:ext>
            </a:extLst>
          </p:cNvPr>
          <p:cNvSpPr>
            <a:spLocks xmlns:a="http://schemas.openxmlformats.org/drawingml/2006/main" noGrp="1"/>
          </p:cNvSpPr>
          <p:nvPr/>
        </p:nvSpPr>
        <p:spPr>
          <a:xfrm xmlns:a="http://schemas.openxmlformats.org/drawingml/2006/main">
            <a:off x="3333750" y="2619375"/>
            <a:ext cx="2095500"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2" name="web-cmd-label">
            <a:extLst xmlns:a="http://schemas.openxmlformats.org/drawingml/2006/main">
              <a:ext uri="{FF2B5EF4-FFF2-40B4-BE49-F238E27FC236}">
                <a16:creationId xmlns:a16="http://schemas.microsoft.com/office/drawing/2014/main" id="{831E63E5-CBF8-4D9B-996F-779EA706AE97}"/>
              </a:ext>
            </a:extLst>
          </p:cNvPr>
          <p:cNvSpPr>
            <a:spLocks xmlns:a="http://schemas.openxmlformats.org/drawingml/2006/main" noGrp="1"/>
          </p:cNvSpPr>
          <p:nvPr/>
        </p:nvSpPr>
        <p:spPr>
          <a:xfrm xmlns:a="http://schemas.openxmlformats.org/drawingml/2006/main">
            <a:off x="3505200" y="2809875"/>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cmd/*.go</a:t>
            </a:r>
          </a:p>
        </p:txBody>
      </p:sp>
      <p:sp>
        <p:nvSpPr>
          <p:cNvPr id="13" name="web-cmd-body">
            <a:extLst xmlns:a="http://schemas.openxmlformats.org/drawingml/2006/main">
              <a:ext uri="{FF2B5EF4-FFF2-40B4-BE49-F238E27FC236}">
                <a16:creationId xmlns:a16="http://schemas.microsoft.com/office/drawing/2014/main" id="{E234A232-2464-4530-A850-9ADE19CF1A1A}"/>
              </a:ext>
            </a:extLst>
          </p:cNvPr>
          <p:cNvSpPr>
            <a:spLocks xmlns:a="http://schemas.openxmlformats.org/drawingml/2006/main" noGrp="1"/>
          </p:cNvSpPr>
          <p:nvPr/>
        </p:nvSpPr>
        <p:spPr>
          <a:xfrm xmlns:a="http://schemas.openxmlformats.org/drawingml/2006/main">
            <a:off x="3505200" y="3133725"/>
            <a:ext cx="17526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897"/>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解析路径、端口、pattern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注册 HTTP 路由</a:t>
            </a:r>
          </a:p>
        </p:txBody>
      </p:sp>
      <p:sp>
        <p:nvSpPr>
          <p:cNvPr id="14" name="web-go-box">
            <a:extLst xmlns:a="http://schemas.openxmlformats.org/drawingml/2006/main">
              <a:ext uri="{FF2B5EF4-FFF2-40B4-BE49-F238E27FC236}">
                <a16:creationId xmlns:a16="http://schemas.microsoft.com/office/drawing/2014/main" id="{C4D6DE75-73A4-4525-85B0-7B0764235DBA}"/>
              </a:ext>
            </a:extLst>
          </p:cNvPr>
          <p:cNvSpPr>
            <a:spLocks xmlns:a="http://schemas.openxmlformats.org/drawingml/2006/main" noGrp="1"/>
          </p:cNvSpPr>
          <p:nvPr/>
        </p:nvSpPr>
        <p:spPr>
          <a:xfrm xmlns:a="http://schemas.openxmlformats.org/drawingml/2006/main">
            <a:off x="6000750" y="2619375"/>
            <a:ext cx="2190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web-go-bar">
            <a:extLst xmlns:a="http://schemas.openxmlformats.org/drawingml/2006/main">
              <a:ext uri="{FF2B5EF4-FFF2-40B4-BE49-F238E27FC236}">
                <a16:creationId xmlns:a16="http://schemas.microsoft.com/office/drawing/2014/main" id="{D5FC491A-7B2E-404E-9558-FBC66C564FA3}"/>
              </a:ext>
            </a:extLst>
          </p:cNvPr>
          <p:cNvSpPr>
            <a:spLocks xmlns:a="http://schemas.openxmlformats.org/drawingml/2006/main" noGrp="1"/>
          </p:cNvSpPr>
          <p:nvPr/>
        </p:nvSpPr>
        <p:spPr>
          <a:xfrm xmlns:a="http://schemas.openxmlformats.org/drawingml/2006/main">
            <a:off x="6000750" y="2619375"/>
            <a:ext cx="2190750"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6" name="web-go-label">
            <a:extLst xmlns:a="http://schemas.openxmlformats.org/drawingml/2006/main">
              <a:ext uri="{FF2B5EF4-FFF2-40B4-BE49-F238E27FC236}">
                <a16:creationId xmlns:a16="http://schemas.microsoft.com/office/drawing/2014/main" id="{5CCE0BE4-7449-4DF4-B74B-F946610EC075}"/>
              </a:ext>
            </a:extLst>
          </p:cNvPr>
          <p:cNvSpPr>
            <a:spLocks xmlns:a="http://schemas.openxmlformats.org/drawingml/2006/main" noGrp="1"/>
          </p:cNvSpPr>
          <p:nvPr/>
        </p:nvSpPr>
        <p:spPr>
          <a:xfrm xmlns:a="http://schemas.openxmlformats.org/drawingml/2006/main">
            <a:off x="6172200" y="2809875"/>
            <a:ext cx="1847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Go HTTP APIs</a:t>
            </a:r>
          </a:p>
        </p:txBody>
      </p:sp>
      <p:sp>
        <p:nvSpPr>
          <p:cNvPr id="17" name="web-go-body">
            <a:extLst xmlns:a="http://schemas.openxmlformats.org/drawingml/2006/main">
              <a:ext uri="{FF2B5EF4-FFF2-40B4-BE49-F238E27FC236}">
                <a16:creationId xmlns:a16="http://schemas.microsoft.com/office/drawing/2014/main" id="{02E8374D-2DCB-4231-BA87-4586857BD715}"/>
              </a:ext>
            </a:extLst>
          </p:cNvPr>
          <p:cNvSpPr>
            <a:spLocks xmlns:a="http://schemas.openxmlformats.org/drawingml/2006/main" noGrp="1"/>
          </p:cNvSpPr>
          <p:nvPr/>
        </p:nvSpPr>
        <p:spPr>
          <a:xfrm xmlns:a="http://schemas.openxmlformats.org/drawingml/2006/main">
            <a:off x="6172200" y="3133725"/>
            <a:ext cx="1847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535"/>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文件读写</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状态查询</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WebSocket updates</a:t>
            </a:r>
          </a:p>
        </p:txBody>
      </p:sp>
      <p:sp>
        <p:nvSpPr>
          <p:cNvPr id="18" name="web-ui-box">
            <a:extLst xmlns:a="http://schemas.openxmlformats.org/drawingml/2006/main">
              <a:ext uri="{FF2B5EF4-FFF2-40B4-BE49-F238E27FC236}">
                <a16:creationId xmlns:a16="http://schemas.microsoft.com/office/drawing/2014/main" id="{C7465549-060F-4E87-8FC4-86C08E03AEE9}"/>
              </a:ext>
            </a:extLst>
          </p:cNvPr>
          <p:cNvSpPr>
            <a:spLocks xmlns:a="http://schemas.openxmlformats.org/drawingml/2006/main" noGrp="1"/>
          </p:cNvSpPr>
          <p:nvPr/>
        </p:nvSpPr>
        <p:spPr>
          <a:xfrm xmlns:a="http://schemas.openxmlformats.org/drawingml/2006/main">
            <a:off x="8858250" y="2619375"/>
            <a:ext cx="2286000" cy="12382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9" name="web-ui-bar">
            <a:extLst xmlns:a="http://schemas.openxmlformats.org/drawingml/2006/main">
              <a:ext uri="{FF2B5EF4-FFF2-40B4-BE49-F238E27FC236}">
                <a16:creationId xmlns:a16="http://schemas.microsoft.com/office/drawing/2014/main" id="{D25FE005-027F-4957-B581-01E373C211D5}"/>
              </a:ext>
            </a:extLst>
          </p:cNvPr>
          <p:cNvSpPr>
            <a:spLocks xmlns:a="http://schemas.openxmlformats.org/drawingml/2006/main" noGrp="1"/>
          </p:cNvSpPr>
          <p:nvPr/>
        </p:nvSpPr>
        <p:spPr>
          <a:xfrm xmlns:a="http://schemas.openxmlformats.org/drawingml/2006/main">
            <a:off x="8858250" y="2619375"/>
            <a:ext cx="2286000" cy="57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0" name="web-ui-label">
            <a:extLst xmlns:a="http://schemas.openxmlformats.org/drawingml/2006/main">
              <a:ext uri="{FF2B5EF4-FFF2-40B4-BE49-F238E27FC236}">
                <a16:creationId xmlns:a16="http://schemas.microsoft.com/office/drawing/2014/main" id="{6FFFF87B-79C6-4C8E-ABDA-F61766C78113}"/>
              </a:ext>
            </a:extLst>
          </p:cNvPr>
          <p:cNvSpPr>
            <a:spLocks xmlns:a="http://schemas.openxmlformats.org/drawingml/2006/main" noGrp="1"/>
          </p:cNvSpPr>
          <p:nvPr/>
        </p:nvSpPr>
        <p:spPr>
          <a:xfrm xmlns:a="http://schemas.openxmlformats.org/drawingml/2006/main">
            <a:off x="9029700" y="280987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Embedded UI</a:t>
            </a:r>
          </a:p>
        </p:txBody>
      </p:sp>
      <p:sp>
        <p:nvSpPr>
          <p:cNvPr id="21" name="web-ui-body">
            <a:extLst xmlns:a="http://schemas.openxmlformats.org/drawingml/2006/main">
              <a:ext uri="{FF2B5EF4-FFF2-40B4-BE49-F238E27FC236}">
                <a16:creationId xmlns:a16="http://schemas.microsoft.com/office/drawing/2014/main" id="{B7F75F67-4DA8-4221-B9E2-D05FF6D92C6A}"/>
              </a:ext>
            </a:extLst>
          </p:cNvPr>
          <p:cNvSpPr>
            <a:spLocks xmlns:a="http://schemas.openxmlformats.org/drawingml/2006/main" noGrp="1"/>
          </p:cNvSpPr>
          <p:nvPr/>
        </p:nvSpPr>
        <p:spPr>
          <a:xfrm xmlns:a="http://schemas.openxmlformats.org/drawingml/2006/main">
            <a:off x="9029700" y="3133725"/>
            <a:ext cx="1943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556"/>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React/Vite build artifacts</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通过 embed 打包</a:t>
            </a:r>
          </a:p>
        </p:txBody>
      </p:sp>
      <p:cxnSp>
        <p:nvCxnSpPr>
          <p:cNvPr id="47" name=""/>
          <p:cNvCxnSpPr>
            <a:stCxn xmlns:a="http://schemas.openxmlformats.org/drawingml/2006/main" id="6" idx="3"/>
            <a:endCxn xmlns:a="http://schemas.openxmlformats.org/drawingml/2006/main" id="10" idx="1"/>
          </p:cNvCxnSpPr>
          <p:nvPr/>
        </p:nvCxnSpPr>
        <p:spPr>
          <a:xfrm xmlns:a="http://schemas.openxmlformats.org/drawingml/2006/main">
            <a:off x="2762250" y="3238500"/>
            <a:ext cx="57150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cxnSp>
        <p:nvCxnSpPr>
          <p:cNvPr id="48" name=""/>
          <p:cNvCxnSpPr>
            <a:stCxn xmlns:a="http://schemas.openxmlformats.org/drawingml/2006/main" id="10" idx="3"/>
            <a:endCxn xmlns:a="http://schemas.openxmlformats.org/drawingml/2006/main" id="14" idx="1"/>
          </p:cNvCxnSpPr>
          <p:nvPr/>
        </p:nvCxnSpPr>
        <p:spPr>
          <a:xfrm xmlns:a="http://schemas.openxmlformats.org/drawingml/2006/main">
            <a:off x="5429250" y="3238500"/>
            <a:ext cx="57150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cxnSp>
        <p:nvCxnSpPr>
          <p:cNvPr id="49" name=""/>
          <p:cNvCxnSpPr>
            <a:stCxn xmlns:a="http://schemas.openxmlformats.org/drawingml/2006/main" id="14" idx="3"/>
            <a:endCxn xmlns:a="http://schemas.openxmlformats.org/drawingml/2006/main" id="18" idx="1"/>
          </p:cNvCxnSpPr>
          <p:nvPr/>
        </p:nvCxnSpPr>
        <p:spPr>
          <a:xfrm xmlns:a="http://schemas.openxmlformats.org/drawingml/2006/main">
            <a:off x="8191500" y="3238500"/>
            <a:ext cx="66675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25" name="web-points">
            <a:extLst xmlns:a="http://schemas.openxmlformats.org/drawingml/2006/main">
              <a:ext uri="{FF2B5EF4-FFF2-40B4-BE49-F238E27FC236}">
                <a16:creationId xmlns:a16="http://schemas.microsoft.com/office/drawing/2014/main" id="{D525202C-99CD-431F-96DB-151DD5431715}"/>
              </a:ext>
            </a:extLst>
          </p:cNvPr>
          <p:cNvSpPr>
            <a:spLocks xmlns:a="http://schemas.openxmlformats.org/drawingml/2006/main" noGrp="1"/>
          </p:cNvSpPr>
          <p:nvPr/>
        </p:nvSpPr>
        <p:spPr>
          <a:xfrm xmlns:a="http://schemas.openxmlformats.org/drawingml/2006/main">
            <a:off x="1238250" y="4619625"/>
            <a:ext cx="9525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边界：</a:t>
            </a:r>
            <a:r>
              <a:rPr sz="1650">
                <a:solidFill>
                  <a:srgbClr val="111111"/>
                </a:solidFill>
                <a:latin typeface="PingFang SC"/>
                <a:ea typeface="PingFang SC"/>
                <a:cs typeface="PingFang SC"/>
              </a:rPr>
              <a:t>Go 管本地文件和 API；前端管交互体验。</a:t>
            </a:r>
          </a:p>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优势：</a:t>
            </a:r>
            <a:r>
              <a:rPr sz="1650">
                <a:solidFill>
                  <a:srgbClr val="111111"/>
                </a:solidFill>
                <a:latin typeface="PingFang SC"/>
                <a:ea typeface="PingFang SC"/>
                <a:cs typeface="PingFang SC"/>
              </a:rPr>
              <a:t>二进制可携带 UI，不要求使用者启动单独前端服务。</a:t>
            </a:r>
          </a:p>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典型 demo：</a:t>
            </a:r>
            <a:r>
              <a:rPr sz="1650">
                <a:solidFill>
                  <a:srgbClr val="111111"/>
                </a:solidFill>
                <a:latin typeface="PingFang SC"/>
                <a:ea typeface="PingFang SC"/>
                <a:cs typeface="PingFang SC"/>
              </a:rPr>
              <a:t>`tt markdown README.md` 或 `tt formula run open latest`。</a:t>
            </a:r>
          </a:p>
        </p:txBody>
      </p:sp>
    </p:spTree>
    <p:extLst>
      <p:ext uri="{BB962C8B-B14F-4D97-AF65-F5344CB8AC3E}">
        <p14:creationId xmlns:p14="http://schemas.microsoft.com/office/powerpoint/2010/main" val="65538646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01C97534-6B6D-49CA-BA4A-C8D50EDEF6BF}"/>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runtime path</a:t>
            </a:r>
          </a:p>
        </p:txBody>
      </p:sp>
      <p:sp>
        <p:nvSpPr>
          <p:cNvPr id="2" name="title">
            <a:extLst xmlns:a="http://schemas.openxmlformats.org/drawingml/2006/main">
              <a:ext uri="{FF2B5EF4-FFF2-40B4-BE49-F238E27FC236}">
                <a16:creationId xmlns:a16="http://schemas.microsoft.com/office/drawing/2014/main" id="{9091BDB1-AA04-437B-BB93-AC87B626410E}"/>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路径二：Picoclaw 嵌入</a:t>
            </a:r>
          </a:p>
        </p:txBody>
      </p:sp>
      <p:sp>
        <p:nvSpPr>
          <p:cNvPr id="3" name="subtitle">
            <a:extLst xmlns:a="http://schemas.openxmlformats.org/drawingml/2006/main">
              <a:ext uri="{FF2B5EF4-FFF2-40B4-BE49-F238E27FC236}">
                <a16:creationId xmlns:a16="http://schemas.microsoft.com/office/drawing/2014/main" id="{D69F47CF-F810-4991-8CC8-136B18FE0FC6}"/>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`tt` 不重写 agent runtime，而是把 Picoclaw 作为底层引擎在同进程内复用。</a:t>
            </a:r>
          </a:p>
        </p:txBody>
      </p:sp>
      <p:sp>
        <p:nvSpPr>
          <p:cNvPr id="4" name="footer-left">
            <a:extLst xmlns:a="http://schemas.openxmlformats.org/drawingml/2006/main">
              <a:ext uri="{FF2B5EF4-FFF2-40B4-BE49-F238E27FC236}">
                <a16:creationId xmlns:a16="http://schemas.microsoft.com/office/drawing/2014/main" id="{D821FB77-8758-4D7C-81E7-0A7081EE3B6E}"/>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CF01DFB7-31CB-4BCD-990F-AFA41F9582C5}"/>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08</a:t>
            </a:r>
          </a:p>
        </p:txBody>
      </p:sp>
      <p:sp>
        <p:nvSpPr>
          <p:cNvPr id="6" name="pc-0-box">
            <a:extLst xmlns:a="http://schemas.openxmlformats.org/drawingml/2006/main">
              <a:ext uri="{FF2B5EF4-FFF2-40B4-BE49-F238E27FC236}">
                <a16:creationId xmlns:a16="http://schemas.microsoft.com/office/drawing/2014/main" id="{229A6B5A-423A-4EAA-9129-397EDFCD6266}"/>
              </a:ext>
            </a:extLst>
          </p:cNvPr>
          <p:cNvSpPr>
            <a:spLocks xmlns:a="http://schemas.openxmlformats.org/drawingml/2006/main" noGrp="1"/>
          </p:cNvSpPr>
          <p:nvPr/>
        </p:nvSpPr>
        <p:spPr>
          <a:xfrm xmlns:a="http://schemas.openxmlformats.org/drawingml/2006/main">
            <a:off x="781050" y="2476500"/>
            <a:ext cx="2238375" cy="1666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pc-0-bar">
            <a:extLst xmlns:a="http://schemas.openxmlformats.org/drawingml/2006/main">
              <a:ext uri="{FF2B5EF4-FFF2-40B4-BE49-F238E27FC236}">
                <a16:creationId xmlns:a16="http://schemas.microsoft.com/office/drawing/2014/main" id="{6AD4E7D6-116A-476E-858D-AC84AD4A50ED}"/>
              </a:ext>
            </a:extLst>
          </p:cNvPr>
          <p:cNvSpPr>
            <a:spLocks xmlns:a="http://schemas.openxmlformats.org/drawingml/2006/main" noGrp="1"/>
          </p:cNvSpPr>
          <p:nvPr/>
        </p:nvSpPr>
        <p:spPr>
          <a:xfrm xmlns:a="http://schemas.openxmlformats.org/drawingml/2006/main">
            <a:off x="781050" y="2476500"/>
            <a:ext cx="2238375"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pc-0-label">
            <a:extLst xmlns:a="http://schemas.openxmlformats.org/drawingml/2006/main">
              <a:ext uri="{FF2B5EF4-FFF2-40B4-BE49-F238E27FC236}">
                <a16:creationId xmlns:a16="http://schemas.microsoft.com/office/drawing/2014/main" id="{44741D0F-BDD7-4A69-84F7-73F7C4F19CAE}"/>
              </a:ext>
            </a:extLst>
          </p:cNvPr>
          <p:cNvSpPr>
            <a:spLocks xmlns:a="http://schemas.openxmlformats.org/drawingml/2006/main" noGrp="1"/>
          </p:cNvSpPr>
          <p:nvPr/>
        </p:nvSpPr>
        <p:spPr>
          <a:xfrm xmlns:a="http://schemas.openxmlformats.org/drawingml/2006/main">
            <a:off x="952500" y="2667000"/>
            <a:ext cx="1895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配置合并</a:t>
            </a:r>
          </a:p>
        </p:txBody>
      </p:sp>
      <p:sp>
        <p:nvSpPr>
          <p:cNvPr id="9" name="pc-0-body">
            <a:extLst xmlns:a="http://schemas.openxmlformats.org/drawingml/2006/main">
              <a:ext uri="{FF2B5EF4-FFF2-40B4-BE49-F238E27FC236}">
                <a16:creationId xmlns:a16="http://schemas.microsoft.com/office/drawing/2014/main" id="{9BFC5916-6B40-4907-B989-58D00459762A}"/>
              </a:ext>
            </a:extLst>
          </p:cNvPr>
          <p:cNvSpPr>
            <a:spLocks xmlns:a="http://schemas.openxmlformats.org/drawingml/2006/main" noGrp="1"/>
          </p:cNvSpPr>
          <p:nvPr/>
        </p:nvSpPr>
        <p:spPr>
          <a:xfrm xmlns:a="http://schemas.openxmlformats.org/drawingml/2006/main">
            <a:off x="952500" y="2990850"/>
            <a:ext cx="1895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global ~/.tt/config.json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project .tt/config.json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CLI flags override</a:t>
            </a:r>
          </a:p>
        </p:txBody>
      </p:sp>
      <p:sp>
        <p:nvSpPr>
          <p:cNvPr id="10" name="pc-1-box">
            <a:extLst xmlns:a="http://schemas.openxmlformats.org/drawingml/2006/main">
              <a:ext uri="{FF2B5EF4-FFF2-40B4-BE49-F238E27FC236}">
                <a16:creationId xmlns:a16="http://schemas.microsoft.com/office/drawing/2014/main" id="{E86E5D02-0B75-4BE5-9D7F-CD0910ADE3DA}"/>
              </a:ext>
            </a:extLst>
          </p:cNvPr>
          <p:cNvSpPr>
            <a:spLocks xmlns:a="http://schemas.openxmlformats.org/drawingml/2006/main" noGrp="1"/>
          </p:cNvSpPr>
          <p:nvPr/>
        </p:nvSpPr>
        <p:spPr>
          <a:xfrm xmlns:a="http://schemas.openxmlformats.org/drawingml/2006/main">
            <a:off x="3590925" y="2476500"/>
            <a:ext cx="2238375" cy="1666875"/>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1" name="pc-1-bar">
            <a:extLst xmlns:a="http://schemas.openxmlformats.org/drawingml/2006/main">
              <a:ext uri="{FF2B5EF4-FFF2-40B4-BE49-F238E27FC236}">
                <a16:creationId xmlns:a16="http://schemas.microsoft.com/office/drawing/2014/main" id="{60C2D243-981B-41F2-AAB9-E4FC59E2EC17}"/>
              </a:ext>
            </a:extLst>
          </p:cNvPr>
          <p:cNvSpPr>
            <a:spLocks xmlns:a="http://schemas.openxmlformats.org/drawingml/2006/main" noGrp="1"/>
          </p:cNvSpPr>
          <p:nvPr/>
        </p:nvSpPr>
        <p:spPr>
          <a:xfrm xmlns:a="http://schemas.openxmlformats.org/drawingml/2006/main">
            <a:off x="3590925" y="2476500"/>
            <a:ext cx="2238375" cy="57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2" name="pc-1-label">
            <a:extLst xmlns:a="http://schemas.openxmlformats.org/drawingml/2006/main">
              <a:ext uri="{FF2B5EF4-FFF2-40B4-BE49-F238E27FC236}">
                <a16:creationId xmlns:a16="http://schemas.microsoft.com/office/drawing/2014/main" id="{5D9CBBF2-1D61-4C2C-8779-4C5AD0222BA6}"/>
              </a:ext>
            </a:extLst>
          </p:cNvPr>
          <p:cNvSpPr>
            <a:spLocks xmlns:a="http://schemas.openxmlformats.org/drawingml/2006/main" noGrp="1"/>
          </p:cNvSpPr>
          <p:nvPr/>
        </p:nvSpPr>
        <p:spPr>
          <a:xfrm xmlns:a="http://schemas.openxmlformats.org/drawingml/2006/main">
            <a:off x="3762375" y="2667000"/>
            <a:ext cx="1895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Runtime load</a:t>
            </a:r>
          </a:p>
        </p:txBody>
      </p:sp>
      <p:sp>
        <p:nvSpPr>
          <p:cNvPr id="13" name="pc-1-body">
            <a:extLst xmlns:a="http://schemas.openxmlformats.org/drawingml/2006/main">
              <a:ext uri="{FF2B5EF4-FFF2-40B4-BE49-F238E27FC236}">
                <a16:creationId xmlns:a16="http://schemas.microsoft.com/office/drawing/2014/main" id="{EDD5F39A-A331-473E-B722-EED651DD18BD}"/>
              </a:ext>
            </a:extLst>
          </p:cNvPr>
          <p:cNvSpPr>
            <a:spLocks xmlns:a="http://schemas.openxmlformats.org/drawingml/2006/main" noGrp="1"/>
          </p:cNvSpPr>
          <p:nvPr/>
        </p:nvSpPr>
        <p:spPr>
          <a:xfrm xmlns:a="http://schemas.openxmlformats.org/drawingml/2006/main">
            <a:off x="3762375" y="2990850"/>
            <a:ext cx="1895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home/config paths</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skills + provider</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runtime summary</a:t>
            </a:r>
          </a:p>
        </p:txBody>
      </p:sp>
      <p:cxnSp>
        <p:nvCxnSpPr>
          <p:cNvPr id="42" name=""/>
          <p:cNvCxnSpPr>
            <a:stCxn xmlns:a="http://schemas.openxmlformats.org/drawingml/2006/main" id="6" idx="3"/>
            <a:endCxn xmlns:a="http://schemas.openxmlformats.org/drawingml/2006/main" id="10" idx="1"/>
          </p:cNvCxnSpPr>
          <p:nvPr/>
        </p:nvCxnSpPr>
        <p:spPr>
          <a:xfrm xmlns:a="http://schemas.openxmlformats.org/drawingml/2006/main">
            <a:off x="3019425" y="3309938"/>
            <a:ext cx="57150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15" name="pc-2-box">
            <a:extLst xmlns:a="http://schemas.openxmlformats.org/drawingml/2006/main">
              <a:ext uri="{FF2B5EF4-FFF2-40B4-BE49-F238E27FC236}">
                <a16:creationId xmlns:a16="http://schemas.microsoft.com/office/drawing/2014/main" id="{54C65BE0-DA52-436E-BC5D-584F4212BA8D}"/>
              </a:ext>
            </a:extLst>
          </p:cNvPr>
          <p:cNvSpPr>
            <a:spLocks xmlns:a="http://schemas.openxmlformats.org/drawingml/2006/main" noGrp="1"/>
          </p:cNvSpPr>
          <p:nvPr/>
        </p:nvSpPr>
        <p:spPr>
          <a:xfrm xmlns:a="http://schemas.openxmlformats.org/drawingml/2006/main">
            <a:off x="6400800" y="2476500"/>
            <a:ext cx="2238375" cy="16668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pc-2-bar">
            <a:extLst xmlns:a="http://schemas.openxmlformats.org/drawingml/2006/main">
              <a:ext uri="{FF2B5EF4-FFF2-40B4-BE49-F238E27FC236}">
                <a16:creationId xmlns:a16="http://schemas.microsoft.com/office/drawing/2014/main" id="{76A15CDF-3422-4C7D-9C78-3BDCB5A97D2C}"/>
              </a:ext>
            </a:extLst>
          </p:cNvPr>
          <p:cNvSpPr>
            <a:spLocks xmlns:a="http://schemas.openxmlformats.org/drawingml/2006/main" noGrp="1"/>
          </p:cNvSpPr>
          <p:nvPr/>
        </p:nvSpPr>
        <p:spPr>
          <a:xfrm xmlns:a="http://schemas.openxmlformats.org/drawingml/2006/main">
            <a:off x="6400800" y="2476500"/>
            <a:ext cx="2238375"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7" name="pc-2-label">
            <a:extLst xmlns:a="http://schemas.openxmlformats.org/drawingml/2006/main">
              <a:ext uri="{FF2B5EF4-FFF2-40B4-BE49-F238E27FC236}">
                <a16:creationId xmlns:a16="http://schemas.microsoft.com/office/drawing/2014/main" id="{72C97EDB-8452-4069-B479-A0901270320B}"/>
              </a:ext>
            </a:extLst>
          </p:cNvPr>
          <p:cNvSpPr>
            <a:spLocks xmlns:a="http://schemas.openxmlformats.org/drawingml/2006/main" noGrp="1"/>
          </p:cNvSpPr>
          <p:nvPr/>
        </p:nvSpPr>
        <p:spPr>
          <a:xfrm xmlns:a="http://schemas.openxmlformats.org/drawingml/2006/main">
            <a:off x="6572250" y="2667000"/>
            <a:ext cx="1895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Embedded agents</a:t>
            </a:r>
          </a:p>
        </p:txBody>
      </p:sp>
      <p:sp>
        <p:nvSpPr>
          <p:cNvPr id="18" name="pc-2-body">
            <a:extLst xmlns:a="http://schemas.openxmlformats.org/drawingml/2006/main">
              <a:ext uri="{FF2B5EF4-FFF2-40B4-BE49-F238E27FC236}">
                <a16:creationId xmlns:a16="http://schemas.microsoft.com/office/drawing/2014/main" id="{A9B6237D-C002-4A41-ADF2-02314A5A2DAC}"/>
              </a:ext>
            </a:extLst>
          </p:cNvPr>
          <p:cNvSpPr>
            <a:spLocks xmlns:a="http://schemas.openxmlformats.org/drawingml/2006/main" noGrp="1"/>
          </p:cNvSpPr>
          <p:nvPr/>
        </p:nvSpPr>
        <p:spPr>
          <a:xfrm xmlns:a="http://schemas.openxmlformats.org/drawingml/2006/main">
            <a:off x="6572250" y="2990850"/>
            <a:ext cx="1895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embedded agent MD</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registered prompts</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Picoclaw loop</a:t>
            </a:r>
          </a:p>
        </p:txBody>
      </p:sp>
      <p:cxnSp>
        <p:nvCxnSpPr>
          <p:cNvPr id="47" name=""/>
          <p:cNvCxnSpPr>
            <a:stCxn xmlns:a="http://schemas.openxmlformats.org/drawingml/2006/main" id="10" idx="3"/>
            <a:endCxn xmlns:a="http://schemas.openxmlformats.org/drawingml/2006/main" id="15" idx="1"/>
          </p:cNvCxnSpPr>
          <p:nvPr/>
        </p:nvCxnSpPr>
        <p:spPr>
          <a:xfrm xmlns:a="http://schemas.openxmlformats.org/drawingml/2006/main">
            <a:off x="5829300" y="3309938"/>
            <a:ext cx="57150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20" name="pc-3-box">
            <a:extLst xmlns:a="http://schemas.openxmlformats.org/drawingml/2006/main">
              <a:ext uri="{FF2B5EF4-FFF2-40B4-BE49-F238E27FC236}">
                <a16:creationId xmlns:a16="http://schemas.microsoft.com/office/drawing/2014/main" id="{26CAA06F-7311-471D-9697-06A4638703CC}"/>
              </a:ext>
            </a:extLst>
          </p:cNvPr>
          <p:cNvSpPr>
            <a:spLocks xmlns:a="http://schemas.openxmlformats.org/drawingml/2006/main" noGrp="1"/>
          </p:cNvSpPr>
          <p:nvPr/>
        </p:nvSpPr>
        <p:spPr>
          <a:xfrm xmlns:a="http://schemas.openxmlformats.org/drawingml/2006/main">
            <a:off x="9210675" y="2476500"/>
            <a:ext cx="2238375" cy="1666875"/>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21" name="pc-3-bar">
            <a:extLst xmlns:a="http://schemas.openxmlformats.org/drawingml/2006/main">
              <a:ext uri="{FF2B5EF4-FFF2-40B4-BE49-F238E27FC236}">
                <a16:creationId xmlns:a16="http://schemas.microsoft.com/office/drawing/2014/main" id="{94AE5062-41EB-4835-9EEA-98D56C86DF21}"/>
              </a:ext>
            </a:extLst>
          </p:cNvPr>
          <p:cNvSpPr>
            <a:spLocks xmlns:a="http://schemas.openxmlformats.org/drawingml/2006/main" noGrp="1"/>
          </p:cNvSpPr>
          <p:nvPr/>
        </p:nvSpPr>
        <p:spPr>
          <a:xfrm xmlns:a="http://schemas.openxmlformats.org/drawingml/2006/main">
            <a:off x="9210675" y="2476500"/>
            <a:ext cx="2238375" cy="57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22" name="pc-3-label">
            <a:extLst xmlns:a="http://schemas.openxmlformats.org/drawingml/2006/main">
              <a:ext uri="{FF2B5EF4-FFF2-40B4-BE49-F238E27FC236}">
                <a16:creationId xmlns:a16="http://schemas.microsoft.com/office/drawing/2014/main" id="{DBBB90CA-C880-4C10-985F-63FDEE80E2D1}"/>
              </a:ext>
            </a:extLst>
          </p:cNvPr>
          <p:cNvSpPr>
            <a:spLocks xmlns:a="http://schemas.openxmlformats.org/drawingml/2006/main" noGrp="1"/>
          </p:cNvSpPr>
          <p:nvPr/>
        </p:nvSpPr>
        <p:spPr>
          <a:xfrm xmlns:a="http://schemas.openxmlformats.org/drawingml/2006/main">
            <a:off x="9382125" y="2667000"/>
            <a:ext cx="18954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DirectRunner</a:t>
            </a:r>
          </a:p>
        </p:txBody>
      </p:sp>
      <p:sp>
        <p:nvSpPr>
          <p:cNvPr id="23" name="pc-3-body">
            <a:extLst xmlns:a="http://schemas.openxmlformats.org/drawingml/2006/main">
              <a:ext uri="{FF2B5EF4-FFF2-40B4-BE49-F238E27FC236}">
                <a16:creationId xmlns:a16="http://schemas.microsoft.com/office/drawing/2014/main" id="{AD6DC941-C457-4E85-968E-710DEDE38B72}"/>
              </a:ext>
            </a:extLst>
          </p:cNvPr>
          <p:cNvSpPr>
            <a:spLocks xmlns:a="http://schemas.openxmlformats.org/drawingml/2006/main" noGrp="1"/>
          </p:cNvSpPr>
          <p:nvPr/>
        </p:nvSpPr>
        <p:spPr>
          <a:xfrm xmlns:a="http://schemas.openxmlformats.org/drawingml/2006/main">
            <a:off x="9382125" y="2990850"/>
            <a:ext cx="18954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agent/session/model</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workspace scope</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ProcessDirect stream</a:t>
            </a:r>
          </a:p>
        </p:txBody>
      </p:sp>
      <p:cxnSp>
        <p:nvCxnSpPr>
          <p:cNvPr id="52" name=""/>
          <p:cNvCxnSpPr>
            <a:stCxn xmlns:a="http://schemas.openxmlformats.org/drawingml/2006/main" id="15" idx="3"/>
            <a:endCxn xmlns:a="http://schemas.openxmlformats.org/drawingml/2006/main" id="20" idx="1"/>
          </p:cNvCxnSpPr>
          <p:nvPr/>
        </p:nvCxnSpPr>
        <p:spPr>
          <a:xfrm xmlns:a="http://schemas.openxmlformats.org/drawingml/2006/main">
            <a:off x="8639175" y="3309938"/>
            <a:ext cx="571500"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25" name="pc-take-panel">
            <a:extLst xmlns:a="http://schemas.openxmlformats.org/drawingml/2006/main">
              <a:ext uri="{FF2B5EF4-FFF2-40B4-BE49-F238E27FC236}">
                <a16:creationId xmlns:a16="http://schemas.microsoft.com/office/drawing/2014/main" id="{900B9410-414B-4F5E-BDF1-75155DDFF024}"/>
              </a:ext>
            </a:extLst>
          </p:cNvPr>
          <p:cNvSpPr>
            <a:spLocks xmlns:a="http://schemas.openxmlformats.org/drawingml/2006/main" noGrp="1"/>
          </p:cNvSpPr>
          <p:nvPr/>
        </p:nvSpPr>
        <p:spPr>
          <a:xfrm xmlns:a="http://schemas.openxmlformats.org/drawingml/2006/main">
            <a:off x="1066800" y="4762500"/>
            <a:ext cx="10058400" cy="97155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26" name="pc-take-accent">
            <a:extLst xmlns:a="http://schemas.openxmlformats.org/drawingml/2006/main">
              <a:ext uri="{FF2B5EF4-FFF2-40B4-BE49-F238E27FC236}">
                <a16:creationId xmlns:a16="http://schemas.microsoft.com/office/drawing/2014/main" id="{F634B7E7-2811-4F8E-95F5-30C644853C75}"/>
              </a:ext>
            </a:extLst>
          </p:cNvPr>
          <p:cNvSpPr>
            <a:spLocks xmlns:a="http://schemas.openxmlformats.org/drawingml/2006/main" noGrp="1"/>
          </p:cNvSpPr>
          <p:nvPr/>
        </p:nvSpPr>
        <p:spPr>
          <a:xfrm xmlns:a="http://schemas.openxmlformats.org/drawingml/2006/main">
            <a:off x="1066800" y="4762500"/>
            <a:ext cx="66675" cy="9715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7" name="pc-take-label">
            <a:extLst xmlns:a="http://schemas.openxmlformats.org/drawingml/2006/main">
              <a:ext uri="{FF2B5EF4-FFF2-40B4-BE49-F238E27FC236}">
                <a16:creationId xmlns:a16="http://schemas.microsoft.com/office/drawing/2014/main" id="{2ED9055D-9AA6-4280-B23D-F52849ECDCDD}"/>
              </a:ext>
            </a:extLst>
          </p:cNvPr>
          <p:cNvSpPr>
            <a:spLocks xmlns:a="http://schemas.openxmlformats.org/drawingml/2006/main" noGrp="1"/>
          </p:cNvSpPr>
          <p:nvPr/>
        </p:nvSpPr>
        <p:spPr>
          <a:xfrm xmlns:a="http://schemas.openxmlformats.org/drawingml/2006/main">
            <a:off x="1276350" y="4972050"/>
            <a:ext cx="963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为什么这一层重要</a:t>
            </a:r>
          </a:p>
        </p:txBody>
      </p:sp>
      <p:sp>
        <p:nvSpPr>
          <p:cNvPr id="28" name="pc-take-body">
            <a:extLst xmlns:a="http://schemas.openxmlformats.org/drawingml/2006/main">
              <a:ext uri="{FF2B5EF4-FFF2-40B4-BE49-F238E27FC236}">
                <a16:creationId xmlns:a16="http://schemas.microsoft.com/office/drawing/2014/main" id="{8FB73183-2C85-467C-8C10-5C7090ADBA00}"/>
              </a:ext>
            </a:extLst>
          </p:cNvPr>
          <p:cNvSpPr>
            <a:spLocks xmlns:a="http://schemas.openxmlformats.org/drawingml/2006/main" noGrp="1"/>
          </p:cNvSpPr>
          <p:nvPr/>
        </p:nvSpPr>
        <p:spPr>
          <a:xfrm xmlns:a="http://schemas.openxmlformats.org/drawingml/2006/main">
            <a:off x="1276350" y="5391150"/>
            <a:ext cx="9639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3855"/>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同一个 Picoclaw 适配层被 `agent`、`translate`、`debate`、`nvwa`、`repo2skill`、`docs analyze` 和 formula agent steps 复用，减少各命令重复处理模型/agent/session 的成本。</a:t>
            </a:r>
          </a:p>
        </p:txBody>
      </p:sp>
    </p:spTree>
    <p:extLst>
      <p:ext uri="{BB962C8B-B14F-4D97-AF65-F5344CB8AC3E}">
        <p14:creationId xmlns:p14="http://schemas.microsoft.com/office/powerpoint/2010/main" val="3447952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E6C5D72E-AB6C-4123-9212-EA0A742ADBFE}"/>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formula</a:t>
            </a:r>
          </a:p>
        </p:txBody>
      </p:sp>
      <p:sp>
        <p:nvSpPr>
          <p:cNvPr id="2" name="title">
            <a:extLst xmlns:a="http://schemas.openxmlformats.org/drawingml/2006/main">
              <a:ext uri="{FF2B5EF4-FFF2-40B4-BE49-F238E27FC236}">
                <a16:creationId xmlns:a16="http://schemas.microsoft.com/office/drawing/2014/main" id="{1F1893FE-44ED-4BE1-995B-C30A15E0AED7}"/>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Formula 是项目最值得深挖的子系统</a:t>
            </a:r>
          </a:p>
        </p:txBody>
      </p:sp>
      <p:sp>
        <p:nvSpPr>
          <p:cNvPr id="3" name="subtitle">
            <a:extLst xmlns:a="http://schemas.openxmlformats.org/drawingml/2006/main">
              <a:ext uri="{FF2B5EF4-FFF2-40B4-BE49-F238E27FC236}">
                <a16:creationId xmlns:a16="http://schemas.microsoft.com/office/drawing/2014/main" id="{B6777E8F-AAA9-4972-98A2-37CA42E53D7E}"/>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551"/>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一句话：TOML 定义 + Workflow IR 编译 + Step 实现 + typed runtime + run store/dashboard。</a:t>
            </a:r>
          </a:p>
        </p:txBody>
      </p:sp>
      <p:sp>
        <p:nvSpPr>
          <p:cNvPr id="4" name="footer-left">
            <a:extLst xmlns:a="http://schemas.openxmlformats.org/drawingml/2006/main">
              <a:ext uri="{FF2B5EF4-FFF2-40B4-BE49-F238E27FC236}">
                <a16:creationId xmlns:a16="http://schemas.microsoft.com/office/drawing/2014/main" id="{39607E04-EF1F-4E4E-A62D-B5F0446CAD69}"/>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024CD5A7-74C9-4DD7-9AD6-BA25EC20371D}"/>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09</a:t>
            </a:r>
          </a:p>
        </p:txBody>
      </p:sp>
      <p:sp>
        <p:nvSpPr>
          <p:cNvPr id="6" name="formula-band">
            <a:extLst xmlns:a="http://schemas.openxmlformats.org/drawingml/2006/main">
              <a:ext uri="{FF2B5EF4-FFF2-40B4-BE49-F238E27FC236}">
                <a16:creationId xmlns:a16="http://schemas.microsoft.com/office/drawing/2014/main" id="{6E9A75A9-AF45-4FC7-85B5-B037C9A6027F}"/>
              </a:ext>
            </a:extLst>
          </p:cNvPr>
          <p:cNvSpPr>
            <a:spLocks xmlns:a="http://schemas.openxmlformats.org/drawingml/2006/main" noGrp="1"/>
          </p:cNvSpPr>
          <p:nvPr/>
        </p:nvSpPr>
        <p:spPr>
          <a:xfrm xmlns:a="http://schemas.openxmlformats.org/drawingml/2006/main">
            <a:off x="590550" y="2038350"/>
            <a:ext cx="10629900" cy="12001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 name="formula-equation">
            <a:extLst xmlns:a="http://schemas.openxmlformats.org/drawingml/2006/main">
              <a:ext uri="{FF2B5EF4-FFF2-40B4-BE49-F238E27FC236}">
                <a16:creationId xmlns:a16="http://schemas.microsoft.com/office/drawing/2014/main" id="{F2D400EC-0AC9-465F-A955-01FBCDB340C1}"/>
              </a:ext>
            </a:extLst>
          </p:cNvPr>
          <p:cNvSpPr>
            <a:spLocks xmlns:a="http://schemas.openxmlformats.org/drawingml/2006/main" noGrp="1"/>
          </p:cNvSpPr>
          <p:nvPr/>
        </p:nvSpPr>
        <p:spPr>
          <a:xfrm xmlns:a="http://schemas.openxmlformats.org/drawingml/2006/main">
            <a:off x="876300" y="2352675"/>
            <a:ext cx="10058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2925" b="1">
                <a:solidFill>
                  <a:srgbClr val="FFFFFF"/>
                </a:solidFill>
                <a:latin typeface="SF Mono"/>
                <a:ea typeface="SF Mono"/>
                <a:cs typeface="SF Mono"/>
              </a:defRPr>
            </a:pPr>
            <a:r>
              <a:rPr sz="2925" b="1">
                <a:solidFill>
                  <a:srgbClr val="FFFFFF"/>
                </a:solidFill>
                <a:latin typeface="SF Mono"/>
                <a:ea typeface="SF Mono"/>
                <a:cs typeface="SF Mono"/>
              </a:rPr>
              <a:t>Formula = repeatable work as inspectable recipes</a:t>
            </a:r>
          </a:p>
        </p:txBody>
      </p:sp>
      <p:sp>
        <p:nvSpPr>
          <p:cNvPr id="8" name="formula-col-0-panel">
            <a:extLst xmlns:a="http://schemas.openxmlformats.org/drawingml/2006/main">
              <a:ext uri="{FF2B5EF4-FFF2-40B4-BE49-F238E27FC236}">
                <a16:creationId xmlns:a16="http://schemas.microsoft.com/office/drawing/2014/main" id="{CC870D08-E4F6-440C-8450-B383DA1333FA}"/>
              </a:ext>
            </a:extLst>
          </p:cNvPr>
          <p:cNvSpPr>
            <a:spLocks xmlns:a="http://schemas.openxmlformats.org/drawingml/2006/main" noGrp="1"/>
          </p:cNvSpPr>
          <p:nvPr/>
        </p:nvSpPr>
        <p:spPr>
          <a:xfrm xmlns:a="http://schemas.openxmlformats.org/drawingml/2006/main">
            <a:off x="685800" y="3810000"/>
            <a:ext cx="2476500"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9" name="formula-col-0-accent">
            <a:extLst xmlns:a="http://schemas.openxmlformats.org/drawingml/2006/main">
              <a:ext uri="{FF2B5EF4-FFF2-40B4-BE49-F238E27FC236}">
                <a16:creationId xmlns:a16="http://schemas.microsoft.com/office/drawing/2014/main" id="{E5BBD40E-0302-4E9C-941A-FBCF540008FE}"/>
              </a:ext>
            </a:extLst>
          </p:cNvPr>
          <p:cNvSpPr>
            <a:spLocks xmlns:a="http://schemas.openxmlformats.org/drawingml/2006/main" noGrp="1"/>
          </p:cNvSpPr>
          <p:nvPr/>
        </p:nvSpPr>
        <p:spPr>
          <a:xfrm xmlns:a="http://schemas.openxmlformats.org/drawingml/2006/main">
            <a:off x="685800" y="3810000"/>
            <a:ext cx="66675" cy="1285875"/>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0" name="formula-col-0-label">
            <a:extLst xmlns:a="http://schemas.openxmlformats.org/drawingml/2006/main">
              <a:ext uri="{FF2B5EF4-FFF2-40B4-BE49-F238E27FC236}">
                <a16:creationId xmlns:a16="http://schemas.microsoft.com/office/drawing/2014/main" id="{9AD553B3-2FEA-4803-B505-D2BA06EE313A}"/>
              </a:ext>
            </a:extLst>
          </p:cNvPr>
          <p:cNvSpPr>
            <a:spLocks xmlns:a="http://schemas.openxmlformats.org/drawingml/2006/main" noGrp="1"/>
          </p:cNvSpPr>
          <p:nvPr/>
        </p:nvSpPr>
        <p:spPr>
          <a:xfrm xmlns:a="http://schemas.openxmlformats.org/drawingml/2006/main">
            <a:off x="895350" y="4019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声明式</a:t>
            </a:r>
          </a:p>
        </p:txBody>
      </p:sp>
      <p:sp>
        <p:nvSpPr>
          <p:cNvPr id="11" name="formula-col-0-body">
            <a:extLst xmlns:a="http://schemas.openxmlformats.org/drawingml/2006/main">
              <a:ext uri="{FF2B5EF4-FFF2-40B4-BE49-F238E27FC236}">
                <a16:creationId xmlns:a16="http://schemas.microsoft.com/office/drawing/2014/main" id="{DA077553-CE6C-4A57-B6A3-43BB51E015A2}"/>
              </a:ext>
            </a:extLst>
          </p:cNvPr>
          <p:cNvSpPr>
            <a:spLocks xmlns:a="http://schemas.openxmlformats.org/drawingml/2006/main" noGrp="1"/>
          </p:cNvSpPr>
          <p:nvPr/>
        </p:nvSpPr>
        <p:spPr>
          <a:xfrm xmlns:a="http://schemas.openxmlformats.org/drawingml/2006/main">
            <a:off x="895350" y="4438650"/>
            <a:ext cx="2057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318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作者写 TOML/JSON，表达变量、步骤、依赖、条件、循环、预检和 workspace。</a:t>
            </a:r>
          </a:p>
        </p:txBody>
      </p:sp>
      <p:sp>
        <p:nvSpPr>
          <p:cNvPr id="12" name="formula-col-1-panel">
            <a:extLst xmlns:a="http://schemas.openxmlformats.org/drawingml/2006/main">
              <a:ext uri="{FF2B5EF4-FFF2-40B4-BE49-F238E27FC236}">
                <a16:creationId xmlns:a16="http://schemas.microsoft.com/office/drawing/2014/main" id="{266B24EF-10E1-4DAE-AB78-23F6CD04BD53}"/>
              </a:ext>
            </a:extLst>
          </p:cNvPr>
          <p:cNvSpPr>
            <a:spLocks xmlns:a="http://schemas.openxmlformats.org/drawingml/2006/main" noGrp="1"/>
          </p:cNvSpPr>
          <p:nvPr/>
        </p:nvSpPr>
        <p:spPr>
          <a:xfrm xmlns:a="http://schemas.openxmlformats.org/drawingml/2006/main">
            <a:off x="3409950" y="3810000"/>
            <a:ext cx="2476500"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3" name="formula-col-1-accent">
            <a:extLst xmlns:a="http://schemas.openxmlformats.org/drawingml/2006/main">
              <a:ext uri="{FF2B5EF4-FFF2-40B4-BE49-F238E27FC236}">
                <a16:creationId xmlns:a16="http://schemas.microsoft.com/office/drawing/2014/main" id="{20F139D4-BE0F-4307-8F5E-A99154BA17E0}"/>
              </a:ext>
            </a:extLst>
          </p:cNvPr>
          <p:cNvSpPr>
            <a:spLocks xmlns:a="http://schemas.openxmlformats.org/drawingml/2006/main" noGrp="1"/>
          </p:cNvSpPr>
          <p:nvPr/>
        </p:nvSpPr>
        <p:spPr>
          <a:xfrm xmlns:a="http://schemas.openxmlformats.org/drawingml/2006/main">
            <a:off x="3409950" y="3810000"/>
            <a:ext cx="66675" cy="12858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formula-col-1-label">
            <a:extLst xmlns:a="http://schemas.openxmlformats.org/drawingml/2006/main">
              <a:ext uri="{FF2B5EF4-FFF2-40B4-BE49-F238E27FC236}">
                <a16:creationId xmlns:a16="http://schemas.microsoft.com/office/drawing/2014/main" id="{C5A63725-F8D5-4E64-9335-73B5C8841D90}"/>
              </a:ext>
            </a:extLst>
          </p:cNvPr>
          <p:cNvSpPr>
            <a:spLocks xmlns:a="http://schemas.openxmlformats.org/drawingml/2006/main" noGrp="1"/>
          </p:cNvSpPr>
          <p:nvPr/>
        </p:nvSpPr>
        <p:spPr>
          <a:xfrm xmlns:a="http://schemas.openxmlformats.org/drawingml/2006/main">
            <a:off x="3619500" y="4019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可执行</a:t>
            </a:r>
          </a:p>
        </p:txBody>
      </p:sp>
      <p:sp>
        <p:nvSpPr>
          <p:cNvPr id="15" name="formula-col-1-body">
            <a:extLst xmlns:a="http://schemas.openxmlformats.org/drawingml/2006/main">
              <a:ext uri="{FF2B5EF4-FFF2-40B4-BE49-F238E27FC236}">
                <a16:creationId xmlns:a16="http://schemas.microsoft.com/office/drawing/2014/main" id="{CCCE3799-F7E2-4E31-9FBF-AB9C2BEAEF52}"/>
              </a:ext>
            </a:extLst>
          </p:cNvPr>
          <p:cNvSpPr>
            <a:spLocks xmlns:a="http://schemas.openxmlformats.org/drawingml/2006/main" noGrp="1"/>
          </p:cNvSpPr>
          <p:nvPr/>
        </p:nvSpPr>
        <p:spPr>
          <a:xfrm xmlns:a="http://schemas.openxmlformats.org/drawingml/2006/main">
            <a:off x="3619500" y="4438650"/>
            <a:ext cx="2057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318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编译为 typed IR.Workflow，节点挂具体 `steps.Step` 实现。</a:t>
            </a:r>
          </a:p>
        </p:txBody>
      </p:sp>
      <p:sp>
        <p:nvSpPr>
          <p:cNvPr id="16" name="formula-col-2-panel">
            <a:extLst xmlns:a="http://schemas.openxmlformats.org/drawingml/2006/main">
              <a:ext uri="{FF2B5EF4-FFF2-40B4-BE49-F238E27FC236}">
                <a16:creationId xmlns:a16="http://schemas.microsoft.com/office/drawing/2014/main" id="{18328464-200D-4C7A-8497-D82653667AA0}"/>
              </a:ext>
            </a:extLst>
          </p:cNvPr>
          <p:cNvSpPr>
            <a:spLocks xmlns:a="http://schemas.openxmlformats.org/drawingml/2006/main" noGrp="1"/>
          </p:cNvSpPr>
          <p:nvPr/>
        </p:nvSpPr>
        <p:spPr>
          <a:xfrm xmlns:a="http://schemas.openxmlformats.org/drawingml/2006/main">
            <a:off x="6134100" y="3810000"/>
            <a:ext cx="2476500"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7" name="formula-col-2-accent">
            <a:extLst xmlns:a="http://schemas.openxmlformats.org/drawingml/2006/main">
              <a:ext uri="{FF2B5EF4-FFF2-40B4-BE49-F238E27FC236}">
                <a16:creationId xmlns:a16="http://schemas.microsoft.com/office/drawing/2014/main" id="{788A5679-10BC-4944-9D48-22C7216ED7E4}"/>
              </a:ext>
            </a:extLst>
          </p:cNvPr>
          <p:cNvSpPr>
            <a:spLocks xmlns:a="http://schemas.openxmlformats.org/drawingml/2006/main" noGrp="1"/>
          </p:cNvSpPr>
          <p:nvPr/>
        </p:nvSpPr>
        <p:spPr>
          <a:xfrm xmlns:a="http://schemas.openxmlformats.org/drawingml/2006/main">
            <a:off x="6134100" y="3810000"/>
            <a:ext cx="66675" cy="128587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8" name="formula-col-2-label">
            <a:extLst xmlns:a="http://schemas.openxmlformats.org/drawingml/2006/main">
              <a:ext uri="{FF2B5EF4-FFF2-40B4-BE49-F238E27FC236}">
                <a16:creationId xmlns:a16="http://schemas.microsoft.com/office/drawing/2014/main" id="{87004F88-E8D1-4196-83A1-F57BDF3CFCE8}"/>
              </a:ext>
            </a:extLst>
          </p:cNvPr>
          <p:cNvSpPr>
            <a:spLocks xmlns:a="http://schemas.openxmlformats.org/drawingml/2006/main" noGrp="1"/>
          </p:cNvSpPr>
          <p:nvPr/>
        </p:nvSpPr>
        <p:spPr>
          <a:xfrm xmlns:a="http://schemas.openxmlformats.org/drawingml/2006/main">
            <a:off x="6343650" y="4019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可恢复</a:t>
            </a:r>
          </a:p>
        </p:txBody>
      </p:sp>
      <p:sp>
        <p:nvSpPr>
          <p:cNvPr id="19" name="formula-col-2-body">
            <a:extLst xmlns:a="http://schemas.openxmlformats.org/drawingml/2006/main">
              <a:ext uri="{FF2B5EF4-FFF2-40B4-BE49-F238E27FC236}">
                <a16:creationId xmlns:a16="http://schemas.microsoft.com/office/drawing/2014/main" id="{790528E5-1C0A-4728-ADBB-B5F52193A1D6}"/>
              </a:ext>
            </a:extLst>
          </p:cNvPr>
          <p:cNvSpPr>
            <a:spLocks xmlns:a="http://schemas.openxmlformats.org/drawingml/2006/main" noGrp="1"/>
          </p:cNvSpPr>
          <p:nvPr/>
        </p:nvSpPr>
        <p:spPr>
          <a:xfrm xmlns:a="http://schemas.openxmlformats.org/drawingml/2006/main">
            <a:off x="6343650" y="4438650"/>
            <a:ext cx="2057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318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run store 保存 workflow、state、logs、steps output；支持 resume / input。</a:t>
            </a:r>
          </a:p>
        </p:txBody>
      </p:sp>
      <p:sp>
        <p:nvSpPr>
          <p:cNvPr id="20" name="formula-col-3-panel">
            <a:extLst xmlns:a="http://schemas.openxmlformats.org/drawingml/2006/main">
              <a:ext uri="{FF2B5EF4-FFF2-40B4-BE49-F238E27FC236}">
                <a16:creationId xmlns:a16="http://schemas.microsoft.com/office/drawing/2014/main" id="{E05B4701-3CB7-42B0-B440-FF0343F8DBEE}"/>
              </a:ext>
            </a:extLst>
          </p:cNvPr>
          <p:cNvSpPr>
            <a:spLocks xmlns:a="http://schemas.openxmlformats.org/drawingml/2006/main" noGrp="1"/>
          </p:cNvSpPr>
          <p:nvPr/>
        </p:nvSpPr>
        <p:spPr>
          <a:xfrm xmlns:a="http://schemas.openxmlformats.org/drawingml/2006/main">
            <a:off x="8858250" y="3810000"/>
            <a:ext cx="2476500"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21" name="formula-col-3-accent">
            <a:extLst xmlns:a="http://schemas.openxmlformats.org/drawingml/2006/main">
              <a:ext uri="{FF2B5EF4-FFF2-40B4-BE49-F238E27FC236}">
                <a16:creationId xmlns:a16="http://schemas.microsoft.com/office/drawing/2014/main" id="{99B05A6F-60DF-4F97-BECD-0D7A7BF19591}"/>
              </a:ext>
            </a:extLst>
          </p:cNvPr>
          <p:cNvSpPr>
            <a:spLocks xmlns:a="http://schemas.openxmlformats.org/drawingml/2006/main" noGrp="1"/>
          </p:cNvSpPr>
          <p:nvPr/>
        </p:nvSpPr>
        <p:spPr>
          <a:xfrm xmlns:a="http://schemas.openxmlformats.org/drawingml/2006/main">
            <a:off x="8858250" y="3810000"/>
            <a:ext cx="66675" cy="128587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2" name="formula-col-3-label">
            <a:extLst xmlns:a="http://schemas.openxmlformats.org/drawingml/2006/main">
              <a:ext uri="{FF2B5EF4-FFF2-40B4-BE49-F238E27FC236}">
                <a16:creationId xmlns:a16="http://schemas.microsoft.com/office/drawing/2014/main" id="{47C48493-1AB4-4946-8037-EF084DD9403A}"/>
              </a:ext>
            </a:extLst>
          </p:cNvPr>
          <p:cNvSpPr>
            <a:spLocks xmlns:a="http://schemas.openxmlformats.org/drawingml/2006/main" noGrp="1"/>
          </p:cNvSpPr>
          <p:nvPr/>
        </p:nvSpPr>
        <p:spPr>
          <a:xfrm xmlns:a="http://schemas.openxmlformats.org/drawingml/2006/main">
            <a:off x="9067800" y="40195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可观察</a:t>
            </a:r>
          </a:p>
        </p:txBody>
      </p:sp>
      <p:sp>
        <p:nvSpPr>
          <p:cNvPr id="23" name="formula-col-3-body">
            <a:extLst xmlns:a="http://schemas.openxmlformats.org/drawingml/2006/main">
              <a:ext uri="{FF2B5EF4-FFF2-40B4-BE49-F238E27FC236}">
                <a16:creationId xmlns:a16="http://schemas.microsoft.com/office/drawing/2014/main" id="{5C609089-5D3E-4698-8CE2-AE4D5CD378CC}"/>
              </a:ext>
            </a:extLst>
          </p:cNvPr>
          <p:cNvSpPr>
            <a:spLocks xmlns:a="http://schemas.openxmlformats.org/drawingml/2006/main" noGrp="1"/>
          </p:cNvSpPr>
          <p:nvPr/>
        </p:nvSpPr>
        <p:spPr>
          <a:xfrm xmlns:a="http://schemas.openxmlformats.org/drawingml/2006/main">
            <a:off x="9067800" y="4438650"/>
            <a:ext cx="20574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318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dashboard 展示图、时间线、修复记录、final report 和后续 chat。</a:t>
            </a:r>
          </a:p>
        </p:txBody>
      </p:sp>
    </p:spTree>
    <p:extLst>
      <p:ext uri="{BB962C8B-B14F-4D97-AF65-F5344CB8AC3E}">
        <p14:creationId xmlns:p14="http://schemas.microsoft.com/office/powerpoint/2010/main" val="188555869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A7706C24-5B25-45B3-9709-E3813F0E97F6}"/>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formula lifecycle</a:t>
            </a:r>
          </a:p>
        </p:txBody>
      </p:sp>
      <p:sp>
        <p:nvSpPr>
          <p:cNvPr id="2" name="title">
            <a:extLst xmlns:a="http://schemas.openxmlformats.org/drawingml/2006/main">
              <a:ext uri="{FF2B5EF4-FFF2-40B4-BE49-F238E27FC236}">
                <a16:creationId xmlns:a16="http://schemas.microsoft.com/office/drawing/2014/main" id="{2452D661-B180-4E13-9373-5684597EC4D5}"/>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Formula 运行生命周期</a:t>
            </a:r>
          </a:p>
        </p:txBody>
      </p:sp>
      <p:sp>
        <p:nvSpPr>
          <p:cNvPr id="3" name="subtitle">
            <a:extLst xmlns:a="http://schemas.openxmlformats.org/drawingml/2006/main">
              <a:ext uri="{FF2B5EF4-FFF2-40B4-BE49-F238E27FC236}">
                <a16:creationId xmlns:a16="http://schemas.microsoft.com/office/drawing/2014/main" id="{01CE9FEE-AC35-4B05-B426-D40E5627F500}"/>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这是从 `tt formula run &lt;name&gt;` 到 dashboard 的主路径。</a:t>
            </a:r>
          </a:p>
        </p:txBody>
      </p:sp>
      <p:sp>
        <p:nvSpPr>
          <p:cNvPr id="4" name="footer-left">
            <a:extLst xmlns:a="http://schemas.openxmlformats.org/drawingml/2006/main">
              <a:ext uri="{FF2B5EF4-FFF2-40B4-BE49-F238E27FC236}">
                <a16:creationId xmlns:a16="http://schemas.microsoft.com/office/drawing/2014/main" id="{DD33A679-B157-4AE8-8667-9301B6C5FA7A}"/>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1BFC88E1-2A39-4786-89D4-89D177779929}"/>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10</a:t>
            </a:r>
          </a:p>
        </p:txBody>
      </p:sp>
      <p:sp>
        <p:nvSpPr>
          <p:cNvPr id="6" name="life-0-box">
            <a:extLst xmlns:a="http://schemas.openxmlformats.org/drawingml/2006/main">
              <a:ext uri="{FF2B5EF4-FFF2-40B4-BE49-F238E27FC236}">
                <a16:creationId xmlns:a16="http://schemas.microsoft.com/office/drawing/2014/main" id="{4E798973-864C-4576-9D12-D520B8438B5F}"/>
              </a:ext>
            </a:extLst>
          </p:cNvPr>
          <p:cNvSpPr>
            <a:spLocks xmlns:a="http://schemas.openxmlformats.org/drawingml/2006/main" noGrp="1"/>
          </p:cNvSpPr>
          <p:nvPr/>
        </p:nvSpPr>
        <p:spPr>
          <a:xfrm xmlns:a="http://schemas.openxmlformats.org/drawingml/2006/main">
            <a:off x="666750" y="2381250"/>
            <a:ext cx="1571625"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life-0-bar">
            <a:extLst xmlns:a="http://schemas.openxmlformats.org/drawingml/2006/main">
              <a:ext uri="{FF2B5EF4-FFF2-40B4-BE49-F238E27FC236}">
                <a16:creationId xmlns:a16="http://schemas.microsoft.com/office/drawing/2014/main" id="{D8639AD2-2E5C-4EC7-8195-4CC839EDE7D8}"/>
              </a:ext>
            </a:extLst>
          </p:cNvPr>
          <p:cNvSpPr>
            <a:spLocks xmlns:a="http://schemas.openxmlformats.org/drawingml/2006/main" noGrp="1"/>
          </p:cNvSpPr>
          <p:nvPr/>
        </p:nvSpPr>
        <p:spPr>
          <a:xfrm xmlns:a="http://schemas.openxmlformats.org/drawingml/2006/main">
            <a:off x="666750" y="2381250"/>
            <a:ext cx="1571625"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life-0-label">
            <a:extLst xmlns:a="http://schemas.openxmlformats.org/drawingml/2006/main">
              <a:ext uri="{FF2B5EF4-FFF2-40B4-BE49-F238E27FC236}">
                <a16:creationId xmlns:a16="http://schemas.microsoft.com/office/drawing/2014/main" id="{1B993A53-8C8D-47F4-BC2E-2CEC4DFE0D9F}"/>
              </a:ext>
            </a:extLst>
          </p:cNvPr>
          <p:cNvSpPr>
            <a:spLocks xmlns:a="http://schemas.openxmlformats.org/drawingml/2006/main" noGrp="1"/>
          </p:cNvSpPr>
          <p:nvPr/>
        </p:nvSpPr>
        <p:spPr>
          <a:xfrm xmlns:a="http://schemas.openxmlformats.org/drawingml/2006/main">
            <a:off x="838200" y="2571750"/>
            <a:ext cx="1228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489"/>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Load/Resolve</a:t>
            </a:r>
          </a:p>
        </p:txBody>
      </p:sp>
      <p:sp>
        <p:nvSpPr>
          <p:cNvPr id="9" name="life-0-body">
            <a:extLst xmlns:a="http://schemas.openxmlformats.org/drawingml/2006/main">
              <a:ext uri="{FF2B5EF4-FFF2-40B4-BE49-F238E27FC236}">
                <a16:creationId xmlns:a16="http://schemas.microsoft.com/office/drawing/2014/main" id="{6C643326-974B-4667-9FD1-532F3C2AC9B3}"/>
              </a:ext>
            </a:extLst>
          </p:cNvPr>
          <p:cNvSpPr>
            <a:spLocks xmlns:a="http://schemas.openxmlformats.org/drawingml/2006/main" noGrp="1"/>
          </p:cNvSpPr>
          <p:nvPr/>
        </p:nvSpPr>
        <p:spPr>
          <a:xfrm xmlns:a="http://schemas.openxmlformats.org/drawingml/2006/main">
            <a:off x="838200" y="2895600"/>
            <a:ext cx="12287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builtin/user</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formula</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extends</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compose</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embed</a:t>
            </a:r>
          </a:p>
        </p:txBody>
      </p:sp>
      <p:sp>
        <p:nvSpPr>
          <p:cNvPr id="10" name="life-1-box">
            <a:extLst xmlns:a="http://schemas.openxmlformats.org/drawingml/2006/main">
              <a:ext uri="{FF2B5EF4-FFF2-40B4-BE49-F238E27FC236}">
                <a16:creationId xmlns:a16="http://schemas.microsoft.com/office/drawing/2014/main" id="{F2DFE7C0-3787-43C5-AB0B-86F3D34D47B1}"/>
              </a:ext>
            </a:extLst>
          </p:cNvPr>
          <p:cNvSpPr>
            <a:spLocks xmlns:a="http://schemas.openxmlformats.org/drawingml/2006/main" noGrp="1"/>
          </p:cNvSpPr>
          <p:nvPr/>
        </p:nvSpPr>
        <p:spPr>
          <a:xfrm xmlns:a="http://schemas.openxmlformats.org/drawingml/2006/main">
            <a:off x="2552700" y="2381250"/>
            <a:ext cx="1571625" cy="20002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1" name="life-1-bar">
            <a:extLst xmlns:a="http://schemas.openxmlformats.org/drawingml/2006/main">
              <a:ext uri="{FF2B5EF4-FFF2-40B4-BE49-F238E27FC236}">
                <a16:creationId xmlns:a16="http://schemas.microsoft.com/office/drawing/2014/main" id="{CE46DB94-908F-47CE-94C9-6B2BEACD7D02}"/>
              </a:ext>
            </a:extLst>
          </p:cNvPr>
          <p:cNvSpPr>
            <a:spLocks xmlns:a="http://schemas.openxmlformats.org/drawingml/2006/main" noGrp="1"/>
          </p:cNvSpPr>
          <p:nvPr/>
        </p:nvSpPr>
        <p:spPr>
          <a:xfrm xmlns:a="http://schemas.openxmlformats.org/drawingml/2006/main">
            <a:off x="2552700" y="2381250"/>
            <a:ext cx="1571625"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2" name="life-1-label">
            <a:extLst xmlns:a="http://schemas.openxmlformats.org/drawingml/2006/main">
              <a:ext uri="{FF2B5EF4-FFF2-40B4-BE49-F238E27FC236}">
                <a16:creationId xmlns:a16="http://schemas.microsoft.com/office/drawing/2014/main" id="{9058B406-53BA-40A9-AAC9-FDEDA708C85A}"/>
              </a:ext>
            </a:extLst>
          </p:cNvPr>
          <p:cNvSpPr>
            <a:spLocks xmlns:a="http://schemas.openxmlformats.org/drawingml/2006/main" noGrp="1"/>
          </p:cNvSpPr>
          <p:nvPr/>
        </p:nvSpPr>
        <p:spPr>
          <a:xfrm xmlns:a="http://schemas.openxmlformats.org/drawingml/2006/main">
            <a:off x="2724150" y="2571750"/>
            <a:ext cx="1228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Compile</a:t>
            </a:r>
          </a:p>
        </p:txBody>
      </p:sp>
      <p:sp>
        <p:nvSpPr>
          <p:cNvPr id="13" name="life-1-body">
            <a:extLst xmlns:a="http://schemas.openxmlformats.org/drawingml/2006/main">
              <a:ext uri="{FF2B5EF4-FFF2-40B4-BE49-F238E27FC236}">
                <a16:creationId xmlns:a16="http://schemas.microsoft.com/office/drawing/2014/main" id="{E2297403-9B5C-4694-833F-83765FACB768}"/>
              </a:ext>
            </a:extLst>
          </p:cNvPr>
          <p:cNvSpPr>
            <a:spLocks xmlns:a="http://schemas.openxmlformats.org/drawingml/2006/main" noGrp="1"/>
          </p:cNvSpPr>
          <p:nvPr/>
        </p:nvSpPr>
        <p:spPr>
          <a:xfrm xmlns:a="http://schemas.openxmlformats.org/drawingml/2006/main">
            <a:off x="2724150" y="2895600"/>
            <a:ext cx="12287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AST -&gt; IR.Workflow</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Step Registry</a:t>
            </a:r>
          </a:p>
        </p:txBody>
      </p:sp>
      <p:cxnSp>
        <p:nvCxnSpPr>
          <p:cNvPr id="49" name=""/>
          <p:cNvCxnSpPr>
            <a:stCxn xmlns:a="http://schemas.openxmlformats.org/drawingml/2006/main" id="6" idx="3"/>
            <a:endCxn xmlns:a="http://schemas.openxmlformats.org/drawingml/2006/main" id="10" idx="1"/>
          </p:cNvCxnSpPr>
          <p:nvPr/>
        </p:nvCxnSpPr>
        <p:spPr>
          <a:xfrm xmlns:a="http://schemas.openxmlformats.org/drawingml/2006/main">
            <a:off x="2238375" y="3381375"/>
            <a:ext cx="314325"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15" name="life-2-box">
            <a:extLst xmlns:a="http://schemas.openxmlformats.org/drawingml/2006/main">
              <a:ext uri="{FF2B5EF4-FFF2-40B4-BE49-F238E27FC236}">
                <a16:creationId xmlns:a16="http://schemas.microsoft.com/office/drawing/2014/main" id="{37300338-8164-4E29-9B6E-672888C20C68}"/>
              </a:ext>
            </a:extLst>
          </p:cNvPr>
          <p:cNvSpPr>
            <a:spLocks xmlns:a="http://schemas.openxmlformats.org/drawingml/2006/main" noGrp="1"/>
          </p:cNvSpPr>
          <p:nvPr/>
        </p:nvSpPr>
        <p:spPr>
          <a:xfrm xmlns:a="http://schemas.openxmlformats.org/drawingml/2006/main">
            <a:off x="4438650" y="2381250"/>
            <a:ext cx="1571625"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6" name="life-2-bar">
            <a:extLst xmlns:a="http://schemas.openxmlformats.org/drawingml/2006/main">
              <a:ext uri="{FF2B5EF4-FFF2-40B4-BE49-F238E27FC236}">
                <a16:creationId xmlns:a16="http://schemas.microsoft.com/office/drawing/2014/main" id="{668FA8B0-B2CB-4899-A2F6-C844D228CD39}"/>
              </a:ext>
            </a:extLst>
          </p:cNvPr>
          <p:cNvSpPr>
            <a:spLocks xmlns:a="http://schemas.openxmlformats.org/drawingml/2006/main" noGrp="1"/>
          </p:cNvSpPr>
          <p:nvPr/>
        </p:nvSpPr>
        <p:spPr>
          <a:xfrm xmlns:a="http://schemas.openxmlformats.org/drawingml/2006/main">
            <a:off x="4438650" y="2381250"/>
            <a:ext cx="1571625" cy="57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7" name="life-2-label">
            <a:extLst xmlns:a="http://schemas.openxmlformats.org/drawingml/2006/main">
              <a:ext uri="{FF2B5EF4-FFF2-40B4-BE49-F238E27FC236}">
                <a16:creationId xmlns:a16="http://schemas.microsoft.com/office/drawing/2014/main" id="{8708A9B4-B5D4-4AE0-914A-60648EDF1B32}"/>
              </a:ext>
            </a:extLst>
          </p:cNvPr>
          <p:cNvSpPr>
            <a:spLocks xmlns:a="http://schemas.openxmlformats.org/drawingml/2006/main" noGrp="1"/>
          </p:cNvSpPr>
          <p:nvPr/>
        </p:nvSpPr>
        <p:spPr>
          <a:xfrm xmlns:a="http://schemas.openxmlformats.org/drawingml/2006/main">
            <a:off x="4610100" y="2571750"/>
            <a:ext cx="1228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Preflight</a:t>
            </a:r>
          </a:p>
        </p:txBody>
      </p:sp>
      <p:sp>
        <p:nvSpPr>
          <p:cNvPr id="18" name="life-2-body">
            <a:extLst xmlns:a="http://schemas.openxmlformats.org/drawingml/2006/main">
              <a:ext uri="{FF2B5EF4-FFF2-40B4-BE49-F238E27FC236}">
                <a16:creationId xmlns:a16="http://schemas.microsoft.com/office/drawing/2014/main" id="{BB5ADA05-57AF-49A6-A092-DAF635E07939}"/>
              </a:ext>
            </a:extLst>
          </p:cNvPr>
          <p:cNvSpPr>
            <a:spLocks xmlns:a="http://schemas.openxmlformats.org/drawingml/2006/main" noGrp="1"/>
          </p:cNvSpPr>
          <p:nvPr/>
        </p:nvSpPr>
        <p:spPr>
          <a:xfrm xmlns:a="http://schemas.openxmlformats.org/drawingml/2006/main">
            <a:off x="4610100" y="2895600"/>
            <a:ext cx="12287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command/exec</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git/env/path</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workspace policy</a:t>
            </a:r>
          </a:p>
        </p:txBody>
      </p:sp>
      <p:cxnSp>
        <p:nvCxnSpPr>
          <p:cNvPr id="54" name=""/>
          <p:cNvCxnSpPr>
            <a:stCxn xmlns:a="http://schemas.openxmlformats.org/drawingml/2006/main" id="10" idx="3"/>
            <a:endCxn xmlns:a="http://schemas.openxmlformats.org/drawingml/2006/main" id="15" idx="1"/>
          </p:cNvCxnSpPr>
          <p:nvPr/>
        </p:nvCxnSpPr>
        <p:spPr>
          <a:xfrm xmlns:a="http://schemas.openxmlformats.org/drawingml/2006/main">
            <a:off x="4124325" y="3381375"/>
            <a:ext cx="314325"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20" name="life-3-box">
            <a:extLst xmlns:a="http://schemas.openxmlformats.org/drawingml/2006/main">
              <a:ext uri="{FF2B5EF4-FFF2-40B4-BE49-F238E27FC236}">
                <a16:creationId xmlns:a16="http://schemas.microsoft.com/office/drawing/2014/main" id="{CC6135DC-3082-4761-B07C-A9203E5BE7D7}"/>
              </a:ext>
            </a:extLst>
          </p:cNvPr>
          <p:cNvSpPr>
            <a:spLocks xmlns:a="http://schemas.openxmlformats.org/drawingml/2006/main" noGrp="1"/>
          </p:cNvSpPr>
          <p:nvPr/>
        </p:nvSpPr>
        <p:spPr>
          <a:xfrm xmlns:a="http://schemas.openxmlformats.org/drawingml/2006/main">
            <a:off x="6324600" y="2381250"/>
            <a:ext cx="1571625" cy="20002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21" name="life-3-bar">
            <a:extLst xmlns:a="http://schemas.openxmlformats.org/drawingml/2006/main">
              <a:ext uri="{FF2B5EF4-FFF2-40B4-BE49-F238E27FC236}">
                <a16:creationId xmlns:a16="http://schemas.microsoft.com/office/drawing/2014/main" id="{44AAB2C5-1C3E-4FF1-929E-472619FCF0F2}"/>
              </a:ext>
            </a:extLst>
          </p:cNvPr>
          <p:cNvSpPr>
            <a:spLocks xmlns:a="http://schemas.openxmlformats.org/drawingml/2006/main" noGrp="1"/>
          </p:cNvSpPr>
          <p:nvPr/>
        </p:nvSpPr>
        <p:spPr>
          <a:xfrm xmlns:a="http://schemas.openxmlformats.org/drawingml/2006/main">
            <a:off x="6324600" y="2381250"/>
            <a:ext cx="1571625" cy="5715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2" name="life-3-label">
            <a:extLst xmlns:a="http://schemas.openxmlformats.org/drawingml/2006/main">
              <a:ext uri="{FF2B5EF4-FFF2-40B4-BE49-F238E27FC236}">
                <a16:creationId xmlns:a16="http://schemas.microsoft.com/office/drawing/2014/main" id="{B168ADB8-7605-4CD8-99C4-2A0CBA2B7459}"/>
              </a:ext>
            </a:extLst>
          </p:cNvPr>
          <p:cNvSpPr>
            <a:spLocks xmlns:a="http://schemas.openxmlformats.org/drawingml/2006/main" noGrp="1"/>
          </p:cNvSpPr>
          <p:nvPr/>
        </p:nvSpPr>
        <p:spPr>
          <a:xfrm xmlns:a="http://schemas.openxmlformats.org/drawingml/2006/main">
            <a:off x="6496050" y="2571750"/>
            <a:ext cx="1228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Execute</a:t>
            </a:r>
          </a:p>
        </p:txBody>
      </p:sp>
      <p:sp>
        <p:nvSpPr>
          <p:cNvPr id="23" name="life-3-body">
            <a:extLst xmlns:a="http://schemas.openxmlformats.org/drawingml/2006/main">
              <a:ext uri="{FF2B5EF4-FFF2-40B4-BE49-F238E27FC236}">
                <a16:creationId xmlns:a16="http://schemas.microsoft.com/office/drawing/2014/main" id="{570BE8F2-E6AB-42BC-AEBB-C18EE2D497FC}"/>
              </a:ext>
            </a:extLst>
          </p:cNvPr>
          <p:cNvSpPr>
            <a:spLocks xmlns:a="http://schemas.openxmlformats.org/drawingml/2006/main" noGrp="1"/>
          </p:cNvSpPr>
          <p:nvPr/>
        </p:nvSpPr>
        <p:spPr>
          <a:xfrm xmlns:a="http://schemas.openxmlformats.org/drawingml/2006/main">
            <a:off x="6496050" y="2895600"/>
            <a:ext cx="12287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topological</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planning</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agent/script</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human input</a:t>
            </a:r>
          </a:p>
        </p:txBody>
      </p:sp>
      <p:cxnSp>
        <p:nvCxnSpPr>
          <p:cNvPr id="59" name=""/>
          <p:cNvCxnSpPr>
            <a:stCxn xmlns:a="http://schemas.openxmlformats.org/drawingml/2006/main" id="15" idx="3"/>
            <a:endCxn xmlns:a="http://schemas.openxmlformats.org/drawingml/2006/main" id="20" idx="1"/>
          </p:cNvCxnSpPr>
          <p:nvPr/>
        </p:nvCxnSpPr>
        <p:spPr>
          <a:xfrm xmlns:a="http://schemas.openxmlformats.org/drawingml/2006/main">
            <a:off x="6010275" y="3381375"/>
            <a:ext cx="314325"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25" name="life-4-box">
            <a:extLst xmlns:a="http://schemas.openxmlformats.org/drawingml/2006/main">
              <a:ext uri="{FF2B5EF4-FFF2-40B4-BE49-F238E27FC236}">
                <a16:creationId xmlns:a16="http://schemas.microsoft.com/office/drawing/2014/main" id="{AB0CE5B9-0602-4439-8B02-1ADC1E10B8D5}"/>
              </a:ext>
            </a:extLst>
          </p:cNvPr>
          <p:cNvSpPr>
            <a:spLocks xmlns:a="http://schemas.openxmlformats.org/drawingml/2006/main" noGrp="1"/>
          </p:cNvSpPr>
          <p:nvPr/>
        </p:nvSpPr>
        <p:spPr>
          <a:xfrm xmlns:a="http://schemas.openxmlformats.org/drawingml/2006/main">
            <a:off x="8210550" y="2381250"/>
            <a:ext cx="1571625"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6" name="life-4-bar">
            <a:extLst xmlns:a="http://schemas.openxmlformats.org/drawingml/2006/main">
              <a:ext uri="{FF2B5EF4-FFF2-40B4-BE49-F238E27FC236}">
                <a16:creationId xmlns:a16="http://schemas.microsoft.com/office/drawing/2014/main" id="{991EB087-F9DC-4217-B1D7-A24602858524}"/>
              </a:ext>
            </a:extLst>
          </p:cNvPr>
          <p:cNvSpPr>
            <a:spLocks xmlns:a="http://schemas.openxmlformats.org/drawingml/2006/main" noGrp="1"/>
          </p:cNvSpPr>
          <p:nvPr/>
        </p:nvSpPr>
        <p:spPr>
          <a:xfrm xmlns:a="http://schemas.openxmlformats.org/drawingml/2006/main">
            <a:off x="8210550" y="2381250"/>
            <a:ext cx="1571625"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7" name="life-4-label">
            <a:extLst xmlns:a="http://schemas.openxmlformats.org/drawingml/2006/main">
              <a:ext uri="{FF2B5EF4-FFF2-40B4-BE49-F238E27FC236}">
                <a16:creationId xmlns:a16="http://schemas.microsoft.com/office/drawing/2014/main" id="{FD4B2AAB-55CE-4852-901E-2E679CEE9C2D}"/>
              </a:ext>
            </a:extLst>
          </p:cNvPr>
          <p:cNvSpPr>
            <a:spLocks xmlns:a="http://schemas.openxmlformats.org/drawingml/2006/main" noGrp="1"/>
          </p:cNvSpPr>
          <p:nvPr/>
        </p:nvSpPr>
        <p:spPr>
          <a:xfrm xmlns:a="http://schemas.openxmlformats.org/drawingml/2006/main">
            <a:off x="8382000" y="2571750"/>
            <a:ext cx="1228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1802"/>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Repair/Resume</a:t>
            </a:r>
          </a:p>
        </p:txBody>
      </p:sp>
      <p:sp>
        <p:nvSpPr>
          <p:cNvPr id="28" name="life-4-body">
            <a:extLst xmlns:a="http://schemas.openxmlformats.org/drawingml/2006/main">
              <a:ext uri="{FF2B5EF4-FFF2-40B4-BE49-F238E27FC236}">
                <a16:creationId xmlns:a16="http://schemas.microsoft.com/office/drawing/2014/main" id="{9293635F-277A-4EB8-9E48-53FCFBEC7559}"/>
              </a:ext>
            </a:extLst>
          </p:cNvPr>
          <p:cNvSpPr>
            <a:spLocks xmlns:a="http://schemas.openxmlformats.org/drawingml/2006/main" noGrp="1"/>
          </p:cNvSpPr>
          <p:nvPr/>
        </p:nvSpPr>
        <p:spPr>
          <a:xfrm xmlns:a="http://schemas.openxmlformats.org/drawingml/2006/main">
            <a:off x="8382000" y="2895600"/>
            <a:ext cx="12287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StepFixer</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idempotent gate</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max 3 attempts</a:t>
            </a:r>
          </a:p>
        </p:txBody>
      </p:sp>
      <p:cxnSp>
        <p:nvCxnSpPr>
          <p:cNvPr id="64" name=""/>
          <p:cNvCxnSpPr>
            <a:stCxn xmlns:a="http://schemas.openxmlformats.org/drawingml/2006/main" id="20" idx="3"/>
            <a:endCxn xmlns:a="http://schemas.openxmlformats.org/drawingml/2006/main" id="25" idx="1"/>
          </p:cNvCxnSpPr>
          <p:nvPr/>
        </p:nvCxnSpPr>
        <p:spPr>
          <a:xfrm xmlns:a="http://schemas.openxmlformats.org/drawingml/2006/main">
            <a:off x="7896225" y="3381375"/>
            <a:ext cx="314325"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30" name="life-5-box">
            <a:extLst xmlns:a="http://schemas.openxmlformats.org/drawingml/2006/main">
              <a:ext uri="{FF2B5EF4-FFF2-40B4-BE49-F238E27FC236}">
                <a16:creationId xmlns:a16="http://schemas.microsoft.com/office/drawing/2014/main" id="{8BF7C95A-70FE-4071-BB00-0B578EF3E17D}"/>
              </a:ext>
            </a:extLst>
          </p:cNvPr>
          <p:cNvSpPr>
            <a:spLocks xmlns:a="http://schemas.openxmlformats.org/drawingml/2006/main" noGrp="1"/>
          </p:cNvSpPr>
          <p:nvPr/>
        </p:nvSpPr>
        <p:spPr>
          <a:xfrm xmlns:a="http://schemas.openxmlformats.org/drawingml/2006/main">
            <a:off x="10096500" y="2381250"/>
            <a:ext cx="1571625" cy="20002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31" name="life-5-bar">
            <a:extLst xmlns:a="http://schemas.openxmlformats.org/drawingml/2006/main">
              <a:ext uri="{FF2B5EF4-FFF2-40B4-BE49-F238E27FC236}">
                <a16:creationId xmlns:a16="http://schemas.microsoft.com/office/drawing/2014/main" id="{577FE3C4-6BE7-4652-BB3A-D793962E69DE}"/>
              </a:ext>
            </a:extLst>
          </p:cNvPr>
          <p:cNvSpPr>
            <a:spLocks xmlns:a="http://schemas.openxmlformats.org/drawingml/2006/main" noGrp="1"/>
          </p:cNvSpPr>
          <p:nvPr/>
        </p:nvSpPr>
        <p:spPr>
          <a:xfrm xmlns:a="http://schemas.openxmlformats.org/drawingml/2006/main">
            <a:off x="10096500" y="2381250"/>
            <a:ext cx="1571625"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2" name="life-5-label">
            <a:extLst xmlns:a="http://schemas.openxmlformats.org/drawingml/2006/main">
              <a:ext uri="{FF2B5EF4-FFF2-40B4-BE49-F238E27FC236}">
                <a16:creationId xmlns:a16="http://schemas.microsoft.com/office/drawing/2014/main" id="{40D47D79-AD22-462F-81B8-81EE1AEE07E8}"/>
              </a:ext>
            </a:extLst>
          </p:cNvPr>
          <p:cNvSpPr>
            <a:spLocks xmlns:a="http://schemas.openxmlformats.org/drawingml/2006/main" noGrp="1"/>
          </p:cNvSpPr>
          <p:nvPr/>
        </p:nvSpPr>
        <p:spPr>
          <a:xfrm xmlns:a="http://schemas.openxmlformats.org/drawingml/2006/main">
            <a:off x="10267950" y="2571750"/>
            <a:ext cx="1228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Observe</a:t>
            </a:r>
          </a:p>
        </p:txBody>
      </p:sp>
      <p:sp>
        <p:nvSpPr>
          <p:cNvPr id="33" name="life-5-body">
            <a:extLst xmlns:a="http://schemas.openxmlformats.org/drawingml/2006/main">
              <a:ext uri="{FF2B5EF4-FFF2-40B4-BE49-F238E27FC236}">
                <a16:creationId xmlns:a16="http://schemas.microsoft.com/office/drawing/2014/main" id="{62165C29-29D0-4F84-A105-6449798FF72E}"/>
              </a:ext>
            </a:extLst>
          </p:cNvPr>
          <p:cNvSpPr>
            <a:spLocks xmlns:a="http://schemas.openxmlformats.org/drawingml/2006/main" noGrp="1"/>
          </p:cNvSpPr>
          <p:nvPr/>
        </p:nvSpPr>
        <p:spPr>
          <a:xfrm xmlns:a="http://schemas.openxmlformats.org/drawingml/2006/main">
            <a:off x="10267950" y="2895600"/>
            <a:ext cx="12287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run store</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dashboard</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final report chat</a:t>
            </a:r>
          </a:p>
        </p:txBody>
      </p:sp>
      <p:cxnSp>
        <p:nvCxnSpPr>
          <p:cNvPr id="69" name=""/>
          <p:cNvCxnSpPr>
            <a:stCxn xmlns:a="http://schemas.openxmlformats.org/drawingml/2006/main" id="25" idx="3"/>
            <a:endCxn xmlns:a="http://schemas.openxmlformats.org/drawingml/2006/main" id="30" idx="1"/>
          </p:cNvCxnSpPr>
          <p:nvPr/>
        </p:nvCxnSpPr>
        <p:spPr>
          <a:xfrm xmlns:a="http://schemas.openxmlformats.org/drawingml/2006/main">
            <a:off x="9782175" y="3381375"/>
            <a:ext cx="314325"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35" name="life-note">
            <a:extLst xmlns:a="http://schemas.openxmlformats.org/drawingml/2006/main">
              <a:ext uri="{FF2B5EF4-FFF2-40B4-BE49-F238E27FC236}">
                <a16:creationId xmlns:a16="http://schemas.microsoft.com/office/drawing/2014/main" id="{B87CA9A6-EADD-4327-BE93-74430B125250}"/>
              </a:ext>
            </a:extLst>
          </p:cNvPr>
          <p:cNvSpPr>
            <a:spLocks xmlns:a="http://schemas.openxmlformats.org/drawingml/2006/main" noGrp="1"/>
          </p:cNvSpPr>
          <p:nvPr/>
        </p:nvSpPr>
        <p:spPr>
          <a:xfrm xmlns:a="http://schemas.openxmlformats.org/drawingml/2006/main">
            <a:off x="1371600" y="5000625"/>
            <a:ext cx="9429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87916"/>
          </a:bodyPr>
          <a:lstStyle xmlns:a="http://schemas.openxmlformats.org/drawingml/2006/main"/>
          <a:p xmlns:a="http://schemas.openxmlformats.org/drawingml/2006/main">
            <a:pPr>
              <a:lnSpc>
                <a:spcPct val="114000"/>
              </a:lnSpc>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关键分界：</a:t>
            </a:r>
            <a:r>
              <a:rPr sz="1650">
                <a:solidFill>
                  <a:srgbClr val="111111"/>
                </a:solidFill>
                <a:latin typeface="PingFang SC"/>
                <a:ea typeface="PingFang SC"/>
                <a:cs typeface="PingFang SC"/>
              </a:rPr>
              <a:t>解析/编译阶段决定 workflow 形状；执行阶段处理环境、条件、修复、状态保存和 dashboard 推送。</a:t>
            </a:r>
          </a:p>
        </p:txBody>
      </p:sp>
    </p:spTree>
    <p:extLst>
      <p:ext uri="{BB962C8B-B14F-4D97-AF65-F5344CB8AC3E}">
        <p14:creationId xmlns:p14="http://schemas.microsoft.com/office/powerpoint/2010/main" val="16056717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2CD9D8C7-9F06-418C-BEF1-54A7DA1608E4}"/>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formula internals</a:t>
            </a:r>
          </a:p>
        </p:txBody>
      </p:sp>
      <p:sp>
        <p:nvSpPr>
          <p:cNvPr id="2" name="title">
            <a:extLst xmlns:a="http://schemas.openxmlformats.org/drawingml/2006/main">
              <a:ext uri="{FF2B5EF4-FFF2-40B4-BE49-F238E27FC236}">
                <a16:creationId xmlns:a16="http://schemas.microsoft.com/office/drawing/2014/main" id="{AD9E2F6C-F6A0-447B-AB1B-D647E985F5F9}"/>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Step model：把工作拆成可执行语义</a:t>
            </a:r>
          </a:p>
        </p:txBody>
      </p:sp>
      <p:sp>
        <p:nvSpPr>
          <p:cNvPr id="3" name="subtitle">
            <a:extLst xmlns:a="http://schemas.openxmlformats.org/drawingml/2006/main">
              <a:ext uri="{FF2B5EF4-FFF2-40B4-BE49-F238E27FC236}">
                <a16:creationId xmlns:a16="http://schemas.microsoft.com/office/drawing/2014/main" id="{2E31D747-1C4F-4B0D-BD69-D379A8D765F1}"/>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每个 step 都有 Metadata、Validate；可执行 step 还实现 Run。</a:t>
            </a:r>
          </a:p>
        </p:txBody>
      </p:sp>
      <p:sp>
        <p:nvSpPr>
          <p:cNvPr id="4" name="footer-left">
            <a:extLst xmlns:a="http://schemas.openxmlformats.org/drawingml/2006/main">
              <a:ext uri="{FF2B5EF4-FFF2-40B4-BE49-F238E27FC236}">
                <a16:creationId xmlns:a16="http://schemas.microsoft.com/office/drawing/2014/main" id="{359FBCEB-0C1C-45BC-BFA0-A9CDE648DF20}"/>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7F3A4A4F-B2CB-425B-90A7-4D9AE0DDA1A2}"/>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11</a:t>
            </a:r>
          </a:p>
        </p:txBody>
      </p:sp>
      <p:sp>
        <p:nvSpPr>
          <p:cNvPr id="6" name="kind-0">
            <a:extLst xmlns:a="http://schemas.openxmlformats.org/drawingml/2006/main">
              <a:ext uri="{FF2B5EF4-FFF2-40B4-BE49-F238E27FC236}">
                <a16:creationId xmlns:a16="http://schemas.microsoft.com/office/drawing/2014/main" id="{C5277882-1DA3-422D-A751-929F0E13503E}"/>
              </a:ext>
            </a:extLst>
          </p:cNvPr>
          <p:cNvSpPr>
            <a:spLocks xmlns:a="http://schemas.openxmlformats.org/drawingml/2006/main" noGrp="1"/>
          </p:cNvSpPr>
          <p:nvPr/>
        </p:nvSpPr>
        <p:spPr>
          <a:xfrm xmlns:a="http://schemas.openxmlformats.org/drawingml/2006/main">
            <a:off x="800100" y="1857375"/>
            <a:ext cx="48958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7" name="kind-bar-0">
            <a:extLst xmlns:a="http://schemas.openxmlformats.org/drawingml/2006/main">
              <a:ext uri="{FF2B5EF4-FFF2-40B4-BE49-F238E27FC236}">
                <a16:creationId xmlns:a16="http://schemas.microsoft.com/office/drawing/2014/main" id="{24E5B0E7-7200-4F27-98BF-875C03A116D9}"/>
              </a:ext>
            </a:extLst>
          </p:cNvPr>
          <p:cNvSpPr>
            <a:spLocks xmlns:a="http://schemas.openxmlformats.org/drawingml/2006/main" noGrp="1"/>
          </p:cNvSpPr>
          <p:nvPr/>
        </p:nvSpPr>
        <p:spPr>
          <a:xfrm xmlns:a="http://schemas.openxmlformats.org/drawingml/2006/main">
            <a:off x="800100" y="1857375"/>
            <a:ext cx="66675" cy="9525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kind-name-0">
            <a:extLst xmlns:a="http://schemas.openxmlformats.org/drawingml/2006/main">
              <a:ext uri="{FF2B5EF4-FFF2-40B4-BE49-F238E27FC236}">
                <a16:creationId xmlns:a16="http://schemas.microsoft.com/office/drawing/2014/main" id="{2FE43164-CE3D-4D56-A70A-D37C8BE8DA7E}"/>
              </a:ext>
            </a:extLst>
          </p:cNvPr>
          <p:cNvSpPr>
            <a:spLocks xmlns:a="http://schemas.openxmlformats.org/drawingml/2006/main" noGrp="1"/>
          </p:cNvSpPr>
          <p:nvPr/>
        </p:nvSpPr>
        <p:spPr>
          <a:xfrm xmlns:a="http://schemas.openxmlformats.org/drawingml/2006/main">
            <a:off x="1066800" y="20478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2000"/>
              </a:lnSpc>
              <a:buNone/>
              <a:defRPr sz="1875" b="1">
                <a:solidFill>
                  <a:srgbClr val="FF6B35"/>
                </a:solidFill>
                <a:latin typeface="SF Mono"/>
                <a:ea typeface="SF Mono"/>
                <a:cs typeface="SF Mono"/>
              </a:defRPr>
            </a:pPr>
            <a:r>
              <a:rPr sz="1875" b="1">
                <a:solidFill>
                  <a:srgbClr val="FF6B35"/>
                </a:solidFill>
                <a:latin typeface="SF Mono"/>
                <a:ea typeface="SF Mono"/>
                <a:cs typeface="SF Mono"/>
              </a:rPr>
              <a:t>agent</a:t>
            </a:r>
          </a:p>
        </p:txBody>
      </p:sp>
      <p:sp>
        <p:nvSpPr>
          <p:cNvPr id="9" name="kind-body-0">
            <a:extLst xmlns:a="http://schemas.openxmlformats.org/drawingml/2006/main">
              <a:ext uri="{FF2B5EF4-FFF2-40B4-BE49-F238E27FC236}">
                <a16:creationId xmlns:a16="http://schemas.microsoft.com/office/drawing/2014/main" id="{A421D148-6F29-46DB-9728-D5FA50F48E5D}"/>
              </a:ext>
            </a:extLst>
          </p:cNvPr>
          <p:cNvSpPr>
            <a:spLocks xmlns:a="http://schemas.openxmlformats.org/drawingml/2006/main" noGrp="1"/>
          </p:cNvSpPr>
          <p:nvPr/>
        </p:nvSpPr>
        <p:spPr>
          <a:xfrm xmlns:a="http://schemas.openxmlformats.org/drawingml/2006/main">
            <a:off x="2819400" y="204787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592"/>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调用 Picoclaw agent；可做动态澄清与 schema validation。</a:t>
            </a:r>
          </a:p>
        </p:txBody>
      </p:sp>
      <p:sp>
        <p:nvSpPr>
          <p:cNvPr id="10" name="kind-1">
            <a:extLst xmlns:a="http://schemas.openxmlformats.org/drawingml/2006/main">
              <a:ext uri="{FF2B5EF4-FFF2-40B4-BE49-F238E27FC236}">
                <a16:creationId xmlns:a16="http://schemas.microsoft.com/office/drawing/2014/main" id="{5BA60AEB-87E4-401A-A830-C728A1681BE6}"/>
              </a:ext>
            </a:extLst>
          </p:cNvPr>
          <p:cNvSpPr>
            <a:spLocks xmlns:a="http://schemas.openxmlformats.org/drawingml/2006/main" noGrp="1"/>
          </p:cNvSpPr>
          <p:nvPr/>
        </p:nvSpPr>
        <p:spPr>
          <a:xfrm xmlns:a="http://schemas.openxmlformats.org/drawingml/2006/main">
            <a:off x="6496050" y="1857375"/>
            <a:ext cx="489585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1" name="kind-bar-1">
            <a:extLst xmlns:a="http://schemas.openxmlformats.org/drawingml/2006/main">
              <a:ext uri="{FF2B5EF4-FFF2-40B4-BE49-F238E27FC236}">
                <a16:creationId xmlns:a16="http://schemas.microsoft.com/office/drawing/2014/main" id="{D159B769-0E51-4631-9C8D-30812DC6CE4B}"/>
              </a:ext>
            </a:extLst>
          </p:cNvPr>
          <p:cNvSpPr>
            <a:spLocks xmlns:a="http://schemas.openxmlformats.org/drawingml/2006/main" noGrp="1"/>
          </p:cNvSpPr>
          <p:nvPr/>
        </p:nvSpPr>
        <p:spPr>
          <a:xfrm xmlns:a="http://schemas.openxmlformats.org/drawingml/2006/main">
            <a:off x="6496050" y="1857375"/>
            <a:ext cx="66675" cy="9525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2" name="kind-name-1">
            <a:extLst xmlns:a="http://schemas.openxmlformats.org/drawingml/2006/main">
              <a:ext uri="{FF2B5EF4-FFF2-40B4-BE49-F238E27FC236}">
                <a16:creationId xmlns:a16="http://schemas.microsoft.com/office/drawing/2014/main" id="{F0C6A3F4-7B5A-46DA-A5DF-6A4A23C78975}"/>
              </a:ext>
            </a:extLst>
          </p:cNvPr>
          <p:cNvSpPr>
            <a:spLocks xmlns:a="http://schemas.openxmlformats.org/drawingml/2006/main" noGrp="1"/>
          </p:cNvSpPr>
          <p:nvPr/>
        </p:nvSpPr>
        <p:spPr>
          <a:xfrm xmlns:a="http://schemas.openxmlformats.org/drawingml/2006/main">
            <a:off x="6762750" y="20478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2000"/>
              </a:lnSpc>
              <a:buNone/>
              <a:defRPr sz="1875" b="1">
                <a:solidFill>
                  <a:srgbClr val="0F766E"/>
                </a:solidFill>
                <a:latin typeface="SF Mono"/>
                <a:ea typeface="SF Mono"/>
                <a:cs typeface="SF Mono"/>
              </a:defRPr>
            </a:pPr>
            <a:r>
              <a:rPr sz="1875" b="1">
                <a:solidFill>
                  <a:srgbClr val="0F766E"/>
                </a:solidFill>
                <a:latin typeface="SF Mono"/>
                <a:ea typeface="SF Mono"/>
                <a:cs typeface="SF Mono"/>
              </a:rPr>
              <a:t>script</a:t>
            </a:r>
          </a:p>
        </p:txBody>
      </p:sp>
      <p:sp>
        <p:nvSpPr>
          <p:cNvPr id="13" name="kind-body-1">
            <a:extLst xmlns:a="http://schemas.openxmlformats.org/drawingml/2006/main">
              <a:ext uri="{FF2B5EF4-FFF2-40B4-BE49-F238E27FC236}">
                <a16:creationId xmlns:a16="http://schemas.microsoft.com/office/drawing/2014/main" id="{A51CCEE9-BFAC-4BCC-AA1F-2DFFE2D54B50}"/>
              </a:ext>
            </a:extLst>
          </p:cNvPr>
          <p:cNvSpPr>
            <a:spLocks xmlns:a="http://schemas.openxmlformats.org/drawingml/2006/main" noGrp="1"/>
          </p:cNvSpPr>
          <p:nvPr/>
        </p:nvSpPr>
        <p:spPr>
          <a:xfrm xmlns:a="http://schemas.openxmlformats.org/drawingml/2006/main">
            <a:off x="8515350" y="204787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通过 ScriptCapability 执行安全 argv；失败可进入 scriptFixer。</a:t>
            </a:r>
          </a:p>
        </p:txBody>
      </p:sp>
      <p:sp>
        <p:nvSpPr>
          <p:cNvPr id="14" name="kind-2">
            <a:extLst xmlns:a="http://schemas.openxmlformats.org/drawingml/2006/main">
              <a:ext uri="{FF2B5EF4-FFF2-40B4-BE49-F238E27FC236}">
                <a16:creationId xmlns:a16="http://schemas.microsoft.com/office/drawing/2014/main" id="{F7B37BF3-562E-4CD7-A195-45C9E5FA69DA}"/>
              </a:ext>
            </a:extLst>
          </p:cNvPr>
          <p:cNvSpPr>
            <a:spLocks xmlns:a="http://schemas.openxmlformats.org/drawingml/2006/main" noGrp="1"/>
          </p:cNvSpPr>
          <p:nvPr/>
        </p:nvSpPr>
        <p:spPr>
          <a:xfrm xmlns:a="http://schemas.openxmlformats.org/drawingml/2006/main">
            <a:off x="800100" y="3114675"/>
            <a:ext cx="48958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15" name="kind-bar-2">
            <a:extLst xmlns:a="http://schemas.openxmlformats.org/drawingml/2006/main">
              <a:ext uri="{FF2B5EF4-FFF2-40B4-BE49-F238E27FC236}">
                <a16:creationId xmlns:a16="http://schemas.microsoft.com/office/drawing/2014/main" id="{EEF1A919-A4FF-4FB9-B0C6-1A45BF20C3DC}"/>
              </a:ext>
            </a:extLst>
          </p:cNvPr>
          <p:cNvSpPr>
            <a:spLocks xmlns:a="http://schemas.openxmlformats.org/drawingml/2006/main" noGrp="1"/>
          </p:cNvSpPr>
          <p:nvPr/>
        </p:nvSpPr>
        <p:spPr>
          <a:xfrm xmlns:a="http://schemas.openxmlformats.org/drawingml/2006/main">
            <a:off x="800100" y="3114675"/>
            <a:ext cx="66675" cy="9525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6" name="kind-name-2">
            <a:extLst xmlns:a="http://schemas.openxmlformats.org/drawingml/2006/main">
              <a:ext uri="{FF2B5EF4-FFF2-40B4-BE49-F238E27FC236}">
                <a16:creationId xmlns:a16="http://schemas.microsoft.com/office/drawing/2014/main" id="{F5A0D89D-D72F-49E1-BDA6-D4D500A7718A}"/>
              </a:ext>
            </a:extLst>
          </p:cNvPr>
          <p:cNvSpPr>
            <a:spLocks xmlns:a="http://schemas.openxmlformats.org/drawingml/2006/main" noGrp="1"/>
          </p:cNvSpPr>
          <p:nvPr/>
        </p:nvSpPr>
        <p:spPr>
          <a:xfrm xmlns:a="http://schemas.openxmlformats.org/drawingml/2006/main">
            <a:off x="1066800" y="33051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2000"/>
              </a:lnSpc>
              <a:buNone/>
              <a:defRPr sz="1875" b="1">
                <a:solidFill>
                  <a:srgbClr val="2563EB"/>
                </a:solidFill>
                <a:latin typeface="SF Mono"/>
                <a:ea typeface="SF Mono"/>
                <a:cs typeface="SF Mono"/>
              </a:defRPr>
            </a:pPr>
            <a:r>
              <a:rPr sz="1875" b="1">
                <a:solidFill>
                  <a:srgbClr val="2563EB"/>
                </a:solidFill>
                <a:latin typeface="SF Mono"/>
                <a:ea typeface="SF Mono"/>
                <a:cs typeface="SF Mono"/>
              </a:rPr>
              <a:t>human_input</a:t>
            </a:r>
          </a:p>
        </p:txBody>
      </p:sp>
      <p:sp>
        <p:nvSpPr>
          <p:cNvPr id="17" name="kind-body-2">
            <a:extLst xmlns:a="http://schemas.openxmlformats.org/drawingml/2006/main">
              <a:ext uri="{FF2B5EF4-FFF2-40B4-BE49-F238E27FC236}">
                <a16:creationId xmlns:a16="http://schemas.microsoft.com/office/drawing/2014/main" id="{0C56219F-F098-4157-B9F0-716F71F1C862}"/>
              </a:ext>
            </a:extLst>
          </p:cNvPr>
          <p:cNvSpPr>
            <a:spLocks xmlns:a="http://schemas.openxmlformats.org/drawingml/2006/main" noGrp="1"/>
          </p:cNvSpPr>
          <p:nvPr/>
        </p:nvSpPr>
        <p:spPr>
          <a:xfrm xmlns:a="http://schemas.openxmlformats.org/drawingml/2006/main">
            <a:off x="2819400" y="330517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47"/>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固定表单或动态 `tt-human-input` 协议等待人工补充。</a:t>
            </a:r>
          </a:p>
        </p:txBody>
      </p:sp>
      <p:sp>
        <p:nvSpPr>
          <p:cNvPr id="18" name="kind-3">
            <a:extLst xmlns:a="http://schemas.openxmlformats.org/drawingml/2006/main">
              <a:ext uri="{FF2B5EF4-FFF2-40B4-BE49-F238E27FC236}">
                <a16:creationId xmlns:a16="http://schemas.microsoft.com/office/drawing/2014/main" id="{D9B4F96E-1F19-4217-8182-622813B0B493}"/>
              </a:ext>
            </a:extLst>
          </p:cNvPr>
          <p:cNvSpPr>
            <a:spLocks xmlns:a="http://schemas.openxmlformats.org/drawingml/2006/main" noGrp="1"/>
          </p:cNvSpPr>
          <p:nvPr/>
        </p:nvSpPr>
        <p:spPr>
          <a:xfrm xmlns:a="http://schemas.openxmlformats.org/drawingml/2006/main">
            <a:off x="6496050" y="3114675"/>
            <a:ext cx="489585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9" name="kind-bar-3">
            <a:extLst xmlns:a="http://schemas.openxmlformats.org/drawingml/2006/main">
              <a:ext uri="{FF2B5EF4-FFF2-40B4-BE49-F238E27FC236}">
                <a16:creationId xmlns:a16="http://schemas.microsoft.com/office/drawing/2014/main" id="{A84B1C9E-DDF0-487B-9591-30CC5231A38A}"/>
              </a:ext>
            </a:extLst>
          </p:cNvPr>
          <p:cNvSpPr>
            <a:spLocks xmlns:a="http://schemas.openxmlformats.org/drawingml/2006/main" noGrp="1"/>
          </p:cNvSpPr>
          <p:nvPr/>
        </p:nvSpPr>
        <p:spPr>
          <a:xfrm xmlns:a="http://schemas.openxmlformats.org/drawingml/2006/main">
            <a:off x="6496050" y="3114675"/>
            <a:ext cx="66675" cy="9525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0" name="kind-name-3">
            <a:extLst xmlns:a="http://schemas.openxmlformats.org/drawingml/2006/main">
              <a:ext uri="{FF2B5EF4-FFF2-40B4-BE49-F238E27FC236}">
                <a16:creationId xmlns:a16="http://schemas.microsoft.com/office/drawing/2014/main" id="{49FED4CA-3C8A-4D7A-AC48-CC9FE56E9033}"/>
              </a:ext>
            </a:extLst>
          </p:cNvPr>
          <p:cNvSpPr>
            <a:spLocks xmlns:a="http://schemas.openxmlformats.org/drawingml/2006/main" noGrp="1"/>
          </p:cNvSpPr>
          <p:nvPr/>
        </p:nvSpPr>
        <p:spPr>
          <a:xfrm xmlns:a="http://schemas.openxmlformats.org/drawingml/2006/main">
            <a:off x="6762750" y="33051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2000"/>
              </a:lnSpc>
              <a:buNone/>
              <a:defRPr sz="1875" b="1">
                <a:solidFill>
                  <a:srgbClr val="F59E0B"/>
                </a:solidFill>
                <a:latin typeface="SF Mono"/>
                <a:ea typeface="SF Mono"/>
                <a:cs typeface="SF Mono"/>
              </a:defRPr>
            </a:pPr>
            <a:r>
              <a:rPr sz="1875" b="1">
                <a:solidFill>
                  <a:srgbClr val="F59E0B"/>
                </a:solidFill>
                <a:latin typeface="SF Mono"/>
                <a:ea typeface="SF Mono"/>
                <a:cs typeface="SF Mono"/>
              </a:rPr>
              <a:t>loop / retry</a:t>
            </a:r>
          </a:p>
        </p:txBody>
      </p:sp>
      <p:sp>
        <p:nvSpPr>
          <p:cNvPr id="21" name="kind-body-3">
            <a:extLst xmlns:a="http://schemas.openxmlformats.org/drawingml/2006/main">
              <a:ext uri="{FF2B5EF4-FFF2-40B4-BE49-F238E27FC236}">
                <a16:creationId xmlns:a16="http://schemas.microsoft.com/office/drawing/2014/main" id="{9FC07B26-7114-4B09-9CCB-FB8A658C7F89}"/>
              </a:ext>
            </a:extLst>
          </p:cNvPr>
          <p:cNvSpPr>
            <a:spLocks xmlns:a="http://schemas.openxmlformats.org/drawingml/2006/main" noGrp="1"/>
          </p:cNvSpPr>
          <p:nvPr/>
        </p:nvSpPr>
        <p:spPr>
          <a:xfrm xmlns:a="http://schemas.openxmlformats.org/drawingml/2006/main">
            <a:off x="8515350" y="330517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16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支持 foreach / parallel、max_concurrency、until 与 attempt-fix cycles。</a:t>
            </a:r>
          </a:p>
        </p:txBody>
      </p:sp>
      <p:sp>
        <p:nvSpPr>
          <p:cNvPr id="22" name="kind-4">
            <a:extLst xmlns:a="http://schemas.openxmlformats.org/drawingml/2006/main">
              <a:ext uri="{FF2B5EF4-FFF2-40B4-BE49-F238E27FC236}">
                <a16:creationId xmlns:a16="http://schemas.microsoft.com/office/drawing/2014/main" id="{4305E5DA-A0DA-499A-9DA3-B12754F24039}"/>
              </a:ext>
            </a:extLst>
          </p:cNvPr>
          <p:cNvSpPr>
            <a:spLocks xmlns:a="http://schemas.openxmlformats.org/drawingml/2006/main" noGrp="1"/>
          </p:cNvSpPr>
          <p:nvPr/>
        </p:nvSpPr>
        <p:spPr>
          <a:xfrm xmlns:a="http://schemas.openxmlformats.org/drawingml/2006/main">
            <a:off x="800100" y="4371975"/>
            <a:ext cx="489585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23" name="kind-bar-4">
            <a:extLst xmlns:a="http://schemas.openxmlformats.org/drawingml/2006/main">
              <a:ext uri="{FF2B5EF4-FFF2-40B4-BE49-F238E27FC236}">
                <a16:creationId xmlns:a16="http://schemas.microsoft.com/office/drawing/2014/main" id="{9832C7C9-F74F-4A24-B376-D8605C94032C}"/>
              </a:ext>
            </a:extLst>
          </p:cNvPr>
          <p:cNvSpPr>
            <a:spLocks xmlns:a="http://schemas.openxmlformats.org/drawingml/2006/main" noGrp="1"/>
          </p:cNvSpPr>
          <p:nvPr/>
        </p:nvSpPr>
        <p:spPr>
          <a:xfrm xmlns:a="http://schemas.openxmlformats.org/drawingml/2006/main">
            <a:off x="800100" y="4371975"/>
            <a:ext cx="66675" cy="9525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kind-name-4">
            <a:extLst xmlns:a="http://schemas.openxmlformats.org/drawingml/2006/main">
              <a:ext uri="{FF2B5EF4-FFF2-40B4-BE49-F238E27FC236}">
                <a16:creationId xmlns:a16="http://schemas.microsoft.com/office/drawing/2014/main" id="{F2255C34-ED4E-40CE-893F-DDF10FF21AE3}"/>
              </a:ext>
            </a:extLst>
          </p:cNvPr>
          <p:cNvSpPr>
            <a:spLocks xmlns:a="http://schemas.openxmlformats.org/drawingml/2006/main" noGrp="1"/>
          </p:cNvSpPr>
          <p:nvPr/>
        </p:nvSpPr>
        <p:spPr>
          <a:xfrm xmlns:a="http://schemas.openxmlformats.org/drawingml/2006/main">
            <a:off x="1066800" y="45624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2000"/>
              </a:lnSpc>
              <a:buNone/>
              <a:defRPr sz="1875" b="1">
                <a:solidFill>
                  <a:srgbClr val="111111"/>
                </a:solidFill>
                <a:latin typeface="SF Mono"/>
                <a:ea typeface="SF Mono"/>
                <a:cs typeface="SF Mono"/>
              </a:defRPr>
            </a:pPr>
            <a:r>
              <a:rPr sz="1875" b="1">
                <a:solidFill>
                  <a:srgbClr val="111111"/>
                </a:solidFill>
                <a:latin typeface="SF Mono"/>
                <a:ea typeface="SF Mono"/>
                <a:cs typeface="SF Mono"/>
              </a:rPr>
              <a:t>aggregate</a:t>
            </a:r>
          </a:p>
        </p:txBody>
      </p:sp>
      <p:sp>
        <p:nvSpPr>
          <p:cNvPr id="25" name="kind-body-4">
            <a:extLst xmlns:a="http://schemas.openxmlformats.org/drawingml/2006/main">
              <a:ext uri="{FF2B5EF4-FFF2-40B4-BE49-F238E27FC236}">
                <a16:creationId xmlns:a16="http://schemas.microsoft.com/office/drawing/2014/main" id="{AE494345-8CE8-41FE-B065-898FE7B2A3AB}"/>
              </a:ext>
            </a:extLst>
          </p:cNvPr>
          <p:cNvSpPr>
            <a:spLocks xmlns:a="http://schemas.openxmlformats.org/drawingml/2006/main" noGrp="1"/>
          </p:cNvSpPr>
          <p:nvPr/>
        </p:nvSpPr>
        <p:spPr>
          <a:xfrm xmlns:a="http://schemas.openxmlformats.org/drawingml/2006/main">
            <a:off x="2819400" y="456247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把已有 context 投影/收集为下游可读结构。</a:t>
            </a:r>
          </a:p>
        </p:txBody>
      </p:sp>
      <p:sp>
        <p:nvSpPr>
          <p:cNvPr id="26" name="kind-5">
            <a:extLst xmlns:a="http://schemas.openxmlformats.org/drawingml/2006/main">
              <a:ext uri="{FF2B5EF4-FFF2-40B4-BE49-F238E27FC236}">
                <a16:creationId xmlns:a16="http://schemas.microsoft.com/office/drawing/2014/main" id="{91F49443-97D0-4C7D-94F3-E54C2EADBC17}"/>
              </a:ext>
            </a:extLst>
          </p:cNvPr>
          <p:cNvSpPr>
            <a:spLocks xmlns:a="http://schemas.openxmlformats.org/drawingml/2006/main" noGrp="1"/>
          </p:cNvSpPr>
          <p:nvPr/>
        </p:nvSpPr>
        <p:spPr>
          <a:xfrm xmlns:a="http://schemas.openxmlformats.org/drawingml/2006/main">
            <a:off x="6496050" y="4371975"/>
            <a:ext cx="489585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27" name="kind-bar-5">
            <a:extLst xmlns:a="http://schemas.openxmlformats.org/drawingml/2006/main">
              <a:ext uri="{FF2B5EF4-FFF2-40B4-BE49-F238E27FC236}">
                <a16:creationId xmlns:a16="http://schemas.microsoft.com/office/drawing/2014/main" id="{ED91CC39-E300-42ED-9CEB-B5887E63B43D}"/>
              </a:ext>
            </a:extLst>
          </p:cNvPr>
          <p:cNvSpPr>
            <a:spLocks xmlns:a="http://schemas.openxmlformats.org/drawingml/2006/main" noGrp="1"/>
          </p:cNvSpPr>
          <p:nvPr/>
        </p:nvSpPr>
        <p:spPr>
          <a:xfrm xmlns:a="http://schemas.openxmlformats.org/drawingml/2006/main">
            <a:off x="6496050" y="4371975"/>
            <a:ext cx="66675" cy="9525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8" name="kind-name-5">
            <a:extLst xmlns:a="http://schemas.openxmlformats.org/drawingml/2006/main">
              <a:ext uri="{FF2B5EF4-FFF2-40B4-BE49-F238E27FC236}">
                <a16:creationId xmlns:a16="http://schemas.microsoft.com/office/drawing/2014/main" id="{9AA0BBB9-9DD7-4B2D-BE2D-2AC82A05E994}"/>
              </a:ext>
            </a:extLst>
          </p:cNvPr>
          <p:cNvSpPr>
            <a:spLocks xmlns:a="http://schemas.openxmlformats.org/drawingml/2006/main" noGrp="1"/>
          </p:cNvSpPr>
          <p:nvPr/>
        </p:nvSpPr>
        <p:spPr>
          <a:xfrm xmlns:a="http://schemas.openxmlformats.org/drawingml/2006/main">
            <a:off x="6762750" y="45624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333"/>
          </a:bodyPr>
          <a:lstStyle xmlns:a="http://schemas.openxmlformats.org/drawingml/2006/main"/>
          <a:p xmlns:a="http://schemas.openxmlformats.org/drawingml/2006/main">
            <a:pPr algn="l">
              <a:lnSpc>
                <a:spcPct val="112000"/>
              </a:lnSpc>
              <a:buNone/>
              <a:defRPr sz="1875" b="1">
                <a:solidFill>
                  <a:srgbClr val="FF6B35"/>
                </a:solidFill>
                <a:latin typeface="SF Mono"/>
                <a:ea typeface="SF Mono"/>
                <a:cs typeface="SF Mono"/>
              </a:defRPr>
            </a:pPr>
            <a:r>
              <a:rPr sz="1875" b="1">
                <a:solidFill>
                  <a:srgbClr val="FF6B35"/>
                </a:solidFill>
                <a:latin typeface="SF Mono"/>
                <a:ea typeface="SF Mono"/>
                <a:cs typeface="SF Mono"/>
              </a:rPr>
              <a:t>tool / write_files</a:t>
            </a:r>
          </a:p>
        </p:txBody>
      </p:sp>
      <p:sp>
        <p:nvSpPr>
          <p:cNvPr id="29" name="kind-body-5">
            <a:extLst xmlns:a="http://schemas.openxmlformats.org/drawingml/2006/main">
              <a:ext uri="{FF2B5EF4-FFF2-40B4-BE49-F238E27FC236}">
                <a16:creationId xmlns:a16="http://schemas.microsoft.com/office/drawing/2014/main" id="{C0ED0E0D-E0A2-4B54-BEF7-C44D727511E4}"/>
              </a:ext>
            </a:extLst>
          </p:cNvPr>
          <p:cNvSpPr>
            <a:spLocks xmlns:a="http://schemas.openxmlformats.org/drawingml/2006/main" noGrp="1"/>
          </p:cNvSpPr>
          <p:nvPr/>
        </p:nvSpPr>
        <p:spPr>
          <a:xfrm xmlns:a="http://schemas.openxmlformats.org/drawingml/2006/main">
            <a:off x="8515350" y="4562475"/>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0">
                <a:solidFill>
                  <a:srgbClr val="555555"/>
                </a:solidFill>
                <a:latin typeface="PingFang SC"/>
                <a:ea typeface="PingFang SC"/>
                <a:cs typeface="PingFang SC"/>
              </a:defRPr>
            </a:pPr>
            <a:r>
              <a:rPr sz="1350" b="0">
                <a:solidFill>
                  <a:srgbClr val="555555"/>
                </a:solidFill>
                <a:latin typeface="PingFang SC"/>
                <a:ea typeface="PingFang SC"/>
                <a:cs typeface="PingFang SC"/>
              </a:rPr>
              <a:t>确定性工具与文件写入，减少用 agent 做机械动作。</a:t>
            </a:r>
          </a:p>
        </p:txBody>
      </p:sp>
    </p:spTree>
    <p:extLst>
      <p:ext uri="{BB962C8B-B14F-4D97-AF65-F5344CB8AC3E}">
        <p14:creationId xmlns:p14="http://schemas.microsoft.com/office/powerpoint/2010/main" val="207937450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CF662566-08D1-4030-88A3-CAF9C226D44A}"/>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observability</a:t>
            </a:r>
          </a:p>
        </p:txBody>
      </p:sp>
      <p:sp>
        <p:nvSpPr>
          <p:cNvPr id="2" name="title">
            <a:extLst xmlns:a="http://schemas.openxmlformats.org/drawingml/2006/main">
              <a:ext uri="{FF2B5EF4-FFF2-40B4-BE49-F238E27FC236}">
                <a16:creationId xmlns:a16="http://schemas.microsoft.com/office/drawing/2014/main" id="{B9471D15-09DB-4FAA-9D69-D410B21B9A30}"/>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Run store 与 Dashboard</a:t>
            </a:r>
          </a:p>
        </p:txBody>
      </p:sp>
      <p:sp>
        <p:nvSpPr>
          <p:cNvPr id="3" name="subtitle">
            <a:extLst xmlns:a="http://schemas.openxmlformats.org/drawingml/2006/main">
              <a:ext uri="{FF2B5EF4-FFF2-40B4-BE49-F238E27FC236}">
                <a16:creationId xmlns:a16="http://schemas.microsoft.com/office/drawing/2014/main" id="{42ED1CD1-CC23-425E-837E-C53D891D4EE6}"/>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Formula 不是只跑完给结果，而是把运行过程保存为可恢复、可审计的目录。</a:t>
            </a:r>
          </a:p>
        </p:txBody>
      </p:sp>
      <p:sp>
        <p:nvSpPr>
          <p:cNvPr id="4" name="footer-left">
            <a:extLst xmlns:a="http://schemas.openxmlformats.org/drawingml/2006/main">
              <a:ext uri="{FF2B5EF4-FFF2-40B4-BE49-F238E27FC236}">
                <a16:creationId xmlns:a16="http://schemas.microsoft.com/office/drawing/2014/main" id="{155F0FFD-D6BC-4B15-A570-C1A4F95E0542}"/>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253E4C2F-622B-4AC4-8FF8-BB7DD35EB594}"/>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12</a:t>
            </a:r>
          </a:p>
        </p:txBody>
      </p:sp>
      <p:sp>
        <p:nvSpPr>
          <p:cNvPr id="6" name="tree-bg">
            <a:extLst xmlns:a="http://schemas.openxmlformats.org/drawingml/2006/main">
              <a:ext uri="{FF2B5EF4-FFF2-40B4-BE49-F238E27FC236}">
                <a16:creationId xmlns:a16="http://schemas.microsoft.com/office/drawing/2014/main" id="{4A3AB95D-F936-4245-A39C-9BDED8D7EE15}"/>
              </a:ext>
            </a:extLst>
          </p:cNvPr>
          <p:cNvSpPr>
            <a:spLocks xmlns:a="http://schemas.openxmlformats.org/drawingml/2006/main" noGrp="1"/>
          </p:cNvSpPr>
          <p:nvPr/>
        </p:nvSpPr>
        <p:spPr>
          <a:xfrm xmlns:a="http://schemas.openxmlformats.org/drawingml/2006/main">
            <a:off x="704850" y="2000250"/>
            <a:ext cx="4476750" cy="31432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7" name="tree">
            <a:extLst xmlns:a="http://schemas.openxmlformats.org/drawingml/2006/main">
              <a:ext uri="{FF2B5EF4-FFF2-40B4-BE49-F238E27FC236}">
                <a16:creationId xmlns:a16="http://schemas.microsoft.com/office/drawing/2014/main" id="{EA520C80-8374-4035-865E-1BF4A3F760AD}"/>
              </a:ext>
            </a:extLst>
          </p:cNvPr>
          <p:cNvSpPr>
            <a:spLocks xmlns:a="http://schemas.openxmlformats.org/drawingml/2006/main" noGrp="1"/>
          </p:cNvSpPr>
          <p:nvPr/>
        </p:nvSpPr>
        <p:spPr>
          <a:xfrm xmlns:a="http://schemas.openxmlformats.org/drawingml/2006/main">
            <a:off x="1000125" y="2305050"/>
            <a:ext cx="390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800" b="0">
                <a:solidFill>
                  <a:srgbClr val="FFFFFF"/>
                </a:solidFill>
                <a:latin typeface="SF Mono"/>
                <a:ea typeface="SF Mono"/>
                <a:cs typeface="SF Mono"/>
              </a:defRPr>
            </a:pPr>
            <a:r>
              <a:rPr sz="1800" b="0">
                <a:solidFill>
                  <a:srgbClr val="FFFFFF"/>
                </a:solidFill>
                <a:latin typeface="SF Mono"/>
                <a:ea typeface="SF Mono"/>
                <a:cs typeface="SF Mono"/>
              </a:rPr>
              <a:t>.tt/runs/formula/&lt;formula&gt;/&lt;run-id&gt;/</a:t>
            </a:r>
          </a:p>
          <a:p xmlns:a="http://schemas.openxmlformats.org/drawingml/2006/main">
            <a:pPr algn="l">
              <a:lnSpc>
                <a:spcPct val="122000"/>
              </a:lnSpc>
              <a:buNone/>
              <a:defRPr sz="1800" b="0">
                <a:solidFill>
                  <a:srgbClr val="FFFFFF"/>
                </a:solidFill>
                <a:latin typeface="SF Mono"/>
                <a:ea typeface="SF Mono"/>
                <a:cs typeface="SF Mono"/>
              </a:defRPr>
            </a:pPr>
            <a:r>
              <a:rPr sz="1800" b="0">
                <a:solidFill>
                  <a:srgbClr val="FFFFFF"/>
                </a:solidFill>
                <a:latin typeface="SF Mono"/>
                <a:ea typeface="SF Mono"/>
                <a:cs typeface="SF Mono"/>
              </a:rPr>
              <a:t>  run.json</a:t>
            </a:r>
          </a:p>
          <a:p xmlns:a="http://schemas.openxmlformats.org/drawingml/2006/main">
            <a:pPr algn="l">
              <a:lnSpc>
                <a:spcPct val="122000"/>
              </a:lnSpc>
              <a:buNone/>
              <a:defRPr sz="1800" b="0">
                <a:solidFill>
                  <a:srgbClr val="FFFFFF"/>
                </a:solidFill>
                <a:latin typeface="SF Mono"/>
                <a:ea typeface="SF Mono"/>
                <a:cs typeface="SF Mono"/>
              </a:defRPr>
            </a:pPr>
            <a:r>
              <a:rPr sz="1800" b="0">
                <a:solidFill>
                  <a:srgbClr val="FFFFFF"/>
                </a:solidFill>
                <a:latin typeface="SF Mono"/>
                <a:ea typeface="SF Mono"/>
                <a:cs typeface="SF Mono"/>
              </a:rPr>
              <a:t>  workflow.json</a:t>
            </a:r>
          </a:p>
          <a:p xmlns:a="http://schemas.openxmlformats.org/drawingml/2006/main">
            <a:pPr algn="l">
              <a:lnSpc>
                <a:spcPct val="122000"/>
              </a:lnSpc>
              <a:buNone/>
              <a:defRPr sz="1800" b="0">
                <a:solidFill>
                  <a:srgbClr val="FFFFFF"/>
                </a:solidFill>
                <a:latin typeface="SF Mono"/>
                <a:ea typeface="SF Mono"/>
                <a:cs typeface="SF Mono"/>
              </a:defRPr>
            </a:pPr>
            <a:r>
              <a:rPr sz="1800" b="0">
                <a:solidFill>
                  <a:srgbClr val="FFFFFF"/>
                </a:solidFill>
                <a:latin typeface="SF Mono"/>
                <a:ea typeface="SF Mono"/>
                <a:cs typeface="SF Mono"/>
              </a:rPr>
              <a:t>  state.json</a:t>
            </a:r>
          </a:p>
          <a:p xmlns:a="http://schemas.openxmlformats.org/drawingml/2006/main">
            <a:pPr algn="l">
              <a:lnSpc>
                <a:spcPct val="122000"/>
              </a:lnSpc>
              <a:buNone/>
              <a:defRPr sz="1800" b="0">
                <a:solidFill>
                  <a:srgbClr val="FFFFFF"/>
                </a:solidFill>
                <a:latin typeface="SF Mono"/>
                <a:ea typeface="SF Mono"/>
                <a:cs typeface="SF Mono"/>
              </a:defRPr>
            </a:pPr>
            <a:r>
              <a:rPr sz="1800" b="0">
                <a:solidFill>
                  <a:srgbClr val="FFFFFF"/>
                </a:solidFill>
                <a:latin typeface="SF Mono"/>
                <a:ea typeface="SF Mono"/>
                <a:cs typeface="SF Mono"/>
              </a:rPr>
              <a:t>  logs.jsonl</a:t>
            </a:r>
          </a:p>
          <a:p xmlns:a="http://schemas.openxmlformats.org/drawingml/2006/main">
            <a:pPr algn="l">
              <a:lnSpc>
                <a:spcPct val="122000"/>
              </a:lnSpc>
              <a:buNone/>
              <a:defRPr sz="1800" b="0">
                <a:solidFill>
                  <a:srgbClr val="FFFFFF"/>
                </a:solidFill>
                <a:latin typeface="SF Mono"/>
                <a:ea typeface="SF Mono"/>
                <a:cs typeface="SF Mono"/>
              </a:defRPr>
            </a:pPr>
            <a:r>
              <a:rPr sz="1800" b="0">
                <a:solidFill>
                  <a:srgbClr val="FFFFFF"/>
                </a:solidFill>
                <a:latin typeface="SF Mono"/>
                <a:ea typeface="SF Mono"/>
                <a:cs typeface="SF Mono"/>
              </a:rPr>
              <a:t>  steps/</a:t>
            </a:r>
          </a:p>
          <a:p xmlns:a="http://schemas.openxmlformats.org/drawingml/2006/main">
            <a:pPr algn="l">
              <a:lnSpc>
                <a:spcPct val="122000"/>
              </a:lnSpc>
              <a:buNone/>
              <a:defRPr sz="1800" b="0">
                <a:solidFill>
                  <a:srgbClr val="FFFFFF"/>
                </a:solidFill>
                <a:latin typeface="SF Mono"/>
                <a:ea typeface="SF Mono"/>
                <a:cs typeface="SF Mono"/>
              </a:defRPr>
            </a:pPr>
            <a:r>
              <a:rPr sz="1800" b="0">
                <a:solidFill>
                  <a:srgbClr val="FFFFFF"/>
                </a:solidFill>
                <a:latin typeface="SF Mono"/>
                <a:ea typeface="SF Mono"/>
                <a:cs typeface="SF Mono"/>
              </a:rPr>
              <a:t>  patches/&lt;run-id&gt;.json</a:t>
            </a:r>
          </a:p>
        </p:txBody>
      </p:sp>
      <p:sp>
        <p:nvSpPr>
          <p:cNvPr id="8" name="obs-0-panel">
            <a:extLst xmlns:a="http://schemas.openxmlformats.org/drawingml/2006/main">
              <a:ext uri="{FF2B5EF4-FFF2-40B4-BE49-F238E27FC236}">
                <a16:creationId xmlns:a16="http://schemas.microsoft.com/office/drawing/2014/main" id="{DE05A8A3-B7D2-4A8A-AC1F-966FD5C35CB8}"/>
              </a:ext>
            </a:extLst>
          </p:cNvPr>
          <p:cNvSpPr>
            <a:spLocks xmlns:a="http://schemas.openxmlformats.org/drawingml/2006/main" noGrp="1"/>
          </p:cNvSpPr>
          <p:nvPr/>
        </p:nvSpPr>
        <p:spPr>
          <a:xfrm xmlns:a="http://schemas.openxmlformats.org/drawingml/2006/main">
            <a:off x="5810250" y="1952625"/>
            <a:ext cx="5334000" cy="8382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9" name="obs-0-accent">
            <a:extLst xmlns:a="http://schemas.openxmlformats.org/drawingml/2006/main">
              <a:ext uri="{FF2B5EF4-FFF2-40B4-BE49-F238E27FC236}">
                <a16:creationId xmlns:a16="http://schemas.microsoft.com/office/drawing/2014/main" id="{074D2A5C-97F7-474A-9566-2B99F1D07309}"/>
              </a:ext>
            </a:extLst>
          </p:cNvPr>
          <p:cNvSpPr>
            <a:spLocks xmlns:a="http://schemas.openxmlformats.org/drawingml/2006/main" noGrp="1"/>
          </p:cNvSpPr>
          <p:nvPr/>
        </p:nvSpPr>
        <p:spPr>
          <a:xfrm xmlns:a="http://schemas.openxmlformats.org/drawingml/2006/main">
            <a:off x="5810250" y="1952625"/>
            <a:ext cx="66675" cy="8382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10" name="obs-0-label">
            <a:extLst xmlns:a="http://schemas.openxmlformats.org/drawingml/2006/main">
              <a:ext uri="{FF2B5EF4-FFF2-40B4-BE49-F238E27FC236}">
                <a16:creationId xmlns:a16="http://schemas.microsoft.com/office/drawing/2014/main" id="{39F2CC52-7390-47E3-A22D-6B279772B864}"/>
              </a:ext>
            </a:extLst>
          </p:cNvPr>
          <p:cNvSpPr>
            <a:spLocks xmlns:a="http://schemas.openxmlformats.org/drawingml/2006/main" noGrp="1"/>
          </p:cNvSpPr>
          <p:nvPr/>
        </p:nvSpPr>
        <p:spPr>
          <a:xfrm xmlns:a="http://schemas.openxmlformats.org/drawingml/2006/main">
            <a:off x="6019800" y="2162175"/>
            <a:ext cx="491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状态可恢复</a:t>
            </a:r>
          </a:p>
        </p:txBody>
      </p:sp>
      <p:sp>
        <p:nvSpPr>
          <p:cNvPr id="11" name="obs-0-body">
            <a:extLst xmlns:a="http://schemas.openxmlformats.org/drawingml/2006/main">
              <a:ext uri="{FF2B5EF4-FFF2-40B4-BE49-F238E27FC236}">
                <a16:creationId xmlns:a16="http://schemas.microsoft.com/office/drawing/2014/main" id="{97006A5E-792B-47C7-AFFE-D69C68ACABBC}"/>
              </a:ext>
            </a:extLst>
          </p:cNvPr>
          <p:cNvSpPr>
            <a:spLocks xmlns:a="http://schemas.openxmlformats.org/drawingml/2006/main" noGrp="1"/>
          </p:cNvSpPr>
          <p:nvPr/>
        </p:nvSpPr>
        <p:spPr>
          <a:xfrm xmlns:a="http://schemas.openxmlformats.org/drawingml/2006/main">
            <a:off x="6019800" y="2581275"/>
            <a:ext cx="4914900" cy="38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486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resume 可以跳过已完成步骤，恢复 step-id context，继续等待中的 human input。</a:t>
            </a:r>
          </a:p>
        </p:txBody>
      </p:sp>
      <p:sp>
        <p:nvSpPr>
          <p:cNvPr id="12" name="obs-1-panel">
            <a:extLst xmlns:a="http://schemas.openxmlformats.org/drawingml/2006/main">
              <a:ext uri="{FF2B5EF4-FFF2-40B4-BE49-F238E27FC236}">
                <a16:creationId xmlns:a16="http://schemas.microsoft.com/office/drawing/2014/main" id="{8C0C0AEA-84D6-440A-8D44-228BE5147D20}"/>
              </a:ext>
            </a:extLst>
          </p:cNvPr>
          <p:cNvSpPr>
            <a:spLocks xmlns:a="http://schemas.openxmlformats.org/drawingml/2006/main" noGrp="1"/>
          </p:cNvSpPr>
          <p:nvPr/>
        </p:nvSpPr>
        <p:spPr>
          <a:xfrm xmlns:a="http://schemas.openxmlformats.org/drawingml/2006/main">
            <a:off x="5810250" y="3057525"/>
            <a:ext cx="5334000" cy="8382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3" name="obs-1-accent">
            <a:extLst xmlns:a="http://schemas.openxmlformats.org/drawingml/2006/main">
              <a:ext uri="{FF2B5EF4-FFF2-40B4-BE49-F238E27FC236}">
                <a16:creationId xmlns:a16="http://schemas.microsoft.com/office/drawing/2014/main" id="{593E8253-780C-4364-9577-9C9C1D826683}"/>
              </a:ext>
            </a:extLst>
          </p:cNvPr>
          <p:cNvSpPr>
            <a:spLocks xmlns:a="http://schemas.openxmlformats.org/drawingml/2006/main" noGrp="1"/>
          </p:cNvSpPr>
          <p:nvPr/>
        </p:nvSpPr>
        <p:spPr>
          <a:xfrm xmlns:a="http://schemas.openxmlformats.org/drawingml/2006/main">
            <a:off x="5810250" y="3057525"/>
            <a:ext cx="66675" cy="838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obs-1-label">
            <a:extLst xmlns:a="http://schemas.openxmlformats.org/drawingml/2006/main">
              <a:ext uri="{FF2B5EF4-FFF2-40B4-BE49-F238E27FC236}">
                <a16:creationId xmlns:a16="http://schemas.microsoft.com/office/drawing/2014/main" id="{0FADD59F-2896-49C7-BC71-E66F197914CE}"/>
              </a:ext>
            </a:extLst>
          </p:cNvPr>
          <p:cNvSpPr>
            <a:spLocks xmlns:a="http://schemas.openxmlformats.org/drawingml/2006/main" noGrp="1"/>
          </p:cNvSpPr>
          <p:nvPr/>
        </p:nvSpPr>
        <p:spPr>
          <a:xfrm xmlns:a="http://schemas.openxmlformats.org/drawingml/2006/main">
            <a:off x="6019800" y="3267075"/>
            <a:ext cx="491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过程可观察</a:t>
            </a:r>
          </a:p>
        </p:txBody>
      </p:sp>
      <p:sp>
        <p:nvSpPr>
          <p:cNvPr id="15" name="obs-1-body">
            <a:extLst xmlns:a="http://schemas.openxmlformats.org/drawingml/2006/main">
              <a:ext uri="{FF2B5EF4-FFF2-40B4-BE49-F238E27FC236}">
                <a16:creationId xmlns:a16="http://schemas.microsoft.com/office/drawing/2014/main" id="{1847DE3B-B8D4-41AF-A69F-C5D250A12C36}"/>
              </a:ext>
            </a:extLst>
          </p:cNvPr>
          <p:cNvSpPr>
            <a:spLocks xmlns:a="http://schemas.openxmlformats.org/drawingml/2006/main" noGrp="1"/>
          </p:cNvSpPr>
          <p:nvPr/>
        </p:nvSpPr>
        <p:spPr>
          <a:xfrm xmlns:a="http://schemas.openxmlformats.org/drawingml/2006/main">
            <a:off x="6019800" y="3686175"/>
            <a:ext cx="4914900" cy="38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486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timeline、step output、workspace ready、repair recorded 都能推给 dashboard。</a:t>
            </a:r>
          </a:p>
        </p:txBody>
      </p:sp>
      <p:sp>
        <p:nvSpPr>
          <p:cNvPr id="16" name="obs-2-panel">
            <a:extLst xmlns:a="http://schemas.openxmlformats.org/drawingml/2006/main">
              <a:ext uri="{FF2B5EF4-FFF2-40B4-BE49-F238E27FC236}">
                <a16:creationId xmlns:a16="http://schemas.microsoft.com/office/drawing/2014/main" id="{D5DC2E11-49F6-403A-BB93-C9EF822B63C9}"/>
              </a:ext>
            </a:extLst>
          </p:cNvPr>
          <p:cNvSpPr>
            <a:spLocks xmlns:a="http://schemas.openxmlformats.org/drawingml/2006/main" noGrp="1"/>
          </p:cNvSpPr>
          <p:nvPr/>
        </p:nvSpPr>
        <p:spPr>
          <a:xfrm xmlns:a="http://schemas.openxmlformats.org/drawingml/2006/main">
            <a:off x="5810250" y="4162425"/>
            <a:ext cx="5334000" cy="8382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7" name="obs-2-accent">
            <a:extLst xmlns:a="http://schemas.openxmlformats.org/drawingml/2006/main">
              <a:ext uri="{FF2B5EF4-FFF2-40B4-BE49-F238E27FC236}">
                <a16:creationId xmlns:a16="http://schemas.microsoft.com/office/drawing/2014/main" id="{2369517A-6EA8-4110-952C-F6340DF8342D}"/>
              </a:ext>
            </a:extLst>
          </p:cNvPr>
          <p:cNvSpPr>
            <a:spLocks xmlns:a="http://schemas.openxmlformats.org/drawingml/2006/main" noGrp="1"/>
          </p:cNvSpPr>
          <p:nvPr/>
        </p:nvSpPr>
        <p:spPr>
          <a:xfrm xmlns:a="http://schemas.openxmlformats.org/drawingml/2006/main">
            <a:off x="5810250" y="4162425"/>
            <a:ext cx="66675" cy="8382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8" name="obs-2-label">
            <a:extLst xmlns:a="http://schemas.openxmlformats.org/drawingml/2006/main">
              <a:ext uri="{FF2B5EF4-FFF2-40B4-BE49-F238E27FC236}">
                <a16:creationId xmlns:a16="http://schemas.microsoft.com/office/drawing/2014/main" id="{E2005A5A-C4A8-456A-81A0-8B2E08527907}"/>
              </a:ext>
            </a:extLst>
          </p:cNvPr>
          <p:cNvSpPr>
            <a:spLocks xmlns:a="http://schemas.openxmlformats.org/drawingml/2006/main" noGrp="1"/>
          </p:cNvSpPr>
          <p:nvPr/>
        </p:nvSpPr>
        <p:spPr>
          <a:xfrm xmlns:a="http://schemas.openxmlformats.org/drawingml/2006/main">
            <a:off x="6019800" y="4371975"/>
            <a:ext cx="491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修复可审计</a:t>
            </a:r>
          </a:p>
        </p:txBody>
      </p:sp>
      <p:sp>
        <p:nvSpPr>
          <p:cNvPr id="19" name="obs-2-body">
            <a:extLst xmlns:a="http://schemas.openxmlformats.org/drawingml/2006/main">
              <a:ext uri="{FF2B5EF4-FFF2-40B4-BE49-F238E27FC236}">
                <a16:creationId xmlns:a16="http://schemas.microsoft.com/office/drawing/2014/main" id="{FDF7B0EA-DFAD-47F9-87AB-7AF2800D201B}"/>
              </a:ext>
            </a:extLst>
          </p:cNvPr>
          <p:cNvSpPr>
            <a:spLocks xmlns:a="http://schemas.openxmlformats.org/drawingml/2006/main" noGrp="1"/>
          </p:cNvSpPr>
          <p:nvPr/>
        </p:nvSpPr>
        <p:spPr>
          <a:xfrm xmlns:a="http://schemas.openxmlformats.org/drawingml/2006/main">
            <a:off x="6019800" y="4791075"/>
            <a:ext cx="4914900" cy="38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4868"/>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RepairRecord 写入 state 与 patches JSON；dashboard 需要人工 Confirm reviewed。</a:t>
            </a:r>
          </a:p>
        </p:txBody>
      </p:sp>
    </p:spTree>
    <p:extLst>
      <p:ext uri="{BB962C8B-B14F-4D97-AF65-F5344CB8AC3E}">
        <p14:creationId xmlns:p14="http://schemas.microsoft.com/office/powerpoint/2010/main" val="1034153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DB137B4A-4455-4501-A1A8-01384C437091}"/>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builtin assets</a:t>
            </a:r>
          </a:p>
        </p:txBody>
      </p:sp>
      <p:sp>
        <p:nvSpPr>
          <p:cNvPr id="2" name="title">
            <a:extLst xmlns:a="http://schemas.openxmlformats.org/drawingml/2006/main">
              <a:ext uri="{FF2B5EF4-FFF2-40B4-BE49-F238E27FC236}">
                <a16:creationId xmlns:a16="http://schemas.microsoft.com/office/drawing/2014/main" id="{DEF426E6-E4BC-436C-9088-71AF55FD6365}"/>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内置 Formula 资产库</a:t>
            </a:r>
          </a:p>
        </p:txBody>
      </p:sp>
      <p:sp>
        <p:nvSpPr>
          <p:cNvPr id="3" name="subtitle">
            <a:extLst xmlns:a="http://schemas.openxmlformats.org/drawingml/2006/main">
              <a:ext uri="{FF2B5EF4-FFF2-40B4-BE49-F238E27FC236}">
                <a16:creationId xmlns:a16="http://schemas.microsoft.com/office/drawing/2014/main" id="{305A03C5-B499-4DB5-92BE-BF83244D2711}"/>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当前源码包含 24 个 builtin formulas 和 4 个 atomics。</a:t>
            </a:r>
          </a:p>
        </p:txBody>
      </p:sp>
      <p:sp>
        <p:nvSpPr>
          <p:cNvPr id="4" name="footer-left">
            <a:extLst xmlns:a="http://schemas.openxmlformats.org/drawingml/2006/main">
              <a:ext uri="{FF2B5EF4-FFF2-40B4-BE49-F238E27FC236}">
                <a16:creationId xmlns:a16="http://schemas.microsoft.com/office/drawing/2014/main" id="{DC5F3239-32D2-4F7C-AEFE-A819D55AA1F9}"/>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F8DAE3C3-3C9E-447D-80CF-DDAE298A603D}"/>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13</a:t>
            </a:r>
          </a:p>
        </p:txBody>
      </p:sp>
      <p:sp>
        <p:nvSpPr>
          <p:cNvPr id="6" name="cat-name-engineering">
            <a:extLst xmlns:a="http://schemas.openxmlformats.org/drawingml/2006/main">
              <a:ext uri="{FF2B5EF4-FFF2-40B4-BE49-F238E27FC236}">
                <a16:creationId xmlns:a16="http://schemas.microsoft.com/office/drawing/2014/main" id="{47AE2B07-8916-4E39-B2F4-8D7213DEC5CE}"/>
              </a:ext>
            </a:extLst>
          </p:cNvPr>
          <p:cNvSpPr>
            <a:spLocks xmlns:a="http://schemas.openxmlformats.org/drawingml/2006/main" noGrp="1"/>
          </p:cNvSpPr>
          <p:nvPr/>
        </p:nvSpPr>
        <p:spPr>
          <a:xfrm xmlns:a="http://schemas.openxmlformats.org/drawingml/2006/main">
            <a:off x="666750" y="20288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FF6B35"/>
                </a:solidFill>
                <a:latin typeface="SF Mono"/>
                <a:ea typeface="SF Mono"/>
                <a:cs typeface="SF Mono"/>
              </a:defRPr>
            </a:pPr>
            <a:r>
              <a:rPr sz="1650" b="1">
                <a:solidFill>
                  <a:srgbClr val="FF6B35"/>
                </a:solidFill>
                <a:latin typeface="SF Mono"/>
                <a:ea typeface="SF Mono"/>
                <a:cs typeface="SF Mono"/>
              </a:rPr>
              <a:t>engineering</a:t>
            </a:r>
          </a:p>
        </p:txBody>
      </p:sp>
      <p:sp>
        <p:nvSpPr>
          <p:cNvPr id="7" name="bar-bg-engineering">
            <a:extLst xmlns:a="http://schemas.openxmlformats.org/drawingml/2006/main">
              <a:ext uri="{FF2B5EF4-FFF2-40B4-BE49-F238E27FC236}">
                <a16:creationId xmlns:a16="http://schemas.microsoft.com/office/drawing/2014/main" id="{B276C08C-CD4F-41BC-BB59-2FB536AFDCFD}"/>
              </a:ext>
            </a:extLst>
          </p:cNvPr>
          <p:cNvSpPr>
            <a:spLocks xmlns:a="http://schemas.openxmlformats.org/drawingml/2006/main" noGrp="1"/>
          </p:cNvSpPr>
          <p:nvPr/>
        </p:nvSpPr>
        <p:spPr>
          <a:xfrm xmlns:a="http://schemas.openxmlformats.org/drawingml/2006/main">
            <a:off x="2571750" y="2066925"/>
            <a:ext cx="4953000" cy="228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bar-engineering">
            <a:extLst xmlns:a="http://schemas.openxmlformats.org/drawingml/2006/main">
              <a:ext uri="{FF2B5EF4-FFF2-40B4-BE49-F238E27FC236}">
                <a16:creationId xmlns:a16="http://schemas.microsoft.com/office/drawing/2014/main" id="{DEAF65A9-769D-4453-B31A-87859D7CEE53}"/>
              </a:ext>
            </a:extLst>
          </p:cNvPr>
          <p:cNvSpPr>
            <a:spLocks xmlns:a="http://schemas.openxmlformats.org/drawingml/2006/main" noGrp="1"/>
          </p:cNvSpPr>
          <p:nvPr/>
        </p:nvSpPr>
        <p:spPr>
          <a:xfrm xmlns:a="http://schemas.openxmlformats.org/drawingml/2006/main">
            <a:off x="2571750" y="2066925"/>
            <a:ext cx="3962400" cy="2286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9" name="count-engineering">
            <a:extLst xmlns:a="http://schemas.openxmlformats.org/drawingml/2006/main">
              <a:ext uri="{FF2B5EF4-FFF2-40B4-BE49-F238E27FC236}">
                <a16:creationId xmlns:a16="http://schemas.microsoft.com/office/drawing/2014/main" id="{50F299E1-676C-4EE6-886E-99F908D7F006}"/>
              </a:ext>
            </a:extLst>
          </p:cNvPr>
          <p:cNvSpPr>
            <a:spLocks xmlns:a="http://schemas.openxmlformats.org/drawingml/2006/main" noGrp="1"/>
          </p:cNvSpPr>
          <p:nvPr/>
        </p:nvSpPr>
        <p:spPr>
          <a:xfrm xmlns:a="http://schemas.openxmlformats.org/drawingml/2006/main">
            <a:off x="7734300" y="20193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FF6B35"/>
                </a:solidFill>
                <a:latin typeface="PingFang SC"/>
                <a:ea typeface="PingFang SC"/>
                <a:cs typeface="PingFang SC"/>
              </a:defRPr>
            </a:pPr>
            <a:r>
              <a:rPr sz="1650" b="1">
                <a:solidFill>
                  <a:srgbClr val="FF6B35"/>
                </a:solidFill>
                <a:latin typeface="PingFang SC"/>
                <a:ea typeface="PingFang SC"/>
                <a:cs typeface="PingFang SC"/>
              </a:rPr>
              <a:t>8</a:t>
            </a:r>
          </a:p>
        </p:txBody>
      </p:sp>
      <p:sp>
        <p:nvSpPr>
          <p:cNvPr id="10" name="desc-engineering">
            <a:extLst xmlns:a="http://schemas.openxmlformats.org/drawingml/2006/main">
              <a:ext uri="{FF2B5EF4-FFF2-40B4-BE49-F238E27FC236}">
                <a16:creationId xmlns:a16="http://schemas.microsoft.com/office/drawing/2014/main" id="{BAD993C5-20F3-49D0-8EA8-A5C0EDB228EE}"/>
              </a:ext>
            </a:extLst>
          </p:cNvPr>
          <p:cNvSpPr>
            <a:spLocks xmlns:a="http://schemas.openxmlformats.org/drawingml/2006/main" noGrp="1"/>
          </p:cNvSpPr>
          <p:nvPr/>
        </p:nvSpPr>
        <p:spPr>
          <a:xfrm xmlns:a="http://schemas.openxmlformats.org/drawingml/2006/main">
            <a:off x="8334375" y="20288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274"/>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feature, bug-fix, bead-coding, gongbu, Jira/Git conflict workflows</a:t>
            </a:r>
          </a:p>
        </p:txBody>
      </p:sp>
      <p:sp>
        <p:nvSpPr>
          <p:cNvPr id="11" name="cat-name-github">
            <a:extLst xmlns:a="http://schemas.openxmlformats.org/drawingml/2006/main">
              <a:ext uri="{FF2B5EF4-FFF2-40B4-BE49-F238E27FC236}">
                <a16:creationId xmlns:a16="http://schemas.microsoft.com/office/drawing/2014/main" id="{1596EE68-75F8-400F-BFB8-9EAC4A7423BE}"/>
              </a:ext>
            </a:extLst>
          </p:cNvPr>
          <p:cNvSpPr>
            <a:spLocks xmlns:a="http://schemas.openxmlformats.org/drawingml/2006/main" noGrp="1"/>
          </p:cNvSpPr>
          <p:nvPr/>
        </p:nvSpPr>
        <p:spPr>
          <a:xfrm xmlns:a="http://schemas.openxmlformats.org/drawingml/2006/main">
            <a:off x="666750" y="26765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0F766E"/>
                </a:solidFill>
                <a:latin typeface="SF Mono"/>
                <a:ea typeface="SF Mono"/>
                <a:cs typeface="SF Mono"/>
              </a:defRPr>
            </a:pPr>
            <a:r>
              <a:rPr sz="1650" b="1">
                <a:solidFill>
                  <a:srgbClr val="0F766E"/>
                </a:solidFill>
                <a:latin typeface="SF Mono"/>
                <a:ea typeface="SF Mono"/>
                <a:cs typeface="SF Mono"/>
              </a:rPr>
              <a:t>github</a:t>
            </a:r>
          </a:p>
        </p:txBody>
      </p:sp>
      <p:sp>
        <p:nvSpPr>
          <p:cNvPr id="12" name="bar-bg-github">
            <a:extLst xmlns:a="http://schemas.openxmlformats.org/drawingml/2006/main">
              <a:ext uri="{FF2B5EF4-FFF2-40B4-BE49-F238E27FC236}">
                <a16:creationId xmlns:a16="http://schemas.microsoft.com/office/drawing/2014/main" id="{59E8B697-20A1-425D-90C1-9640D99EEC37}"/>
              </a:ext>
            </a:extLst>
          </p:cNvPr>
          <p:cNvSpPr>
            <a:spLocks xmlns:a="http://schemas.openxmlformats.org/drawingml/2006/main" noGrp="1"/>
          </p:cNvSpPr>
          <p:nvPr/>
        </p:nvSpPr>
        <p:spPr>
          <a:xfrm xmlns:a="http://schemas.openxmlformats.org/drawingml/2006/main">
            <a:off x="2571750" y="2714625"/>
            <a:ext cx="4953000" cy="228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bar-github">
            <a:extLst xmlns:a="http://schemas.openxmlformats.org/drawingml/2006/main">
              <a:ext uri="{FF2B5EF4-FFF2-40B4-BE49-F238E27FC236}">
                <a16:creationId xmlns:a16="http://schemas.microsoft.com/office/drawing/2014/main" id="{6A49C0DF-8174-4110-9D7C-02536D4A6200}"/>
              </a:ext>
            </a:extLst>
          </p:cNvPr>
          <p:cNvSpPr>
            <a:spLocks xmlns:a="http://schemas.openxmlformats.org/drawingml/2006/main" noGrp="1"/>
          </p:cNvSpPr>
          <p:nvPr/>
        </p:nvSpPr>
        <p:spPr>
          <a:xfrm xmlns:a="http://schemas.openxmlformats.org/drawingml/2006/main">
            <a:off x="2571750" y="2714625"/>
            <a:ext cx="2476500" cy="2286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4" name="count-github">
            <a:extLst xmlns:a="http://schemas.openxmlformats.org/drawingml/2006/main">
              <a:ext uri="{FF2B5EF4-FFF2-40B4-BE49-F238E27FC236}">
                <a16:creationId xmlns:a16="http://schemas.microsoft.com/office/drawing/2014/main" id="{5A7122AC-5794-4ACB-84C5-8D0A9413971A}"/>
              </a:ext>
            </a:extLst>
          </p:cNvPr>
          <p:cNvSpPr>
            <a:spLocks xmlns:a="http://schemas.openxmlformats.org/drawingml/2006/main" noGrp="1"/>
          </p:cNvSpPr>
          <p:nvPr/>
        </p:nvSpPr>
        <p:spPr>
          <a:xfrm xmlns:a="http://schemas.openxmlformats.org/drawingml/2006/main">
            <a:off x="7734300" y="26670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0F766E"/>
                </a:solidFill>
                <a:latin typeface="PingFang SC"/>
                <a:ea typeface="PingFang SC"/>
                <a:cs typeface="PingFang SC"/>
              </a:defRPr>
            </a:pPr>
            <a:r>
              <a:rPr sz="1650" b="1">
                <a:solidFill>
                  <a:srgbClr val="0F766E"/>
                </a:solidFill>
                <a:latin typeface="PingFang SC"/>
                <a:ea typeface="PingFang SC"/>
                <a:cs typeface="PingFang SC"/>
              </a:rPr>
              <a:t>5</a:t>
            </a:r>
          </a:p>
        </p:txBody>
      </p:sp>
      <p:sp>
        <p:nvSpPr>
          <p:cNvPr id="15" name="desc-github">
            <a:extLst xmlns:a="http://schemas.openxmlformats.org/drawingml/2006/main">
              <a:ext uri="{FF2B5EF4-FFF2-40B4-BE49-F238E27FC236}">
                <a16:creationId xmlns:a16="http://schemas.microsoft.com/office/drawing/2014/main" id="{E4983F07-3312-4A94-98FE-19D4B4411665}"/>
              </a:ext>
            </a:extLst>
          </p:cNvPr>
          <p:cNvSpPr>
            <a:spLocks xmlns:a="http://schemas.openxmlformats.org/drawingml/2006/main" noGrp="1"/>
          </p:cNvSpPr>
          <p:nvPr/>
        </p:nvSpPr>
        <p:spPr>
          <a:xfrm xmlns:a="http://schemas.openxmlformats.org/drawingml/2006/main">
            <a:off x="8334375" y="26765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2226"/>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PR review, rebase main, fix comments, batch current user's PRs</a:t>
            </a:r>
          </a:p>
        </p:txBody>
      </p:sp>
      <p:sp>
        <p:nvSpPr>
          <p:cNvPr id="16" name="cat-name-docs">
            <a:extLst xmlns:a="http://schemas.openxmlformats.org/drawingml/2006/main">
              <a:ext uri="{FF2B5EF4-FFF2-40B4-BE49-F238E27FC236}">
                <a16:creationId xmlns:a16="http://schemas.microsoft.com/office/drawing/2014/main" id="{DC2F8974-8547-4014-8F6E-8DFE9F40D825}"/>
              </a:ext>
            </a:extLst>
          </p:cNvPr>
          <p:cNvSpPr>
            <a:spLocks xmlns:a="http://schemas.openxmlformats.org/drawingml/2006/main" noGrp="1"/>
          </p:cNvSpPr>
          <p:nvPr/>
        </p:nvSpPr>
        <p:spPr>
          <a:xfrm xmlns:a="http://schemas.openxmlformats.org/drawingml/2006/main">
            <a:off x="666750" y="33242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2563EB"/>
                </a:solidFill>
                <a:latin typeface="SF Mono"/>
                <a:ea typeface="SF Mono"/>
                <a:cs typeface="SF Mono"/>
              </a:defRPr>
            </a:pPr>
            <a:r>
              <a:rPr sz="1650" b="1">
                <a:solidFill>
                  <a:srgbClr val="2563EB"/>
                </a:solidFill>
                <a:latin typeface="SF Mono"/>
                <a:ea typeface="SF Mono"/>
                <a:cs typeface="SF Mono"/>
              </a:rPr>
              <a:t>docs</a:t>
            </a:r>
          </a:p>
        </p:txBody>
      </p:sp>
      <p:sp>
        <p:nvSpPr>
          <p:cNvPr id="17" name="bar-bg-docs">
            <a:extLst xmlns:a="http://schemas.openxmlformats.org/drawingml/2006/main">
              <a:ext uri="{FF2B5EF4-FFF2-40B4-BE49-F238E27FC236}">
                <a16:creationId xmlns:a16="http://schemas.microsoft.com/office/drawing/2014/main" id="{1D80A9A9-24C7-452F-8831-75DDBAD60CAC}"/>
              </a:ext>
            </a:extLst>
          </p:cNvPr>
          <p:cNvSpPr>
            <a:spLocks xmlns:a="http://schemas.openxmlformats.org/drawingml/2006/main" noGrp="1"/>
          </p:cNvSpPr>
          <p:nvPr/>
        </p:nvSpPr>
        <p:spPr>
          <a:xfrm xmlns:a="http://schemas.openxmlformats.org/drawingml/2006/main">
            <a:off x="2571750" y="3362325"/>
            <a:ext cx="4953000" cy="228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bar-docs">
            <a:extLst xmlns:a="http://schemas.openxmlformats.org/drawingml/2006/main">
              <a:ext uri="{FF2B5EF4-FFF2-40B4-BE49-F238E27FC236}">
                <a16:creationId xmlns:a16="http://schemas.microsoft.com/office/drawing/2014/main" id="{A41A48FF-96D3-4555-BEF3-13D9A08B7110}"/>
              </a:ext>
            </a:extLst>
          </p:cNvPr>
          <p:cNvSpPr>
            <a:spLocks xmlns:a="http://schemas.openxmlformats.org/drawingml/2006/main" noGrp="1"/>
          </p:cNvSpPr>
          <p:nvPr/>
        </p:nvSpPr>
        <p:spPr>
          <a:xfrm xmlns:a="http://schemas.openxmlformats.org/drawingml/2006/main">
            <a:off x="2571750" y="3362325"/>
            <a:ext cx="1485900" cy="2286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9" name="count-docs">
            <a:extLst xmlns:a="http://schemas.openxmlformats.org/drawingml/2006/main">
              <a:ext uri="{FF2B5EF4-FFF2-40B4-BE49-F238E27FC236}">
                <a16:creationId xmlns:a16="http://schemas.microsoft.com/office/drawing/2014/main" id="{2FB7D0F8-7934-4CF4-B90B-58F18C645391}"/>
              </a:ext>
            </a:extLst>
          </p:cNvPr>
          <p:cNvSpPr>
            <a:spLocks xmlns:a="http://schemas.openxmlformats.org/drawingml/2006/main" noGrp="1"/>
          </p:cNvSpPr>
          <p:nvPr/>
        </p:nvSpPr>
        <p:spPr>
          <a:xfrm xmlns:a="http://schemas.openxmlformats.org/drawingml/2006/main">
            <a:off x="7734300" y="33147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2563EB"/>
                </a:solidFill>
                <a:latin typeface="PingFang SC"/>
                <a:ea typeface="PingFang SC"/>
                <a:cs typeface="PingFang SC"/>
              </a:defRPr>
            </a:pPr>
            <a:r>
              <a:rPr sz="1650" b="1">
                <a:solidFill>
                  <a:srgbClr val="2563EB"/>
                </a:solidFill>
                <a:latin typeface="PingFang SC"/>
                <a:ea typeface="PingFang SC"/>
                <a:cs typeface="PingFang SC"/>
              </a:rPr>
              <a:t>3</a:t>
            </a:r>
          </a:p>
        </p:txBody>
      </p:sp>
      <p:sp>
        <p:nvSpPr>
          <p:cNvPr id="20" name="desc-docs">
            <a:extLst xmlns:a="http://schemas.openxmlformats.org/drawingml/2006/main">
              <a:ext uri="{FF2B5EF4-FFF2-40B4-BE49-F238E27FC236}">
                <a16:creationId xmlns:a16="http://schemas.microsoft.com/office/drawing/2014/main" id="{E89D9D7D-3F5C-435C-A137-7B86A39036E7}"/>
              </a:ext>
            </a:extLst>
          </p:cNvPr>
          <p:cNvSpPr>
            <a:spLocks xmlns:a="http://schemas.openxmlformats.org/drawingml/2006/main" noGrp="1"/>
          </p:cNvSpPr>
          <p:nvPr/>
        </p:nvSpPr>
        <p:spPr>
          <a:xfrm xmlns:a="http://schemas.openxmlformats.org/drawingml/2006/main">
            <a:off x="8334375" y="33242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68"/>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code-docs, code-arch, fresh-topic-docs</a:t>
            </a:r>
          </a:p>
        </p:txBody>
      </p:sp>
      <p:sp>
        <p:nvSpPr>
          <p:cNvPr id="21" name="cat-name-workflow">
            <a:extLst xmlns:a="http://schemas.openxmlformats.org/drawingml/2006/main">
              <a:ext uri="{FF2B5EF4-FFF2-40B4-BE49-F238E27FC236}">
                <a16:creationId xmlns:a16="http://schemas.microsoft.com/office/drawing/2014/main" id="{276476B3-BF66-4E5C-8113-EDAB536E118D}"/>
              </a:ext>
            </a:extLst>
          </p:cNvPr>
          <p:cNvSpPr>
            <a:spLocks xmlns:a="http://schemas.openxmlformats.org/drawingml/2006/main" noGrp="1"/>
          </p:cNvSpPr>
          <p:nvPr/>
        </p:nvSpPr>
        <p:spPr>
          <a:xfrm xmlns:a="http://schemas.openxmlformats.org/drawingml/2006/main">
            <a:off x="666750" y="39719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F59E0B"/>
                </a:solidFill>
                <a:latin typeface="SF Mono"/>
                <a:ea typeface="SF Mono"/>
                <a:cs typeface="SF Mono"/>
              </a:defRPr>
            </a:pPr>
            <a:r>
              <a:rPr sz="1650" b="1">
                <a:solidFill>
                  <a:srgbClr val="F59E0B"/>
                </a:solidFill>
                <a:latin typeface="SF Mono"/>
                <a:ea typeface="SF Mono"/>
                <a:cs typeface="SF Mono"/>
              </a:rPr>
              <a:t>workflow</a:t>
            </a:r>
          </a:p>
        </p:txBody>
      </p:sp>
      <p:sp>
        <p:nvSpPr>
          <p:cNvPr id="22" name="bar-bg-workflow">
            <a:extLst xmlns:a="http://schemas.openxmlformats.org/drawingml/2006/main">
              <a:ext uri="{FF2B5EF4-FFF2-40B4-BE49-F238E27FC236}">
                <a16:creationId xmlns:a16="http://schemas.microsoft.com/office/drawing/2014/main" id="{FD2DB81E-5843-490B-88AA-14D4FB34D8EE}"/>
              </a:ext>
            </a:extLst>
          </p:cNvPr>
          <p:cNvSpPr>
            <a:spLocks xmlns:a="http://schemas.openxmlformats.org/drawingml/2006/main" noGrp="1"/>
          </p:cNvSpPr>
          <p:nvPr/>
        </p:nvSpPr>
        <p:spPr>
          <a:xfrm xmlns:a="http://schemas.openxmlformats.org/drawingml/2006/main">
            <a:off x="2571750" y="4010025"/>
            <a:ext cx="4953000" cy="228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3" name="bar-workflow">
            <a:extLst xmlns:a="http://schemas.openxmlformats.org/drawingml/2006/main">
              <a:ext uri="{FF2B5EF4-FFF2-40B4-BE49-F238E27FC236}">
                <a16:creationId xmlns:a16="http://schemas.microsoft.com/office/drawing/2014/main" id="{A431300E-A6FA-489A-A564-72742306DAE3}"/>
              </a:ext>
            </a:extLst>
          </p:cNvPr>
          <p:cNvSpPr>
            <a:spLocks xmlns:a="http://schemas.openxmlformats.org/drawingml/2006/main" noGrp="1"/>
          </p:cNvSpPr>
          <p:nvPr/>
        </p:nvSpPr>
        <p:spPr>
          <a:xfrm xmlns:a="http://schemas.openxmlformats.org/drawingml/2006/main">
            <a:off x="2571750" y="4010025"/>
            <a:ext cx="1981200" cy="2286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4" name="count-workflow">
            <a:extLst xmlns:a="http://schemas.openxmlformats.org/drawingml/2006/main">
              <a:ext uri="{FF2B5EF4-FFF2-40B4-BE49-F238E27FC236}">
                <a16:creationId xmlns:a16="http://schemas.microsoft.com/office/drawing/2014/main" id="{6A6763D4-2219-43A9-9369-FB31D576C0F0}"/>
              </a:ext>
            </a:extLst>
          </p:cNvPr>
          <p:cNvSpPr>
            <a:spLocks xmlns:a="http://schemas.openxmlformats.org/drawingml/2006/main" noGrp="1"/>
          </p:cNvSpPr>
          <p:nvPr/>
        </p:nvSpPr>
        <p:spPr>
          <a:xfrm xmlns:a="http://schemas.openxmlformats.org/drawingml/2006/main">
            <a:off x="7734300" y="39624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F59E0B"/>
                </a:solidFill>
                <a:latin typeface="PingFang SC"/>
                <a:ea typeface="PingFang SC"/>
                <a:cs typeface="PingFang SC"/>
              </a:defRPr>
            </a:pPr>
            <a:r>
              <a:rPr sz="1650" b="1">
                <a:solidFill>
                  <a:srgbClr val="F59E0B"/>
                </a:solidFill>
                <a:latin typeface="PingFang SC"/>
                <a:ea typeface="PingFang SC"/>
                <a:cs typeface="PingFang SC"/>
              </a:rPr>
              <a:t>4</a:t>
            </a:r>
          </a:p>
        </p:txBody>
      </p:sp>
      <p:sp>
        <p:nvSpPr>
          <p:cNvPr id="25" name="desc-workflow">
            <a:extLst xmlns:a="http://schemas.openxmlformats.org/drawingml/2006/main">
              <a:ext uri="{FF2B5EF4-FFF2-40B4-BE49-F238E27FC236}">
                <a16:creationId xmlns:a16="http://schemas.microsoft.com/office/drawing/2014/main" id="{27B54271-18B7-4364-9932-39D883FC6DB2}"/>
              </a:ext>
            </a:extLst>
          </p:cNvPr>
          <p:cNvSpPr>
            <a:spLocks xmlns:a="http://schemas.openxmlformats.org/drawingml/2006/main" noGrp="1"/>
          </p:cNvSpPr>
          <p:nvPr/>
        </p:nvSpPr>
        <p:spPr>
          <a:xfrm xmlns:a="http://schemas.openxmlformats.org/drawingml/2006/main">
            <a:off x="8334375" y="39719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55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keep-coding, san-sheng-liu-bu, shan-yi-zhe</a:t>
            </a:r>
          </a:p>
        </p:txBody>
      </p:sp>
      <p:sp>
        <p:nvSpPr>
          <p:cNvPr id="26" name="cat-name-lark/examples">
            <a:extLst xmlns:a="http://schemas.openxmlformats.org/drawingml/2006/main">
              <a:ext uri="{FF2B5EF4-FFF2-40B4-BE49-F238E27FC236}">
                <a16:creationId xmlns:a16="http://schemas.microsoft.com/office/drawing/2014/main" id="{E43C5C51-8E23-4D1D-85EF-D4F0D0DE36D7}"/>
              </a:ext>
            </a:extLst>
          </p:cNvPr>
          <p:cNvSpPr>
            <a:spLocks xmlns:a="http://schemas.openxmlformats.org/drawingml/2006/main" noGrp="1"/>
          </p:cNvSpPr>
          <p:nvPr/>
        </p:nvSpPr>
        <p:spPr>
          <a:xfrm xmlns:a="http://schemas.openxmlformats.org/drawingml/2006/main">
            <a:off x="666750" y="46196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111111"/>
                </a:solidFill>
                <a:latin typeface="SF Mono"/>
                <a:ea typeface="SF Mono"/>
                <a:cs typeface="SF Mono"/>
              </a:defRPr>
            </a:pPr>
            <a:r>
              <a:rPr sz="1650" b="1">
                <a:solidFill>
                  <a:srgbClr val="111111"/>
                </a:solidFill>
                <a:latin typeface="SF Mono"/>
                <a:ea typeface="SF Mono"/>
                <a:cs typeface="SF Mono"/>
              </a:rPr>
              <a:t>lark/examples</a:t>
            </a:r>
          </a:p>
        </p:txBody>
      </p:sp>
      <p:sp>
        <p:nvSpPr>
          <p:cNvPr id="27" name="bar-bg-lark/examples">
            <a:extLst xmlns:a="http://schemas.openxmlformats.org/drawingml/2006/main">
              <a:ext uri="{FF2B5EF4-FFF2-40B4-BE49-F238E27FC236}">
                <a16:creationId xmlns:a16="http://schemas.microsoft.com/office/drawing/2014/main" id="{4B7FBD15-7A79-4DA5-904A-BE89AA1A16F7}"/>
              </a:ext>
            </a:extLst>
          </p:cNvPr>
          <p:cNvSpPr>
            <a:spLocks xmlns:a="http://schemas.openxmlformats.org/drawingml/2006/main" noGrp="1"/>
          </p:cNvSpPr>
          <p:nvPr/>
        </p:nvSpPr>
        <p:spPr>
          <a:xfrm xmlns:a="http://schemas.openxmlformats.org/drawingml/2006/main">
            <a:off x="2571750" y="4657725"/>
            <a:ext cx="4953000" cy="2286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8" name="bar-lark/examples">
            <a:extLst xmlns:a="http://schemas.openxmlformats.org/drawingml/2006/main">
              <a:ext uri="{FF2B5EF4-FFF2-40B4-BE49-F238E27FC236}">
                <a16:creationId xmlns:a16="http://schemas.microsoft.com/office/drawing/2014/main" id="{4A14AAC7-88AE-4EA5-A082-14EDCA167057}"/>
              </a:ext>
            </a:extLst>
          </p:cNvPr>
          <p:cNvSpPr>
            <a:spLocks xmlns:a="http://schemas.openxmlformats.org/drawingml/2006/main" noGrp="1"/>
          </p:cNvSpPr>
          <p:nvPr/>
        </p:nvSpPr>
        <p:spPr>
          <a:xfrm xmlns:a="http://schemas.openxmlformats.org/drawingml/2006/main">
            <a:off x="2571750" y="4657725"/>
            <a:ext cx="1981200" cy="2286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9" name="count-lark/examples">
            <a:extLst xmlns:a="http://schemas.openxmlformats.org/drawingml/2006/main">
              <a:ext uri="{FF2B5EF4-FFF2-40B4-BE49-F238E27FC236}">
                <a16:creationId xmlns:a16="http://schemas.microsoft.com/office/drawing/2014/main" id="{29A520BC-0E83-4B54-86D4-EE61F104BF94}"/>
              </a:ext>
            </a:extLst>
          </p:cNvPr>
          <p:cNvSpPr>
            <a:spLocks xmlns:a="http://schemas.openxmlformats.org/drawingml/2006/main" noGrp="1"/>
          </p:cNvSpPr>
          <p:nvPr/>
        </p:nvSpPr>
        <p:spPr>
          <a:xfrm xmlns:a="http://schemas.openxmlformats.org/drawingml/2006/main">
            <a:off x="7734300" y="46101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lnSpc>
                <a:spcPct val="112000"/>
              </a:lnSpc>
              <a:buNone/>
              <a:defRPr sz="1650" b="1">
                <a:solidFill>
                  <a:srgbClr val="111111"/>
                </a:solidFill>
                <a:latin typeface="PingFang SC"/>
                <a:ea typeface="PingFang SC"/>
                <a:cs typeface="PingFang SC"/>
              </a:defRPr>
            </a:pPr>
            <a:r>
              <a:rPr sz="1650" b="1">
                <a:solidFill>
                  <a:srgbClr val="111111"/>
                </a:solidFill>
                <a:latin typeface="PingFang SC"/>
                <a:ea typeface="PingFang SC"/>
                <a:cs typeface="PingFang SC"/>
              </a:rPr>
              <a:t>4</a:t>
            </a:r>
          </a:p>
        </p:txBody>
      </p:sp>
      <p:sp>
        <p:nvSpPr>
          <p:cNvPr id="30" name="desc-lark/examples">
            <a:extLst xmlns:a="http://schemas.openxmlformats.org/drawingml/2006/main">
              <a:ext uri="{FF2B5EF4-FFF2-40B4-BE49-F238E27FC236}">
                <a16:creationId xmlns:a16="http://schemas.microsoft.com/office/drawing/2014/main" id="{56848DCA-F0A0-4D61-BEC6-34A81FB6EE1E}"/>
              </a:ext>
            </a:extLst>
          </p:cNvPr>
          <p:cNvSpPr>
            <a:spLocks xmlns:a="http://schemas.openxmlformats.org/drawingml/2006/main" noGrp="1"/>
          </p:cNvSpPr>
          <p:nvPr/>
        </p:nvSpPr>
        <p:spPr>
          <a:xfrm xmlns:a="http://schemas.openxmlformats.org/drawingml/2006/main">
            <a:off x="8334375" y="46196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1274"/>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lark auto-reply/watch, external-agent-review, keep-coding-origin</a:t>
            </a:r>
          </a:p>
        </p:txBody>
      </p:sp>
      <p:sp>
        <p:nvSpPr>
          <p:cNvPr id="31" name="starter">
            <a:extLst xmlns:a="http://schemas.openxmlformats.org/drawingml/2006/main">
              <a:ext uri="{FF2B5EF4-FFF2-40B4-BE49-F238E27FC236}">
                <a16:creationId xmlns:a16="http://schemas.microsoft.com/office/drawing/2014/main" id="{5ED91708-31C4-4C84-AE53-6D46C968359F}"/>
              </a:ext>
            </a:extLst>
          </p:cNvPr>
          <p:cNvSpPr>
            <a:spLocks xmlns:a="http://schemas.openxmlformats.org/drawingml/2006/main" noGrp="1"/>
          </p:cNvSpPr>
          <p:nvPr/>
        </p:nvSpPr>
        <p:spPr>
          <a:xfrm xmlns:a="http://schemas.openxmlformats.org/drawingml/2006/main">
            <a:off x="1123950" y="5476875"/>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85812"/>
          </a:bodyPr>
          <a:lstStyle xmlns:a="http://schemas.openxmlformats.org/drawingml/2006/main"/>
          <a:p xmlns:a="http://schemas.openxmlformats.org/drawingml/2006/main">
            <a:pPr>
              <a:lnSpc>
                <a:spcPct val="114000"/>
              </a:lnSpc>
              <a:buNone/>
              <a:defRPr sz="1725">
                <a:solidFill>
                  <a:srgbClr val="111111"/>
                </a:solidFill>
                <a:latin typeface="PingFang SC"/>
                <a:ea typeface="PingFang SC"/>
                <a:cs typeface="PingFang SC"/>
              </a:defRPr>
            </a:pPr>
            <a:r>
              <a:rPr sz="1725" b="1">
                <a:solidFill>
                  <a:srgbClr val="111111"/>
                </a:solidFill>
                <a:latin typeface="PingFang SC"/>
                <a:ea typeface="PingFang SC"/>
                <a:cs typeface="PingFang SC"/>
              </a:rPr>
              <a:t>推荐起点：</a:t>
            </a:r>
            <a:r>
              <a:rPr sz="1725">
                <a:solidFill>
                  <a:srgbClr val="111111"/>
                </a:solidFill>
                <a:latin typeface="PingFang SC"/>
                <a:ea typeface="PingFang SC"/>
                <a:cs typeface="PingFang SC"/>
              </a:rPr>
              <a:t>写通用 feature 从 `feature` 开始；需要 worktree/提交流看 `gongbu`；PR 自动化看 github 系列；代码文档看 `code-docs` / `code-arch`。</a:t>
            </a:r>
          </a:p>
        </p:txBody>
      </p:sp>
    </p:spTree>
    <p:extLst>
      <p:ext uri="{BB962C8B-B14F-4D97-AF65-F5344CB8AC3E}">
        <p14:creationId xmlns:p14="http://schemas.microsoft.com/office/powerpoint/2010/main" val="9733036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7ACE2BEA-1F9D-48D6-BBA1-71F9BC7186BE}"/>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agent-enabled tools</a:t>
            </a:r>
          </a:p>
        </p:txBody>
      </p:sp>
      <p:sp>
        <p:nvSpPr>
          <p:cNvPr id="2" name="title">
            <a:extLst xmlns:a="http://schemas.openxmlformats.org/drawingml/2006/main">
              <a:ext uri="{FF2B5EF4-FFF2-40B4-BE49-F238E27FC236}">
                <a16:creationId xmlns:a16="http://schemas.microsoft.com/office/drawing/2014/main" id="{841A3B8C-C0EB-4365-A43A-03B71F5E8E06}"/>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Agent 与 Skill 生成工具</a:t>
            </a:r>
          </a:p>
        </p:txBody>
      </p:sp>
      <p:sp>
        <p:nvSpPr>
          <p:cNvPr id="3" name="subtitle">
            <a:extLst xmlns:a="http://schemas.openxmlformats.org/drawingml/2006/main">
              <a:ext uri="{FF2B5EF4-FFF2-40B4-BE49-F238E27FC236}">
                <a16:creationId xmlns:a16="http://schemas.microsoft.com/office/drawing/2014/main" id="{33E682A4-2A90-45AA-8CA3-5BCE68F06240}"/>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tt 的很多能力是在 Picoclaw 上层封装出更具体的工程任务。</a:t>
            </a:r>
          </a:p>
        </p:txBody>
      </p:sp>
      <p:sp>
        <p:nvSpPr>
          <p:cNvPr id="4" name="footer-left">
            <a:extLst xmlns:a="http://schemas.openxmlformats.org/drawingml/2006/main">
              <a:ext uri="{FF2B5EF4-FFF2-40B4-BE49-F238E27FC236}">
                <a16:creationId xmlns:a16="http://schemas.microsoft.com/office/drawing/2014/main" id="{D092BFF8-4088-4D0C-85D9-45F49676A0D7}"/>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1F615C88-783F-4D76-920F-32D7E40790EB}"/>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14</a:t>
            </a:r>
          </a:p>
        </p:txBody>
      </p:sp>
      <p:sp>
        <p:nvSpPr>
          <p:cNvPr id="6" name="tool-0-panel">
            <a:extLst xmlns:a="http://schemas.openxmlformats.org/drawingml/2006/main">
              <a:ext uri="{FF2B5EF4-FFF2-40B4-BE49-F238E27FC236}">
                <a16:creationId xmlns:a16="http://schemas.microsoft.com/office/drawing/2014/main" id="{86567D8D-3504-44E6-B195-1C8F58FD519F}"/>
              </a:ext>
            </a:extLst>
          </p:cNvPr>
          <p:cNvSpPr>
            <a:spLocks xmlns:a="http://schemas.openxmlformats.org/drawingml/2006/main" noGrp="1"/>
          </p:cNvSpPr>
          <p:nvPr/>
        </p:nvSpPr>
        <p:spPr>
          <a:xfrm xmlns:a="http://schemas.openxmlformats.org/drawingml/2006/main">
            <a:off x="704850" y="1952625"/>
            <a:ext cx="3190875"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7" name="tool-0-accent">
            <a:extLst xmlns:a="http://schemas.openxmlformats.org/drawingml/2006/main">
              <a:ext uri="{FF2B5EF4-FFF2-40B4-BE49-F238E27FC236}">
                <a16:creationId xmlns:a16="http://schemas.microsoft.com/office/drawing/2014/main" id="{75AA7A09-43C4-4D7F-BC6C-1B7AE865CDF3}"/>
              </a:ext>
            </a:extLst>
          </p:cNvPr>
          <p:cNvSpPr>
            <a:spLocks xmlns:a="http://schemas.openxmlformats.org/drawingml/2006/main" noGrp="1"/>
          </p:cNvSpPr>
          <p:nvPr/>
        </p:nvSpPr>
        <p:spPr>
          <a:xfrm xmlns:a="http://schemas.openxmlformats.org/drawingml/2006/main">
            <a:off x="704850" y="1952625"/>
            <a:ext cx="66675" cy="1285875"/>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tool-0-label">
            <a:extLst xmlns:a="http://schemas.openxmlformats.org/drawingml/2006/main">
              <a:ext uri="{FF2B5EF4-FFF2-40B4-BE49-F238E27FC236}">
                <a16:creationId xmlns:a16="http://schemas.microsoft.com/office/drawing/2014/main" id="{0B00B359-0BD3-4D3F-9480-1915B658BECE}"/>
              </a:ext>
            </a:extLst>
          </p:cNvPr>
          <p:cNvSpPr>
            <a:spLocks xmlns:a="http://schemas.openxmlformats.org/drawingml/2006/main" noGrp="1"/>
          </p:cNvSpPr>
          <p:nvPr/>
        </p:nvSpPr>
        <p:spPr>
          <a:xfrm xmlns:a="http://schemas.openxmlformats.org/drawingml/2006/main">
            <a:off x="914400" y="2162175"/>
            <a:ext cx="2771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agent / pc</a:t>
            </a:r>
          </a:p>
        </p:txBody>
      </p:sp>
      <p:sp>
        <p:nvSpPr>
          <p:cNvPr id="9" name="tool-0-body">
            <a:extLst xmlns:a="http://schemas.openxmlformats.org/drawingml/2006/main">
              <a:ext uri="{FF2B5EF4-FFF2-40B4-BE49-F238E27FC236}">
                <a16:creationId xmlns:a16="http://schemas.microsoft.com/office/drawing/2014/main" id="{11AA526E-1E83-49BB-B70C-CC96801F01B2}"/>
              </a:ext>
            </a:extLst>
          </p:cNvPr>
          <p:cNvSpPr>
            <a:spLocks xmlns:a="http://schemas.openxmlformats.org/drawingml/2006/main" noGrp="1"/>
          </p:cNvSpPr>
          <p:nvPr/>
        </p:nvSpPr>
        <p:spPr>
          <a:xfrm xmlns:a="http://schemas.openxmlformats.org/drawingml/2006/main">
            <a:off x="914400" y="2581275"/>
            <a:ext cx="27717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81"/>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直接运行 embedded 或配置中的 agent；支持 web chat UI。</a:t>
            </a:r>
          </a:p>
        </p:txBody>
      </p:sp>
      <p:sp>
        <p:nvSpPr>
          <p:cNvPr id="10" name="tool-1-panel">
            <a:extLst xmlns:a="http://schemas.openxmlformats.org/drawingml/2006/main">
              <a:ext uri="{FF2B5EF4-FFF2-40B4-BE49-F238E27FC236}">
                <a16:creationId xmlns:a16="http://schemas.microsoft.com/office/drawing/2014/main" id="{E4BF344E-5706-4C95-BA97-4813CF9F8828}"/>
              </a:ext>
            </a:extLst>
          </p:cNvPr>
          <p:cNvSpPr>
            <a:spLocks xmlns:a="http://schemas.openxmlformats.org/drawingml/2006/main" noGrp="1"/>
          </p:cNvSpPr>
          <p:nvPr/>
        </p:nvSpPr>
        <p:spPr>
          <a:xfrm xmlns:a="http://schemas.openxmlformats.org/drawingml/2006/main">
            <a:off x="4438650" y="1952625"/>
            <a:ext cx="3190875"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1" name="tool-1-accent">
            <a:extLst xmlns:a="http://schemas.openxmlformats.org/drawingml/2006/main">
              <a:ext uri="{FF2B5EF4-FFF2-40B4-BE49-F238E27FC236}">
                <a16:creationId xmlns:a16="http://schemas.microsoft.com/office/drawing/2014/main" id="{0A4D1634-5C45-4B1E-BB1C-292ACD415325}"/>
              </a:ext>
            </a:extLst>
          </p:cNvPr>
          <p:cNvSpPr>
            <a:spLocks xmlns:a="http://schemas.openxmlformats.org/drawingml/2006/main" noGrp="1"/>
          </p:cNvSpPr>
          <p:nvPr/>
        </p:nvSpPr>
        <p:spPr>
          <a:xfrm xmlns:a="http://schemas.openxmlformats.org/drawingml/2006/main">
            <a:off x="4438650" y="1952625"/>
            <a:ext cx="66675" cy="12858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2" name="tool-1-label">
            <a:extLst xmlns:a="http://schemas.openxmlformats.org/drawingml/2006/main">
              <a:ext uri="{FF2B5EF4-FFF2-40B4-BE49-F238E27FC236}">
                <a16:creationId xmlns:a16="http://schemas.microsoft.com/office/drawing/2014/main" id="{3D76324C-18F9-4E4A-994E-1D1656F23824}"/>
              </a:ext>
            </a:extLst>
          </p:cNvPr>
          <p:cNvSpPr>
            <a:spLocks xmlns:a="http://schemas.openxmlformats.org/drawingml/2006/main" noGrp="1"/>
          </p:cNvSpPr>
          <p:nvPr/>
        </p:nvSpPr>
        <p:spPr>
          <a:xfrm xmlns:a="http://schemas.openxmlformats.org/drawingml/2006/main">
            <a:off x="4648200" y="2162175"/>
            <a:ext cx="2771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docs analyze</a:t>
            </a:r>
          </a:p>
        </p:txBody>
      </p:sp>
      <p:sp>
        <p:nvSpPr>
          <p:cNvPr id="13" name="tool-1-body">
            <a:extLst xmlns:a="http://schemas.openxmlformats.org/drawingml/2006/main">
              <a:ext uri="{FF2B5EF4-FFF2-40B4-BE49-F238E27FC236}">
                <a16:creationId xmlns:a16="http://schemas.microsoft.com/office/drawing/2014/main" id="{3C2BF8A7-1D35-48F7-B4B1-FA595745F0A7}"/>
              </a:ext>
            </a:extLst>
          </p:cNvPr>
          <p:cNvSpPr>
            <a:spLocks xmlns:a="http://schemas.openxmlformats.org/drawingml/2006/main" noGrp="1"/>
          </p:cNvSpPr>
          <p:nvPr/>
        </p:nvSpPr>
        <p:spPr>
          <a:xfrm xmlns:a="http://schemas.openxmlformats.org/drawingml/2006/main">
            <a:off x="4648200" y="2581275"/>
            <a:ext cx="27717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81"/>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分析本地目录或 GitHub 仓库，生成理解导向中文文档。</a:t>
            </a:r>
          </a:p>
        </p:txBody>
      </p:sp>
      <p:sp>
        <p:nvSpPr>
          <p:cNvPr id="14" name="tool-2-panel">
            <a:extLst xmlns:a="http://schemas.openxmlformats.org/drawingml/2006/main">
              <a:ext uri="{FF2B5EF4-FFF2-40B4-BE49-F238E27FC236}">
                <a16:creationId xmlns:a16="http://schemas.microsoft.com/office/drawing/2014/main" id="{5FB7E752-DE5E-40C4-BA9B-8BCA4ADEDF67}"/>
              </a:ext>
            </a:extLst>
          </p:cNvPr>
          <p:cNvSpPr>
            <a:spLocks xmlns:a="http://schemas.openxmlformats.org/drawingml/2006/main" noGrp="1"/>
          </p:cNvSpPr>
          <p:nvPr/>
        </p:nvSpPr>
        <p:spPr>
          <a:xfrm xmlns:a="http://schemas.openxmlformats.org/drawingml/2006/main">
            <a:off x="8172450" y="1952625"/>
            <a:ext cx="3190875"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5" name="tool-2-accent">
            <a:extLst xmlns:a="http://schemas.openxmlformats.org/drawingml/2006/main">
              <a:ext uri="{FF2B5EF4-FFF2-40B4-BE49-F238E27FC236}">
                <a16:creationId xmlns:a16="http://schemas.microsoft.com/office/drawing/2014/main" id="{DA525BCD-AA03-4217-9029-9E592B56E492}"/>
              </a:ext>
            </a:extLst>
          </p:cNvPr>
          <p:cNvSpPr>
            <a:spLocks xmlns:a="http://schemas.openxmlformats.org/drawingml/2006/main" noGrp="1"/>
          </p:cNvSpPr>
          <p:nvPr/>
        </p:nvSpPr>
        <p:spPr>
          <a:xfrm xmlns:a="http://schemas.openxmlformats.org/drawingml/2006/main">
            <a:off x="8172450" y="1952625"/>
            <a:ext cx="66675" cy="1285875"/>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6" name="tool-2-label">
            <a:extLst xmlns:a="http://schemas.openxmlformats.org/drawingml/2006/main">
              <a:ext uri="{FF2B5EF4-FFF2-40B4-BE49-F238E27FC236}">
                <a16:creationId xmlns:a16="http://schemas.microsoft.com/office/drawing/2014/main" id="{8A247CC3-A3AA-4066-9648-7ADAEB947A0F}"/>
              </a:ext>
            </a:extLst>
          </p:cNvPr>
          <p:cNvSpPr>
            <a:spLocks xmlns:a="http://schemas.openxmlformats.org/drawingml/2006/main" noGrp="1"/>
          </p:cNvSpPr>
          <p:nvPr/>
        </p:nvSpPr>
        <p:spPr>
          <a:xfrm xmlns:a="http://schemas.openxmlformats.org/drawingml/2006/main">
            <a:off x="8382000" y="2162175"/>
            <a:ext cx="2771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repo2skill</a:t>
            </a:r>
          </a:p>
        </p:txBody>
      </p:sp>
      <p:sp>
        <p:nvSpPr>
          <p:cNvPr id="17" name="tool-2-body">
            <a:extLst xmlns:a="http://schemas.openxmlformats.org/drawingml/2006/main">
              <a:ext uri="{FF2B5EF4-FFF2-40B4-BE49-F238E27FC236}">
                <a16:creationId xmlns:a16="http://schemas.microsoft.com/office/drawing/2014/main" id="{BAC72C86-EB83-4B61-AAAE-AFDE3FC29ADF}"/>
              </a:ext>
            </a:extLst>
          </p:cNvPr>
          <p:cNvSpPr>
            <a:spLocks xmlns:a="http://schemas.openxmlformats.org/drawingml/2006/main" noGrp="1"/>
          </p:cNvSpPr>
          <p:nvPr/>
        </p:nvSpPr>
        <p:spPr>
          <a:xfrm xmlns:a="http://schemas.openxmlformats.org/drawingml/2006/main">
            <a:off x="8382000" y="2581275"/>
            <a:ext cx="27717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81"/>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把库仓库转成 agent-oriented skill，保留安装/API/recipe 线索。</a:t>
            </a:r>
          </a:p>
        </p:txBody>
      </p:sp>
      <p:sp>
        <p:nvSpPr>
          <p:cNvPr id="18" name="tool-3-panel">
            <a:extLst xmlns:a="http://schemas.openxmlformats.org/drawingml/2006/main">
              <a:ext uri="{FF2B5EF4-FFF2-40B4-BE49-F238E27FC236}">
                <a16:creationId xmlns:a16="http://schemas.microsoft.com/office/drawing/2014/main" id="{274DE52D-8444-4FA4-836D-ECFACC2552A3}"/>
              </a:ext>
            </a:extLst>
          </p:cNvPr>
          <p:cNvSpPr>
            <a:spLocks xmlns:a="http://schemas.openxmlformats.org/drawingml/2006/main" noGrp="1"/>
          </p:cNvSpPr>
          <p:nvPr/>
        </p:nvSpPr>
        <p:spPr>
          <a:xfrm xmlns:a="http://schemas.openxmlformats.org/drawingml/2006/main">
            <a:off x="704850" y="3667125"/>
            <a:ext cx="3190875"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9" name="tool-3-accent">
            <a:extLst xmlns:a="http://schemas.openxmlformats.org/drawingml/2006/main">
              <a:ext uri="{FF2B5EF4-FFF2-40B4-BE49-F238E27FC236}">
                <a16:creationId xmlns:a16="http://schemas.microsoft.com/office/drawing/2014/main" id="{4CD59F04-A26C-4FED-8691-F61A6C532F5B}"/>
              </a:ext>
            </a:extLst>
          </p:cNvPr>
          <p:cNvSpPr>
            <a:spLocks xmlns:a="http://schemas.openxmlformats.org/drawingml/2006/main" noGrp="1"/>
          </p:cNvSpPr>
          <p:nvPr/>
        </p:nvSpPr>
        <p:spPr>
          <a:xfrm xmlns:a="http://schemas.openxmlformats.org/drawingml/2006/main">
            <a:off x="704850" y="3667125"/>
            <a:ext cx="66675" cy="128587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0" name="tool-3-label">
            <a:extLst xmlns:a="http://schemas.openxmlformats.org/drawingml/2006/main">
              <a:ext uri="{FF2B5EF4-FFF2-40B4-BE49-F238E27FC236}">
                <a16:creationId xmlns:a16="http://schemas.microsoft.com/office/drawing/2014/main" id="{9C50A62D-6D76-4720-B1E3-288949C7CB25}"/>
              </a:ext>
            </a:extLst>
          </p:cNvPr>
          <p:cNvSpPr>
            <a:spLocks xmlns:a="http://schemas.openxmlformats.org/drawingml/2006/main" noGrp="1"/>
          </p:cNvSpPr>
          <p:nvPr/>
        </p:nvSpPr>
        <p:spPr>
          <a:xfrm xmlns:a="http://schemas.openxmlformats.org/drawingml/2006/main">
            <a:off x="914400" y="3876675"/>
            <a:ext cx="2771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cmd2skill</a:t>
            </a:r>
          </a:p>
        </p:txBody>
      </p:sp>
      <p:sp>
        <p:nvSpPr>
          <p:cNvPr id="21" name="tool-3-body">
            <a:extLst xmlns:a="http://schemas.openxmlformats.org/drawingml/2006/main">
              <a:ext uri="{FF2B5EF4-FFF2-40B4-BE49-F238E27FC236}">
                <a16:creationId xmlns:a16="http://schemas.microsoft.com/office/drawing/2014/main" id="{9EFC8D2B-D339-499B-91AD-1B0B79695DA9}"/>
              </a:ext>
            </a:extLst>
          </p:cNvPr>
          <p:cNvSpPr>
            <a:spLocks xmlns:a="http://schemas.openxmlformats.org/drawingml/2006/main" noGrp="1"/>
          </p:cNvSpPr>
          <p:nvPr/>
        </p:nvSpPr>
        <p:spPr>
          <a:xfrm xmlns:a="http://schemas.openxmlformats.org/drawingml/2006/main">
            <a:off x="914400" y="4295775"/>
            <a:ext cx="27717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81"/>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递归读取 CLI help，生成可复用 command skill。</a:t>
            </a:r>
          </a:p>
        </p:txBody>
      </p:sp>
      <p:sp>
        <p:nvSpPr>
          <p:cNvPr id="22" name="tool-4-panel">
            <a:extLst xmlns:a="http://schemas.openxmlformats.org/drawingml/2006/main">
              <a:ext uri="{FF2B5EF4-FFF2-40B4-BE49-F238E27FC236}">
                <a16:creationId xmlns:a16="http://schemas.microsoft.com/office/drawing/2014/main" id="{4A617352-F5B5-4363-AED4-9780ABC0AF76}"/>
              </a:ext>
            </a:extLst>
          </p:cNvPr>
          <p:cNvSpPr>
            <a:spLocks xmlns:a="http://schemas.openxmlformats.org/drawingml/2006/main" noGrp="1"/>
          </p:cNvSpPr>
          <p:nvPr/>
        </p:nvSpPr>
        <p:spPr>
          <a:xfrm xmlns:a="http://schemas.openxmlformats.org/drawingml/2006/main">
            <a:off x="4438650" y="3667125"/>
            <a:ext cx="3190875"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23" name="tool-4-accent">
            <a:extLst xmlns:a="http://schemas.openxmlformats.org/drawingml/2006/main">
              <a:ext uri="{FF2B5EF4-FFF2-40B4-BE49-F238E27FC236}">
                <a16:creationId xmlns:a16="http://schemas.microsoft.com/office/drawing/2014/main" id="{37ECE4A6-F160-48E9-B96E-DF953C0747A9}"/>
              </a:ext>
            </a:extLst>
          </p:cNvPr>
          <p:cNvSpPr>
            <a:spLocks xmlns:a="http://schemas.openxmlformats.org/drawingml/2006/main" noGrp="1"/>
          </p:cNvSpPr>
          <p:nvPr/>
        </p:nvSpPr>
        <p:spPr>
          <a:xfrm xmlns:a="http://schemas.openxmlformats.org/drawingml/2006/main">
            <a:off x="4438650" y="3667125"/>
            <a:ext cx="66675" cy="128587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tool-4-label">
            <a:extLst xmlns:a="http://schemas.openxmlformats.org/drawingml/2006/main">
              <a:ext uri="{FF2B5EF4-FFF2-40B4-BE49-F238E27FC236}">
                <a16:creationId xmlns:a16="http://schemas.microsoft.com/office/drawing/2014/main" id="{02C7B76F-9D57-46FB-8069-430CEA391A65}"/>
              </a:ext>
            </a:extLst>
          </p:cNvPr>
          <p:cNvSpPr>
            <a:spLocks xmlns:a="http://schemas.openxmlformats.org/drawingml/2006/main" noGrp="1"/>
          </p:cNvSpPr>
          <p:nvPr/>
        </p:nvSpPr>
        <p:spPr>
          <a:xfrm xmlns:a="http://schemas.openxmlformats.org/drawingml/2006/main">
            <a:off x="4648200" y="3876675"/>
            <a:ext cx="2771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nvwa</a:t>
            </a:r>
          </a:p>
        </p:txBody>
      </p:sp>
      <p:sp>
        <p:nvSpPr>
          <p:cNvPr id="25" name="tool-4-body">
            <a:extLst xmlns:a="http://schemas.openxmlformats.org/drawingml/2006/main">
              <a:ext uri="{FF2B5EF4-FFF2-40B4-BE49-F238E27FC236}">
                <a16:creationId xmlns:a16="http://schemas.microsoft.com/office/drawing/2014/main" id="{CC3851B8-1FF4-45FA-8EDA-B0AA08D43DEE}"/>
              </a:ext>
            </a:extLst>
          </p:cNvPr>
          <p:cNvSpPr>
            <a:spLocks xmlns:a="http://schemas.openxmlformats.org/drawingml/2006/main" noGrp="1"/>
          </p:cNvSpPr>
          <p:nvPr/>
        </p:nvSpPr>
        <p:spPr>
          <a:xfrm xmlns:a="http://schemas.openxmlformats.org/drawingml/2006/main">
            <a:off x="4648200" y="4295775"/>
            <a:ext cx="27717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81"/>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按角色生成 Agent.md / soul.md 或 embedded-agent Markdown。</a:t>
            </a:r>
          </a:p>
        </p:txBody>
      </p:sp>
      <p:sp>
        <p:nvSpPr>
          <p:cNvPr id="26" name="tool-5-panel">
            <a:extLst xmlns:a="http://schemas.openxmlformats.org/drawingml/2006/main">
              <a:ext uri="{FF2B5EF4-FFF2-40B4-BE49-F238E27FC236}">
                <a16:creationId xmlns:a16="http://schemas.microsoft.com/office/drawing/2014/main" id="{0D2E4469-7461-4046-8DAB-5BB119808B6B}"/>
              </a:ext>
            </a:extLst>
          </p:cNvPr>
          <p:cNvSpPr>
            <a:spLocks xmlns:a="http://schemas.openxmlformats.org/drawingml/2006/main" noGrp="1"/>
          </p:cNvSpPr>
          <p:nvPr/>
        </p:nvSpPr>
        <p:spPr>
          <a:xfrm xmlns:a="http://schemas.openxmlformats.org/drawingml/2006/main">
            <a:off x="8172450" y="3667125"/>
            <a:ext cx="3190875" cy="1285875"/>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27" name="tool-5-accent">
            <a:extLst xmlns:a="http://schemas.openxmlformats.org/drawingml/2006/main">
              <a:ext uri="{FF2B5EF4-FFF2-40B4-BE49-F238E27FC236}">
                <a16:creationId xmlns:a16="http://schemas.microsoft.com/office/drawing/2014/main" id="{C5C251AD-7AEE-4E92-B62A-BEB34D2CCAD9}"/>
              </a:ext>
            </a:extLst>
          </p:cNvPr>
          <p:cNvSpPr>
            <a:spLocks xmlns:a="http://schemas.openxmlformats.org/drawingml/2006/main" noGrp="1"/>
          </p:cNvSpPr>
          <p:nvPr/>
        </p:nvSpPr>
        <p:spPr>
          <a:xfrm xmlns:a="http://schemas.openxmlformats.org/drawingml/2006/main">
            <a:off x="8172450" y="3667125"/>
            <a:ext cx="66675" cy="1285875"/>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8" name="tool-5-label">
            <a:extLst xmlns:a="http://schemas.openxmlformats.org/drawingml/2006/main">
              <a:ext uri="{FF2B5EF4-FFF2-40B4-BE49-F238E27FC236}">
                <a16:creationId xmlns:a16="http://schemas.microsoft.com/office/drawing/2014/main" id="{00320A5A-1923-4902-B343-C7785EC2E82E}"/>
              </a:ext>
            </a:extLst>
          </p:cNvPr>
          <p:cNvSpPr>
            <a:spLocks xmlns:a="http://schemas.openxmlformats.org/drawingml/2006/main" noGrp="1"/>
          </p:cNvSpPr>
          <p:nvPr/>
        </p:nvSpPr>
        <p:spPr>
          <a:xfrm xmlns:a="http://schemas.openxmlformats.org/drawingml/2006/main">
            <a:off x="8382000" y="3876675"/>
            <a:ext cx="2771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agent optimize</a:t>
            </a:r>
          </a:p>
        </p:txBody>
      </p:sp>
      <p:sp>
        <p:nvSpPr>
          <p:cNvPr id="29" name="tool-5-body">
            <a:extLst xmlns:a="http://schemas.openxmlformats.org/drawingml/2006/main">
              <a:ext uri="{FF2B5EF4-FFF2-40B4-BE49-F238E27FC236}">
                <a16:creationId xmlns:a16="http://schemas.microsoft.com/office/drawing/2014/main" id="{96052852-7A18-4570-B224-65E528D63BA6}"/>
              </a:ext>
            </a:extLst>
          </p:cNvPr>
          <p:cNvSpPr>
            <a:spLocks xmlns:a="http://schemas.openxmlformats.org/drawingml/2006/main" noGrp="1"/>
          </p:cNvSpPr>
          <p:nvPr/>
        </p:nvSpPr>
        <p:spPr>
          <a:xfrm xmlns:a="http://schemas.openxmlformats.org/drawingml/2006/main">
            <a:off x="8382000" y="4295775"/>
            <a:ext cx="27717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781"/>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用目标仓库上下文优化一个已有 agent 定义。</a:t>
            </a:r>
          </a:p>
        </p:txBody>
      </p:sp>
    </p:spTree>
    <p:extLst>
      <p:ext uri="{BB962C8B-B14F-4D97-AF65-F5344CB8AC3E}">
        <p14:creationId xmlns:p14="http://schemas.microsoft.com/office/powerpoint/2010/main" val="99819879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D45CA02D-4696-4066-B21C-9B9F54E3E5C7}"/>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configuration</a:t>
            </a:r>
          </a:p>
        </p:txBody>
      </p:sp>
      <p:sp>
        <p:nvSpPr>
          <p:cNvPr id="2" name="title">
            <a:extLst xmlns:a="http://schemas.openxmlformats.org/drawingml/2006/main">
              <a:ext uri="{FF2B5EF4-FFF2-40B4-BE49-F238E27FC236}">
                <a16:creationId xmlns:a16="http://schemas.microsoft.com/office/drawing/2014/main" id="{260DE482-70A9-4E99-A6D4-DCDE8A44B7B3}"/>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配置与 workspace 模型</a:t>
            </a:r>
          </a:p>
        </p:txBody>
      </p:sp>
      <p:sp>
        <p:nvSpPr>
          <p:cNvPr id="3" name="subtitle">
            <a:extLst xmlns:a="http://schemas.openxmlformats.org/drawingml/2006/main">
              <a:ext uri="{FF2B5EF4-FFF2-40B4-BE49-F238E27FC236}">
                <a16:creationId xmlns:a16="http://schemas.microsoft.com/office/drawing/2014/main" id="{FDED1D80-AD9A-47FA-AAB8-E41CE34242DE}"/>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大多数命令遵循全局配置、项目配置、命令行 flags 的覆盖顺序。</a:t>
            </a:r>
          </a:p>
        </p:txBody>
      </p:sp>
      <p:sp>
        <p:nvSpPr>
          <p:cNvPr id="4" name="footer-left">
            <a:extLst xmlns:a="http://schemas.openxmlformats.org/drawingml/2006/main">
              <a:ext uri="{FF2B5EF4-FFF2-40B4-BE49-F238E27FC236}">
                <a16:creationId xmlns:a16="http://schemas.microsoft.com/office/drawing/2014/main" id="{4AEAA081-3A61-4C2E-93AC-C9E67D6C3E4E}"/>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EC277311-E077-4540-A791-94EBCFDF7F1D}"/>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15</a:t>
            </a:r>
          </a:p>
        </p:txBody>
      </p:sp>
      <p:sp>
        <p:nvSpPr>
          <p:cNvPr id="6" name="global-box">
            <a:extLst xmlns:a="http://schemas.openxmlformats.org/drawingml/2006/main">
              <a:ext uri="{FF2B5EF4-FFF2-40B4-BE49-F238E27FC236}">
                <a16:creationId xmlns:a16="http://schemas.microsoft.com/office/drawing/2014/main" id="{19289E0D-F089-4A49-AF51-84A01C8D5772}"/>
              </a:ext>
            </a:extLst>
          </p:cNvPr>
          <p:cNvSpPr>
            <a:spLocks xmlns:a="http://schemas.openxmlformats.org/drawingml/2006/main" noGrp="1"/>
          </p:cNvSpPr>
          <p:nvPr/>
        </p:nvSpPr>
        <p:spPr>
          <a:xfrm xmlns:a="http://schemas.openxmlformats.org/drawingml/2006/main">
            <a:off x="1143000" y="2381250"/>
            <a:ext cx="2333625"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global-bar">
            <a:extLst xmlns:a="http://schemas.openxmlformats.org/drawingml/2006/main">
              <a:ext uri="{FF2B5EF4-FFF2-40B4-BE49-F238E27FC236}">
                <a16:creationId xmlns:a16="http://schemas.microsoft.com/office/drawing/2014/main" id="{59DF4FD9-1BE0-4258-AFEF-866FA38FDDF7}"/>
              </a:ext>
            </a:extLst>
          </p:cNvPr>
          <p:cNvSpPr>
            <a:spLocks xmlns:a="http://schemas.openxmlformats.org/drawingml/2006/main" noGrp="1"/>
          </p:cNvSpPr>
          <p:nvPr/>
        </p:nvSpPr>
        <p:spPr>
          <a:xfrm xmlns:a="http://schemas.openxmlformats.org/drawingml/2006/main">
            <a:off x="1143000" y="2381250"/>
            <a:ext cx="2333625" cy="5715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global-label">
            <a:extLst xmlns:a="http://schemas.openxmlformats.org/drawingml/2006/main">
              <a:ext uri="{FF2B5EF4-FFF2-40B4-BE49-F238E27FC236}">
                <a16:creationId xmlns:a16="http://schemas.microsoft.com/office/drawing/2014/main" id="{7B03ADAF-0CA9-4937-8C7A-F9C7CBC30BAF}"/>
              </a:ext>
            </a:extLst>
          </p:cNvPr>
          <p:cNvSpPr>
            <a:spLocks xmlns:a="http://schemas.openxmlformats.org/drawingml/2006/main" noGrp="1"/>
          </p:cNvSpPr>
          <p:nvPr/>
        </p:nvSpPr>
        <p:spPr>
          <a:xfrm xmlns:a="http://schemas.openxmlformats.org/drawingml/2006/main">
            <a:off x="1314450" y="2571750"/>
            <a:ext cx="1990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Global config</a:t>
            </a:r>
          </a:p>
        </p:txBody>
      </p:sp>
      <p:sp>
        <p:nvSpPr>
          <p:cNvPr id="9" name="global-body">
            <a:extLst xmlns:a="http://schemas.openxmlformats.org/drawingml/2006/main">
              <a:ext uri="{FF2B5EF4-FFF2-40B4-BE49-F238E27FC236}">
                <a16:creationId xmlns:a16="http://schemas.microsoft.com/office/drawing/2014/main" id="{C784DE9D-C4BA-4107-A4A9-4F799F592191}"/>
              </a:ext>
            </a:extLst>
          </p:cNvPr>
          <p:cNvSpPr>
            <a:spLocks xmlns:a="http://schemas.openxmlformats.org/drawingml/2006/main" noGrp="1"/>
          </p:cNvSpPr>
          <p:nvPr/>
        </p:nvSpPr>
        <p:spPr>
          <a:xfrm xmlns:a="http://schemas.openxmlformats.org/drawingml/2006/main">
            <a:off x="1314450" y="2895600"/>
            <a:ext cx="19907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~/.tt/config.json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or TT_CONFIG</a:t>
            </a:r>
          </a:p>
        </p:txBody>
      </p:sp>
      <p:sp>
        <p:nvSpPr>
          <p:cNvPr id="10" name="project-box">
            <a:extLst xmlns:a="http://schemas.openxmlformats.org/drawingml/2006/main">
              <a:ext uri="{FF2B5EF4-FFF2-40B4-BE49-F238E27FC236}">
                <a16:creationId xmlns:a16="http://schemas.microsoft.com/office/drawing/2014/main" id="{966F50DB-CD8A-4D1D-813E-1F02BDB107C7}"/>
              </a:ext>
            </a:extLst>
          </p:cNvPr>
          <p:cNvSpPr>
            <a:spLocks xmlns:a="http://schemas.openxmlformats.org/drawingml/2006/main" noGrp="1"/>
          </p:cNvSpPr>
          <p:nvPr/>
        </p:nvSpPr>
        <p:spPr>
          <a:xfrm xmlns:a="http://schemas.openxmlformats.org/drawingml/2006/main">
            <a:off x="4857750" y="2381250"/>
            <a:ext cx="2333625" cy="1238250"/>
          </a:xfrm>
          <a:prstGeom xmlns:a="http://schemas.openxmlformats.org/drawingml/2006/main" prst="rect">
            <a:avLst/>
          </a:prstGeom>
          <a:solidFill xmlns:a="http://schemas.openxmlformats.org/drawingml/2006/main">
            <a:srgbClr val="F7F7F7"/>
          </a:solidFill>
          <a:ln xmlns:a="http://schemas.openxmlformats.org/drawingml/2006/main" w="9525">
            <a:solidFill>
              <a:srgbClr val="B8BCC4"/>
            </a:solidFill>
            <a:prstDash val="solid"/>
          </a:ln>
        </p:spPr>
      </p:sp>
      <p:sp>
        <p:nvSpPr>
          <p:cNvPr id="11" name="project-bar">
            <a:extLst xmlns:a="http://schemas.openxmlformats.org/drawingml/2006/main">
              <a:ext uri="{FF2B5EF4-FFF2-40B4-BE49-F238E27FC236}">
                <a16:creationId xmlns:a16="http://schemas.microsoft.com/office/drawing/2014/main" id="{D05BC50C-027A-4F50-A7B7-2548151C264A}"/>
              </a:ext>
            </a:extLst>
          </p:cNvPr>
          <p:cNvSpPr>
            <a:spLocks xmlns:a="http://schemas.openxmlformats.org/drawingml/2006/main" noGrp="1"/>
          </p:cNvSpPr>
          <p:nvPr/>
        </p:nvSpPr>
        <p:spPr>
          <a:xfrm xmlns:a="http://schemas.openxmlformats.org/drawingml/2006/main">
            <a:off x="4857750" y="2381250"/>
            <a:ext cx="2333625" cy="571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2" name="project-label">
            <a:extLst xmlns:a="http://schemas.openxmlformats.org/drawingml/2006/main">
              <a:ext uri="{FF2B5EF4-FFF2-40B4-BE49-F238E27FC236}">
                <a16:creationId xmlns:a16="http://schemas.microsoft.com/office/drawing/2014/main" id="{1636B00C-B0D9-4441-B741-7A731B6D3C1B}"/>
              </a:ext>
            </a:extLst>
          </p:cNvPr>
          <p:cNvSpPr>
            <a:spLocks xmlns:a="http://schemas.openxmlformats.org/drawingml/2006/main" noGrp="1"/>
          </p:cNvSpPr>
          <p:nvPr/>
        </p:nvSpPr>
        <p:spPr>
          <a:xfrm xmlns:a="http://schemas.openxmlformats.org/drawingml/2006/main">
            <a:off x="5029200" y="2571750"/>
            <a:ext cx="1990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Project config</a:t>
            </a:r>
          </a:p>
        </p:txBody>
      </p:sp>
      <p:sp>
        <p:nvSpPr>
          <p:cNvPr id="13" name="project-body">
            <a:extLst xmlns:a="http://schemas.openxmlformats.org/drawingml/2006/main">
              <a:ext uri="{FF2B5EF4-FFF2-40B4-BE49-F238E27FC236}">
                <a16:creationId xmlns:a16="http://schemas.microsoft.com/office/drawing/2014/main" id="{36733698-2138-485D-9BD7-D2F306D8CA95}"/>
              </a:ext>
            </a:extLst>
          </p:cNvPr>
          <p:cNvSpPr>
            <a:spLocks xmlns:a="http://schemas.openxmlformats.org/drawingml/2006/main" noGrp="1"/>
          </p:cNvSpPr>
          <p:nvPr/>
        </p:nvSpPr>
        <p:spPr>
          <a:xfrm xmlns:a="http://schemas.openxmlformats.org/drawingml/2006/main">
            <a:off x="5029200" y="2895600"/>
            <a:ext cx="19907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79"/>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nearest .tt/config.json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or TT_PROJECT_CONFIG</a:t>
            </a:r>
          </a:p>
        </p:txBody>
      </p:sp>
      <p:sp>
        <p:nvSpPr>
          <p:cNvPr id="14" name="flags-box">
            <a:extLst xmlns:a="http://schemas.openxmlformats.org/drawingml/2006/main">
              <a:ext uri="{FF2B5EF4-FFF2-40B4-BE49-F238E27FC236}">
                <a16:creationId xmlns:a16="http://schemas.microsoft.com/office/drawing/2014/main" id="{55AA63F4-458F-4BE8-82F0-6B80D273BD9B}"/>
              </a:ext>
            </a:extLst>
          </p:cNvPr>
          <p:cNvSpPr>
            <a:spLocks xmlns:a="http://schemas.openxmlformats.org/drawingml/2006/main" noGrp="1"/>
          </p:cNvSpPr>
          <p:nvPr/>
        </p:nvSpPr>
        <p:spPr>
          <a:xfrm xmlns:a="http://schemas.openxmlformats.org/drawingml/2006/main">
            <a:off x="8572500" y="2381250"/>
            <a:ext cx="2333625"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flags-bar">
            <a:extLst xmlns:a="http://schemas.openxmlformats.org/drawingml/2006/main">
              <a:ext uri="{FF2B5EF4-FFF2-40B4-BE49-F238E27FC236}">
                <a16:creationId xmlns:a16="http://schemas.microsoft.com/office/drawing/2014/main" id="{582400CE-9110-461C-83A5-B08FEFDA05DB}"/>
              </a:ext>
            </a:extLst>
          </p:cNvPr>
          <p:cNvSpPr>
            <a:spLocks xmlns:a="http://schemas.openxmlformats.org/drawingml/2006/main" noGrp="1"/>
          </p:cNvSpPr>
          <p:nvPr/>
        </p:nvSpPr>
        <p:spPr>
          <a:xfrm xmlns:a="http://schemas.openxmlformats.org/drawingml/2006/main">
            <a:off x="8572500" y="2381250"/>
            <a:ext cx="2333625" cy="5715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6" name="flags-label">
            <a:extLst xmlns:a="http://schemas.openxmlformats.org/drawingml/2006/main">
              <a:ext uri="{FF2B5EF4-FFF2-40B4-BE49-F238E27FC236}">
                <a16:creationId xmlns:a16="http://schemas.microsoft.com/office/drawing/2014/main" id="{AD1215E0-E09A-4EAF-8906-0563001175AD}"/>
              </a:ext>
            </a:extLst>
          </p:cNvPr>
          <p:cNvSpPr>
            <a:spLocks xmlns:a="http://schemas.openxmlformats.org/drawingml/2006/main" noGrp="1"/>
          </p:cNvSpPr>
          <p:nvPr/>
        </p:nvSpPr>
        <p:spPr>
          <a:xfrm xmlns:a="http://schemas.openxmlformats.org/drawingml/2006/main">
            <a:off x="8743950" y="2571750"/>
            <a:ext cx="1990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580"/>
          </a:bodyPr>
          <a:lstStyle xmlns:a="http://schemas.openxmlformats.org/drawingml/2006/main"/>
          <a:p xmlns:a="http://schemas.openxmlformats.org/drawingml/2006/main">
            <a:pPr algn="l">
              <a:lnSpc>
                <a:spcPct val="112000"/>
              </a:lnSpc>
              <a:buNone/>
              <a:defRPr sz="1725" b="1">
                <a:solidFill>
                  <a:srgbClr val="111111"/>
                </a:solidFill>
                <a:latin typeface="PingFang SC"/>
                <a:ea typeface="PingFang SC"/>
                <a:cs typeface="PingFang SC"/>
              </a:defRPr>
            </a:pPr>
            <a:r>
              <a:rPr sz="1725" b="1">
                <a:solidFill>
                  <a:srgbClr val="111111"/>
                </a:solidFill>
                <a:latin typeface="PingFang SC"/>
                <a:ea typeface="PingFang SC"/>
                <a:cs typeface="PingFang SC"/>
              </a:rPr>
              <a:t>CLI flags</a:t>
            </a:r>
          </a:p>
        </p:txBody>
      </p:sp>
      <p:sp>
        <p:nvSpPr>
          <p:cNvPr id="17" name="flags-body">
            <a:extLst xmlns:a="http://schemas.openxmlformats.org/drawingml/2006/main">
              <a:ext uri="{FF2B5EF4-FFF2-40B4-BE49-F238E27FC236}">
                <a16:creationId xmlns:a16="http://schemas.microsoft.com/office/drawing/2014/main" id="{5DE2762B-D4E3-4748-AFF8-22CA30E1F264}"/>
              </a:ext>
            </a:extLst>
          </p:cNvPr>
          <p:cNvSpPr>
            <a:spLocks xmlns:a="http://schemas.openxmlformats.org/drawingml/2006/main" noGrp="1"/>
          </p:cNvSpPr>
          <p:nvPr/>
        </p:nvSpPr>
        <p:spPr>
          <a:xfrm xmlns:a="http://schemas.openxmlformats.org/drawingml/2006/main">
            <a:off x="8743950" y="2895600"/>
            <a:ext cx="19907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--model / --session</a:t>
            </a:r>
          </a:p>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--picoclaw-home</a:t>
            </a:r>
          </a:p>
        </p:txBody>
      </p:sp>
      <p:cxnSp>
        <p:nvCxnSpPr>
          <p:cNvPr id="39" name=""/>
          <p:cNvCxnSpPr>
            <a:stCxn xmlns:a="http://schemas.openxmlformats.org/drawingml/2006/main" id="6" idx="3"/>
            <a:endCxn xmlns:a="http://schemas.openxmlformats.org/drawingml/2006/main" id="10" idx="1"/>
          </p:cNvCxnSpPr>
          <p:nvPr/>
        </p:nvCxnSpPr>
        <p:spPr>
          <a:xfrm xmlns:a="http://schemas.openxmlformats.org/drawingml/2006/main">
            <a:off x="3476625" y="3000375"/>
            <a:ext cx="1381125"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cxnSp>
        <p:nvCxnSpPr>
          <p:cNvPr id="40" name=""/>
          <p:cNvCxnSpPr>
            <a:stCxn xmlns:a="http://schemas.openxmlformats.org/drawingml/2006/main" id="10" idx="3"/>
            <a:endCxn xmlns:a="http://schemas.openxmlformats.org/drawingml/2006/main" id="14" idx="1"/>
          </p:cNvCxnSpPr>
          <p:nvPr/>
        </p:nvCxnSpPr>
        <p:spPr>
          <a:xfrm xmlns:a="http://schemas.openxmlformats.org/drawingml/2006/main">
            <a:off x="7191375" y="3000375"/>
            <a:ext cx="1381125" cy="0"/>
          </a:xfrm>
          <a:prstGeom xmlns:a="http://schemas.openxmlformats.org/drawingml/2006/main" prst="straightConnector1">
            <a:avLst/>
          </a:prstGeom>
          <a:ln xmlns:a="http://schemas.openxmlformats.org/drawingml/2006/main" w="19050">
            <a:solidFill>
              <a:srgbClr val="B8BCC4"/>
            </a:solidFill>
            <a:prstDash val="solid"/>
            <a:tailEnd type="arrow" w="med" len="med"/>
          </a:ln>
        </p:spPr>
      </p:cxnSp>
      <p:sp>
        <p:nvSpPr>
          <p:cNvPr id="20" name="merge">
            <a:extLst xmlns:a="http://schemas.openxmlformats.org/drawingml/2006/main">
              <a:ext uri="{FF2B5EF4-FFF2-40B4-BE49-F238E27FC236}">
                <a16:creationId xmlns:a16="http://schemas.microsoft.com/office/drawing/2014/main" id="{6D1D47AF-E447-44C4-A608-C59AA675653E}"/>
              </a:ext>
            </a:extLst>
          </p:cNvPr>
          <p:cNvSpPr>
            <a:spLocks xmlns:a="http://schemas.openxmlformats.org/drawingml/2006/main" noGrp="1"/>
          </p:cNvSpPr>
          <p:nvPr/>
        </p:nvSpPr>
        <p:spPr>
          <a:xfrm xmlns:a="http://schemas.openxmlformats.org/drawingml/2006/main">
            <a:off x="3695700" y="4095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145"/>
          </a:bodyPr>
          <a:lstStyle xmlns:a="http://schemas.openxmlformats.org/drawingml/2006/main"/>
          <a:p xmlns:a="http://schemas.openxmlformats.org/drawingml/2006/main">
            <a:pPr algn="ctr">
              <a:lnSpc>
                <a:spcPct val="112000"/>
              </a:lnSpc>
              <a:buNone/>
              <a:defRPr sz="2250" b="1">
                <a:solidFill>
                  <a:srgbClr val="111111"/>
                </a:solidFill>
                <a:latin typeface="PingFang SC"/>
                <a:ea typeface="PingFang SC"/>
                <a:cs typeface="PingFang SC"/>
              </a:defRPr>
            </a:pPr>
            <a:r>
              <a:rPr sz="2250" b="1">
                <a:solidFill>
                  <a:srgbClr val="111111"/>
                </a:solidFill>
                <a:latin typeface="PingFang SC"/>
                <a:ea typeface="PingFang SC"/>
                <a:cs typeface="PingFang SC"/>
              </a:rPr>
              <a:t>Merge -&gt; final runtime parameters</a:t>
            </a:r>
          </a:p>
        </p:txBody>
      </p:sp>
      <p:sp>
        <p:nvSpPr>
          <p:cNvPr id="21" name="config-points">
            <a:extLst xmlns:a="http://schemas.openxmlformats.org/drawingml/2006/main">
              <a:ext uri="{FF2B5EF4-FFF2-40B4-BE49-F238E27FC236}">
                <a16:creationId xmlns:a16="http://schemas.microsoft.com/office/drawing/2014/main" id="{0981C14F-1732-4AFC-9E1A-FCD508F712BB}"/>
              </a:ext>
            </a:extLst>
          </p:cNvPr>
          <p:cNvSpPr>
            <a:spLocks xmlns:a="http://schemas.openxmlformats.org/drawingml/2006/main" noGrp="1"/>
          </p:cNvSpPr>
          <p:nvPr/>
        </p:nvSpPr>
        <p:spPr>
          <a:xfrm xmlns:a="http://schemas.openxmlformats.org/drawingml/2006/main">
            <a:off x="1524000" y="4953000"/>
            <a:ext cx="9334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97230"/>
          </a:bodyPr>
          <a:lstStyle xmlns:a="http://schemas.openxmlformats.org/drawingml/2006/main"/>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影响面：</a:t>
            </a:r>
            <a:r>
              <a:rPr sz="1650">
                <a:solidFill>
                  <a:srgbClr val="111111"/>
                </a:solidFill>
                <a:latin typeface="PingFang SC"/>
                <a:ea typeface="PingFang SC"/>
                <a:cs typeface="PingFang SC"/>
              </a:rPr>
              <a:t>Picoclaw home/config、默认 agent/session/model、debate、markdown/conversation、mirror 等。</a:t>
            </a:r>
          </a:p>
          <a:p xmlns:a="http://schemas.openxmlformats.org/drawingml/2006/main">
            <a:pPr marL="24" indent="-14">
              <a:lnSpc>
                <a:spcPct val="114000"/>
              </a:lnSpc>
              <a:spcAft>
                <a:spcPts val="8"/>
              </a:spcAft>
              <a:buNone/>
              <a:defRPr sz="1650">
                <a:solidFill>
                  <a:srgbClr val="111111"/>
                </a:solidFill>
                <a:latin typeface="PingFang SC"/>
                <a:ea typeface="PingFang SC"/>
                <a:cs typeface="PingFang SC"/>
              </a:defRPr>
            </a:pPr>
            <a:r>
              <a:rPr sz="1650" b="1">
                <a:solidFill>
                  <a:srgbClr val="111111"/>
                </a:solidFill>
                <a:latin typeface="PingFang SC"/>
                <a:ea typeface="PingFang SC"/>
                <a:cs typeface="PingFang SC"/>
              </a:rPr>
              <a:t>workspace：</a:t>
            </a:r>
            <a:r>
              <a:rPr sz="1650">
                <a:solidFill>
                  <a:srgbClr val="111111"/>
                </a:solidFill>
                <a:latin typeface="PingFang SC"/>
                <a:ea typeface="PingFang SC"/>
                <a:cs typeface="PingFang SC"/>
              </a:rPr>
              <a:t>项目本地状态主要落在 `.tt/`，formula run store 和用户 formula 都围绕它组织。</a:t>
            </a:r>
          </a:p>
        </p:txBody>
      </p:sp>
    </p:spTree>
    <p:extLst>
      <p:ext uri="{BB962C8B-B14F-4D97-AF65-F5344CB8AC3E}">
        <p14:creationId xmlns:p14="http://schemas.microsoft.com/office/powerpoint/2010/main" val="180198369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E93EFC55-06B9-4D93-9CC6-AA855B77BD81}"/>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usage scenarios</a:t>
            </a:r>
          </a:p>
        </p:txBody>
      </p:sp>
      <p:sp>
        <p:nvSpPr>
          <p:cNvPr id="2" name="title">
            <a:extLst xmlns:a="http://schemas.openxmlformats.org/drawingml/2006/main">
              <a:ext uri="{FF2B5EF4-FFF2-40B4-BE49-F238E27FC236}">
                <a16:creationId xmlns:a16="http://schemas.microsoft.com/office/drawing/2014/main" id="{443674E5-1F63-42B3-A2B8-916786520A6F}"/>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典型使用场景</a:t>
            </a:r>
          </a:p>
        </p:txBody>
      </p:sp>
      <p:sp>
        <p:nvSpPr>
          <p:cNvPr id="3" name="subtitle">
            <a:extLst xmlns:a="http://schemas.openxmlformats.org/drawingml/2006/main">
              <a:ext uri="{FF2B5EF4-FFF2-40B4-BE49-F238E27FC236}">
                <a16:creationId xmlns:a16="http://schemas.microsoft.com/office/drawing/2014/main" id="{173230BA-DC68-4AE2-BF85-617625E22F3B}"/>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从团队日常工作倒推，tt 的入口会自然落到不同命令族。</a:t>
            </a:r>
          </a:p>
        </p:txBody>
      </p:sp>
      <p:sp>
        <p:nvSpPr>
          <p:cNvPr id="4" name="footer-left">
            <a:extLst xmlns:a="http://schemas.openxmlformats.org/drawingml/2006/main">
              <a:ext uri="{FF2B5EF4-FFF2-40B4-BE49-F238E27FC236}">
                <a16:creationId xmlns:a16="http://schemas.microsoft.com/office/drawing/2014/main" id="{511E8969-DF0E-4CA0-A2DB-F76D1C4F3539}"/>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A38BB913-2142-434E-B242-C5345B94E2BE}"/>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16</a:t>
            </a:r>
          </a:p>
        </p:txBody>
      </p:sp>
      <p:sp>
        <p:nvSpPr>
          <p:cNvPr id="6" name="scenario-0-panel">
            <a:extLst xmlns:a="http://schemas.openxmlformats.org/drawingml/2006/main">
              <a:ext uri="{FF2B5EF4-FFF2-40B4-BE49-F238E27FC236}">
                <a16:creationId xmlns:a16="http://schemas.microsoft.com/office/drawing/2014/main" id="{D4FCB909-579E-4814-8DC7-9430F882104B}"/>
              </a:ext>
            </a:extLst>
          </p:cNvPr>
          <p:cNvSpPr>
            <a:spLocks xmlns:a="http://schemas.openxmlformats.org/drawingml/2006/main" noGrp="1"/>
          </p:cNvSpPr>
          <p:nvPr/>
        </p:nvSpPr>
        <p:spPr>
          <a:xfrm xmlns:a="http://schemas.openxmlformats.org/drawingml/2006/main">
            <a:off x="762000" y="1762125"/>
            <a:ext cx="476250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7" name="scenario-0-accent">
            <a:extLst xmlns:a="http://schemas.openxmlformats.org/drawingml/2006/main">
              <a:ext uri="{FF2B5EF4-FFF2-40B4-BE49-F238E27FC236}">
                <a16:creationId xmlns:a16="http://schemas.microsoft.com/office/drawing/2014/main" id="{DE0133C7-D4DF-467B-A2A0-C54F51FF594D}"/>
              </a:ext>
            </a:extLst>
          </p:cNvPr>
          <p:cNvSpPr>
            <a:spLocks xmlns:a="http://schemas.openxmlformats.org/drawingml/2006/main" noGrp="1"/>
          </p:cNvSpPr>
          <p:nvPr/>
        </p:nvSpPr>
        <p:spPr>
          <a:xfrm xmlns:a="http://schemas.openxmlformats.org/drawingml/2006/main">
            <a:off x="762000" y="1762125"/>
            <a:ext cx="66675" cy="9525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8" name="scenario-0-label">
            <a:extLst xmlns:a="http://schemas.openxmlformats.org/drawingml/2006/main">
              <a:ext uri="{FF2B5EF4-FFF2-40B4-BE49-F238E27FC236}">
                <a16:creationId xmlns:a16="http://schemas.microsoft.com/office/drawing/2014/main" id="{3DD178DD-3381-4A0C-9C95-54A85118F1C8}"/>
              </a:ext>
            </a:extLst>
          </p:cNvPr>
          <p:cNvSpPr>
            <a:spLocks xmlns:a="http://schemas.openxmlformats.org/drawingml/2006/main" noGrp="1"/>
          </p:cNvSpPr>
          <p:nvPr/>
        </p:nvSpPr>
        <p:spPr>
          <a:xfrm xmlns:a="http://schemas.openxmlformats.org/drawingml/2006/main">
            <a:off x="971550" y="1971675"/>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新同事 onboarding</a:t>
            </a:r>
          </a:p>
        </p:txBody>
      </p:sp>
      <p:sp>
        <p:nvSpPr>
          <p:cNvPr id="9" name="scenario-0-body">
            <a:extLst xmlns:a="http://schemas.openxmlformats.org/drawingml/2006/main">
              <a:ext uri="{FF2B5EF4-FFF2-40B4-BE49-F238E27FC236}">
                <a16:creationId xmlns:a16="http://schemas.microsoft.com/office/drawing/2014/main" id="{D01F1944-EDF1-4CB0-BEF8-02259E26C347}"/>
              </a:ext>
            </a:extLst>
          </p:cNvPr>
          <p:cNvSpPr>
            <a:spLocks xmlns:a="http://schemas.openxmlformats.org/drawingml/2006/main" noGrp="1"/>
          </p:cNvSpPr>
          <p:nvPr/>
        </p:nvSpPr>
        <p:spPr>
          <a:xfrm xmlns:a="http://schemas.openxmlformats.org/drawingml/2006/main">
            <a:off x="971550" y="2390775"/>
            <a:ext cx="434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29735"/>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docs analyze + markdown</a:t>
            </a:r>
          </a:p>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快速生成/浏览项目理解材料</a:t>
            </a:r>
          </a:p>
        </p:txBody>
      </p:sp>
      <p:sp>
        <p:nvSpPr>
          <p:cNvPr id="10" name="scenario-1-panel">
            <a:extLst xmlns:a="http://schemas.openxmlformats.org/drawingml/2006/main">
              <a:ext uri="{FF2B5EF4-FFF2-40B4-BE49-F238E27FC236}">
                <a16:creationId xmlns:a16="http://schemas.microsoft.com/office/drawing/2014/main" id="{3B9DC368-7831-4EF0-8B68-31A13E5E02CC}"/>
              </a:ext>
            </a:extLst>
          </p:cNvPr>
          <p:cNvSpPr>
            <a:spLocks xmlns:a="http://schemas.openxmlformats.org/drawingml/2006/main" noGrp="1"/>
          </p:cNvSpPr>
          <p:nvPr/>
        </p:nvSpPr>
        <p:spPr>
          <a:xfrm xmlns:a="http://schemas.openxmlformats.org/drawingml/2006/main">
            <a:off x="6191250" y="1762125"/>
            <a:ext cx="476250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1" name="scenario-1-accent">
            <a:extLst xmlns:a="http://schemas.openxmlformats.org/drawingml/2006/main">
              <a:ext uri="{FF2B5EF4-FFF2-40B4-BE49-F238E27FC236}">
                <a16:creationId xmlns:a16="http://schemas.microsoft.com/office/drawing/2014/main" id="{5EB82144-7C5A-40A8-8C39-8F974C46A942}"/>
              </a:ext>
            </a:extLst>
          </p:cNvPr>
          <p:cNvSpPr>
            <a:spLocks xmlns:a="http://schemas.openxmlformats.org/drawingml/2006/main" noGrp="1"/>
          </p:cNvSpPr>
          <p:nvPr/>
        </p:nvSpPr>
        <p:spPr>
          <a:xfrm xmlns:a="http://schemas.openxmlformats.org/drawingml/2006/main">
            <a:off x="6191250" y="1762125"/>
            <a:ext cx="66675" cy="9525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2" name="scenario-1-label">
            <a:extLst xmlns:a="http://schemas.openxmlformats.org/drawingml/2006/main">
              <a:ext uri="{FF2B5EF4-FFF2-40B4-BE49-F238E27FC236}">
                <a16:creationId xmlns:a16="http://schemas.microsoft.com/office/drawing/2014/main" id="{B2D55C3F-4B55-44AE-A261-6073B7C331D7}"/>
              </a:ext>
            </a:extLst>
          </p:cNvPr>
          <p:cNvSpPr>
            <a:spLocks xmlns:a="http://schemas.openxmlformats.org/drawingml/2006/main" noGrp="1"/>
          </p:cNvSpPr>
          <p:nvPr/>
        </p:nvSpPr>
        <p:spPr>
          <a:xfrm xmlns:a="http://schemas.openxmlformats.org/drawingml/2006/main">
            <a:off x="6400800" y="1971675"/>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重复工程任务</a:t>
            </a:r>
          </a:p>
        </p:txBody>
      </p:sp>
      <p:sp>
        <p:nvSpPr>
          <p:cNvPr id="13" name="scenario-1-body">
            <a:extLst xmlns:a="http://schemas.openxmlformats.org/drawingml/2006/main">
              <a:ext uri="{FF2B5EF4-FFF2-40B4-BE49-F238E27FC236}">
                <a16:creationId xmlns:a16="http://schemas.microsoft.com/office/drawing/2014/main" id="{114EE7C2-EB63-4BC5-BC56-56617B792DAA}"/>
              </a:ext>
            </a:extLst>
          </p:cNvPr>
          <p:cNvSpPr>
            <a:spLocks xmlns:a="http://schemas.openxmlformats.org/drawingml/2006/main" noGrp="1"/>
          </p:cNvSpPr>
          <p:nvPr/>
        </p:nvSpPr>
        <p:spPr>
          <a:xfrm xmlns:a="http://schemas.openxmlformats.org/drawingml/2006/main">
            <a:off x="6400800" y="2390775"/>
            <a:ext cx="434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29735"/>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formula create/copy/run</a:t>
            </a:r>
          </a:p>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把修 bug、实现 feature、PR rebase 变成可恢复流程</a:t>
            </a:r>
          </a:p>
        </p:txBody>
      </p:sp>
      <p:sp>
        <p:nvSpPr>
          <p:cNvPr id="14" name="scenario-2-panel">
            <a:extLst xmlns:a="http://schemas.openxmlformats.org/drawingml/2006/main">
              <a:ext uri="{FF2B5EF4-FFF2-40B4-BE49-F238E27FC236}">
                <a16:creationId xmlns:a16="http://schemas.microsoft.com/office/drawing/2014/main" id="{A7DD42ED-7684-4533-B56A-52568B0F147D}"/>
              </a:ext>
            </a:extLst>
          </p:cNvPr>
          <p:cNvSpPr>
            <a:spLocks xmlns:a="http://schemas.openxmlformats.org/drawingml/2006/main" noGrp="1"/>
          </p:cNvSpPr>
          <p:nvPr/>
        </p:nvSpPr>
        <p:spPr>
          <a:xfrm xmlns:a="http://schemas.openxmlformats.org/drawingml/2006/main">
            <a:off x="762000" y="3019425"/>
            <a:ext cx="476250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5" name="scenario-2-accent">
            <a:extLst xmlns:a="http://schemas.openxmlformats.org/drawingml/2006/main">
              <a:ext uri="{FF2B5EF4-FFF2-40B4-BE49-F238E27FC236}">
                <a16:creationId xmlns:a16="http://schemas.microsoft.com/office/drawing/2014/main" id="{7D889426-7DD4-4EB2-975F-4C0481185CE9}"/>
              </a:ext>
            </a:extLst>
          </p:cNvPr>
          <p:cNvSpPr>
            <a:spLocks xmlns:a="http://schemas.openxmlformats.org/drawingml/2006/main" noGrp="1"/>
          </p:cNvSpPr>
          <p:nvPr/>
        </p:nvSpPr>
        <p:spPr>
          <a:xfrm xmlns:a="http://schemas.openxmlformats.org/drawingml/2006/main">
            <a:off x="762000" y="3019425"/>
            <a:ext cx="66675" cy="9525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6" name="scenario-2-label">
            <a:extLst xmlns:a="http://schemas.openxmlformats.org/drawingml/2006/main">
              <a:ext uri="{FF2B5EF4-FFF2-40B4-BE49-F238E27FC236}">
                <a16:creationId xmlns:a16="http://schemas.microsoft.com/office/drawing/2014/main" id="{DC6C60E2-0A25-4065-9119-95FEE5462BDC}"/>
              </a:ext>
            </a:extLst>
          </p:cNvPr>
          <p:cNvSpPr>
            <a:spLocks xmlns:a="http://schemas.openxmlformats.org/drawingml/2006/main" noGrp="1"/>
          </p:cNvSpPr>
          <p:nvPr/>
        </p:nvSpPr>
        <p:spPr>
          <a:xfrm xmlns:a="http://schemas.openxmlformats.org/drawingml/2006/main">
            <a:off x="971550" y="3228975"/>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代码评审/PR 处理</a:t>
            </a:r>
          </a:p>
        </p:txBody>
      </p:sp>
      <p:sp>
        <p:nvSpPr>
          <p:cNvPr id="17" name="scenario-2-body">
            <a:extLst xmlns:a="http://schemas.openxmlformats.org/drawingml/2006/main">
              <a:ext uri="{FF2B5EF4-FFF2-40B4-BE49-F238E27FC236}">
                <a16:creationId xmlns:a16="http://schemas.microsoft.com/office/drawing/2014/main" id="{46ECFD72-BCB5-4BB6-9AF7-2B9E4D1CF2CB}"/>
              </a:ext>
            </a:extLst>
          </p:cNvPr>
          <p:cNvSpPr>
            <a:spLocks xmlns:a="http://schemas.openxmlformats.org/drawingml/2006/main" noGrp="1"/>
          </p:cNvSpPr>
          <p:nvPr/>
        </p:nvSpPr>
        <p:spPr>
          <a:xfrm xmlns:a="http://schemas.openxmlformats.org/drawingml/2006/main">
            <a:off x="971550" y="3648075"/>
            <a:ext cx="434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29735"/>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github formulas + external_agent</a:t>
            </a:r>
          </a:p>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批量处理 review comments 或 rebase</a:t>
            </a:r>
          </a:p>
        </p:txBody>
      </p:sp>
      <p:sp>
        <p:nvSpPr>
          <p:cNvPr id="18" name="scenario-3-panel">
            <a:extLst xmlns:a="http://schemas.openxmlformats.org/drawingml/2006/main">
              <a:ext uri="{FF2B5EF4-FFF2-40B4-BE49-F238E27FC236}">
                <a16:creationId xmlns:a16="http://schemas.microsoft.com/office/drawing/2014/main" id="{5374B768-5209-4F8E-81AD-F19C4939B5FD}"/>
              </a:ext>
            </a:extLst>
          </p:cNvPr>
          <p:cNvSpPr>
            <a:spLocks xmlns:a="http://schemas.openxmlformats.org/drawingml/2006/main" noGrp="1"/>
          </p:cNvSpPr>
          <p:nvPr/>
        </p:nvSpPr>
        <p:spPr>
          <a:xfrm xmlns:a="http://schemas.openxmlformats.org/drawingml/2006/main">
            <a:off x="6191250" y="3019425"/>
            <a:ext cx="476250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19" name="scenario-3-accent">
            <a:extLst xmlns:a="http://schemas.openxmlformats.org/drawingml/2006/main">
              <a:ext uri="{FF2B5EF4-FFF2-40B4-BE49-F238E27FC236}">
                <a16:creationId xmlns:a16="http://schemas.microsoft.com/office/drawing/2014/main" id="{56EDF32B-D5F4-470C-B05E-98CF0A699340}"/>
              </a:ext>
            </a:extLst>
          </p:cNvPr>
          <p:cNvSpPr>
            <a:spLocks xmlns:a="http://schemas.openxmlformats.org/drawingml/2006/main" noGrp="1"/>
          </p:cNvSpPr>
          <p:nvPr/>
        </p:nvSpPr>
        <p:spPr>
          <a:xfrm xmlns:a="http://schemas.openxmlformats.org/drawingml/2006/main">
            <a:off x="6191250" y="3019425"/>
            <a:ext cx="66675" cy="9525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20" name="scenario-3-label">
            <a:extLst xmlns:a="http://schemas.openxmlformats.org/drawingml/2006/main">
              <a:ext uri="{FF2B5EF4-FFF2-40B4-BE49-F238E27FC236}">
                <a16:creationId xmlns:a16="http://schemas.microsoft.com/office/drawing/2014/main" id="{863D4B2F-86EF-4D11-95B2-A0109AD5D259}"/>
              </a:ext>
            </a:extLst>
          </p:cNvPr>
          <p:cNvSpPr>
            <a:spLocks xmlns:a="http://schemas.openxmlformats.org/drawingml/2006/main" noGrp="1"/>
          </p:cNvSpPr>
          <p:nvPr/>
        </p:nvSpPr>
        <p:spPr>
          <a:xfrm xmlns:a="http://schemas.openxmlformats.org/drawingml/2006/main">
            <a:off x="6400800" y="3228975"/>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本地资料阅读</a:t>
            </a:r>
          </a:p>
        </p:txBody>
      </p:sp>
      <p:sp>
        <p:nvSpPr>
          <p:cNvPr id="21" name="scenario-3-body">
            <a:extLst xmlns:a="http://schemas.openxmlformats.org/drawingml/2006/main">
              <a:ext uri="{FF2B5EF4-FFF2-40B4-BE49-F238E27FC236}">
                <a16:creationId xmlns:a16="http://schemas.microsoft.com/office/drawing/2014/main" id="{4423F0BB-6381-475B-BAC7-80964DDF3AC1}"/>
              </a:ext>
            </a:extLst>
          </p:cNvPr>
          <p:cNvSpPr>
            <a:spLocks xmlns:a="http://schemas.openxmlformats.org/drawingml/2006/main" noGrp="1"/>
          </p:cNvSpPr>
          <p:nvPr/>
        </p:nvSpPr>
        <p:spPr>
          <a:xfrm xmlns:a="http://schemas.openxmlformats.org/drawingml/2006/main">
            <a:off x="6400800" y="3648075"/>
            <a:ext cx="434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29735"/>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markdown/json/conversation</a:t>
            </a:r>
          </a:p>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用浏览器读结构化文件和会话记录</a:t>
            </a:r>
          </a:p>
        </p:txBody>
      </p:sp>
      <p:sp>
        <p:nvSpPr>
          <p:cNvPr id="22" name="scenario-4-panel">
            <a:extLst xmlns:a="http://schemas.openxmlformats.org/drawingml/2006/main">
              <a:ext uri="{FF2B5EF4-FFF2-40B4-BE49-F238E27FC236}">
                <a16:creationId xmlns:a16="http://schemas.microsoft.com/office/drawing/2014/main" id="{73B5B514-7D7A-42B4-B366-2EBC5022E373}"/>
              </a:ext>
            </a:extLst>
          </p:cNvPr>
          <p:cNvSpPr>
            <a:spLocks xmlns:a="http://schemas.openxmlformats.org/drawingml/2006/main" noGrp="1"/>
          </p:cNvSpPr>
          <p:nvPr/>
        </p:nvSpPr>
        <p:spPr>
          <a:xfrm xmlns:a="http://schemas.openxmlformats.org/drawingml/2006/main">
            <a:off x="762000" y="4276725"/>
            <a:ext cx="476250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23" name="scenario-4-accent">
            <a:extLst xmlns:a="http://schemas.openxmlformats.org/drawingml/2006/main">
              <a:ext uri="{FF2B5EF4-FFF2-40B4-BE49-F238E27FC236}">
                <a16:creationId xmlns:a16="http://schemas.microsoft.com/office/drawing/2014/main" id="{F492425B-EB7E-4BFA-B6F6-74AA25CA0BAB}"/>
              </a:ext>
            </a:extLst>
          </p:cNvPr>
          <p:cNvSpPr>
            <a:spLocks xmlns:a="http://schemas.openxmlformats.org/drawingml/2006/main" noGrp="1"/>
          </p:cNvSpPr>
          <p:nvPr/>
        </p:nvSpPr>
        <p:spPr>
          <a:xfrm xmlns:a="http://schemas.openxmlformats.org/drawingml/2006/main">
            <a:off x="762000" y="4276725"/>
            <a:ext cx="66675" cy="9525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4" name="scenario-4-label">
            <a:extLst xmlns:a="http://schemas.openxmlformats.org/drawingml/2006/main">
              <a:ext uri="{FF2B5EF4-FFF2-40B4-BE49-F238E27FC236}">
                <a16:creationId xmlns:a16="http://schemas.microsoft.com/office/drawing/2014/main" id="{987C93A0-779D-42D4-AAC1-314003507830}"/>
              </a:ext>
            </a:extLst>
          </p:cNvPr>
          <p:cNvSpPr>
            <a:spLocks xmlns:a="http://schemas.openxmlformats.org/drawingml/2006/main" noGrp="1"/>
          </p:cNvSpPr>
          <p:nvPr/>
        </p:nvSpPr>
        <p:spPr>
          <a:xfrm xmlns:a="http://schemas.openxmlformats.org/drawingml/2006/main">
            <a:off x="971550" y="4486275"/>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agent 资产建设</a:t>
            </a:r>
          </a:p>
        </p:txBody>
      </p:sp>
      <p:sp>
        <p:nvSpPr>
          <p:cNvPr id="25" name="scenario-4-body">
            <a:extLst xmlns:a="http://schemas.openxmlformats.org/drawingml/2006/main">
              <a:ext uri="{FF2B5EF4-FFF2-40B4-BE49-F238E27FC236}">
                <a16:creationId xmlns:a16="http://schemas.microsoft.com/office/drawing/2014/main" id="{499AF284-8980-44B2-8656-6EE49DA6B50F}"/>
              </a:ext>
            </a:extLst>
          </p:cNvPr>
          <p:cNvSpPr>
            <a:spLocks xmlns:a="http://schemas.openxmlformats.org/drawingml/2006/main" noGrp="1"/>
          </p:cNvSpPr>
          <p:nvPr/>
        </p:nvSpPr>
        <p:spPr>
          <a:xfrm xmlns:a="http://schemas.openxmlformats.org/drawingml/2006/main">
            <a:off x="971550" y="4905375"/>
            <a:ext cx="434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29735"/>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repo2skill/cmd2skill/nvwa</a:t>
            </a:r>
          </a:p>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把命令、仓库和角色固化为可复用 skill/agent</a:t>
            </a:r>
          </a:p>
        </p:txBody>
      </p:sp>
      <p:sp>
        <p:nvSpPr>
          <p:cNvPr id="26" name="scenario-5-panel">
            <a:extLst xmlns:a="http://schemas.openxmlformats.org/drawingml/2006/main">
              <a:ext uri="{FF2B5EF4-FFF2-40B4-BE49-F238E27FC236}">
                <a16:creationId xmlns:a16="http://schemas.microsoft.com/office/drawing/2014/main" id="{6B14CD6B-C93B-4C5C-A461-3D7219E78A88}"/>
              </a:ext>
            </a:extLst>
          </p:cNvPr>
          <p:cNvSpPr>
            <a:spLocks xmlns:a="http://schemas.openxmlformats.org/drawingml/2006/main" noGrp="1"/>
          </p:cNvSpPr>
          <p:nvPr/>
        </p:nvSpPr>
        <p:spPr>
          <a:xfrm xmlns:a="http://schemas.openxmlformats.org/drawingml/2006/main">
            <a:off x="6191250" y="4276725"/>
            <a:ext cx="4762500" cy="952500"/>
          </a:xfrm>
          <a:prstGeom xmlns:a="http://schemas.openxmlformats.org/drawingml/2006/main" prst="rect">
            <a:avLst/>
          </a:prstGeom>
          <a:solidFill xmlns:a="http://schemas.openxmlformats.org/drawingml/2006/main">
            <a:srgbClr val="F7F7F7"/>
          </a:solidFill>
          <a:ln xmlns:a="http://schemas.openxmlformats.org/drawingml/2006/main" w="9525">
            <a:solidFill>
              <a:srgbClr val="D8D8D8"/>
            </a:solidFill>
            <a:prstDash val="solid"/>
          </a:ln>
        </p:spPr>
      </p:sp>
      <p:sp>
        <p:nvSpPr>
          <p:cNvPr id="27" name="scenario-5-accent">
            <a:extLst xmlns:a="http://schemas.openxmlformats.org/drawingml/2006/main">
              <a:ext uri="{FF2B5EF4-FFF2-40B4-BE49-F238E27FC236}">
                <a16:creationId xmlns:a16="http://schemas.microsoft.com/office/drawing/2014/main" id="{F2E8AB96-C65C-437E-BE32-1627F30D5BB0}"/>
              </a:ext>
            </a:extLst>
          </p:cNvPr>
          <p:cNvSpPr>
            <a:spLocks xmlns:a="http://schemas.openxmlformats.org/drawingml/2006/main" noGrp="1"/>
          </p:cNvSpPr>
          <p:nvPr/>
        </p:nvSpPr>
        <p:spPr>
          <a:xfrm xmlns:a="http://schemas.openxmlformats.org/drawingml/2006/main">
            <a:off x="6191250" y="4276725"/>
            <a:ext cx="66675" cy="9525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8" name="scenario-5-label">
            <a:extLst xmlns:a="http://schemas.openxmlformats.org/drawingml/2006/main">
              <a:ext uri="{FF2B5EF4-FFF2-40B4-BE49-F238E27FC236}">
                <a16:creationId xmlns:a16="http://schemas.microsoft.com/office/drawing/2014/main" id="{19FAD36D-902F-4359-AE0A-6162EE49EB02}"/>
              </a:ext>
            </a:extLst>
          </p:cNvPr>
          <p:cNvSpPr>
            <a:spLocks xmlns:a="http://schemas.openxmlformats.org/drawingml/2006/main" noGrp="1"/>
          </p:cNvSpPr>
          <p:nvPr/>
        </p:nvSpPr>
        <p:spPr>
          <a:xfrm xmlns:a="http://schemas.openxmlformats.org/drawingml/2006/main">
            <a:off x="6400800" y="4486275"/>
            <a:ext cx="434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自动回复/监控</a:t>
            </a:r>
          </a:p>
        </p:txBody>
      </p:sp>
      <p:sp>
        <p:nvSpPr>
          <p:cNvPr id="29" name="scenario-5-body">
            <a:extLst xmlns:a="http://schemas.openxmlformats.org/drawingml/2006/main">
              <a:ext uri="{FF2B5EF4-FFF2-40B4-BE49-F238E27FC236}">
                <a16:creationId xmlns:a16="http://schemas.microsoft.com/office/drawing/2014/main" id="{71B2AE16-7853-422D-BAAA-240631EB80B4}"/>
              </a:ext>
            </a:extLst>
          </p:cNvPr>
          <p:cNvSpPr>
            <a:spLocks xmlns:a="http://schemas.openxmlformats.org/drawingml/2006/main" noGrp="1"/>
          </p:cNvSpPr>
          <p:nvPr/>
        </p:nvSpPr>
        <p:spPr>
          <a:xfrm xmlns:a="http://schemas.openxmlformats.org/drawingml/2006/main">
            <a:off x="6400800" y="4905375"/>
            <a:ext cx="4343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29735"/>
          </a:bodyPr>
          <a:lstStyle xmlns:a="http://schemas.openxmlformats.org/drawingml/2006/main"/>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lark formulas + schedule</a:t>
            </a:r>
          </a:p>
          <a:p xmlns:a="http://schemas.openxmlformats.org/drawingml/2006/main">
            <a:pPr algn="l">
              <a:lnSpc>
                <a:spcPct val="118000"/>
              </a:lnSpc>
              <a:buNone/>
              <a:defRPr sz="1425" b="0">
                <a:solidFill>
                  <a:srgbClr val="555555"/>
                </a:solidFill>
                <a:latin typeface="PingFang SC"/>
                <a:ea typeface="PingFang SC"/>
                <a:cs typeface="PingFang SC"/>
              </a:defRPr>
            </a:pPr>
            <a:r>
              <a:rPr sz="1425" b="0">
                <a:solidFill>
                  <a:srgbClr val="555555"/>
                </a:solidFill>
                <a:latin typeface="PingFang SC"/>
                <a:ea typeface="PingFang SC"/>
                <a:cs typeface="PingFang SC"/>
              </a:rPr>
              <a:t>低成本轮询，命中后再调用 agent</a:t>
            </a:r>
          </a:p>
        </p:txBody>
      </p:sp>
    </p:spTree>
    <p:extLst>
      <p:ext uri="{BB962C8B-B14F-4D97-AF65-F5344CB8AC3E}">
        <p14:creationId xmlns:p14="http://schemas.microsoft.com/office/powerpoint/2010/main" val="130737240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535A3840-FB45-422F-AE04-DE3121DD393B}"/>
              </a:ext>
            </a:extLst>
          </p:cNvPr>
          <p:cNvSpPr>
            <a:spLocks xmlns:a="http://schemas.openxmlformats.org/drawingml/2006/main" noGrp="1"/>
          </p:cNvSpPr>
          <p:nvPr/>
        </p:nvSpPr>
        <p:spPr>
          <a:xfrm xmlns:a="http://schemas.openxmlformats.org/drawingml/2006/main">
            <a:off x="400050" y="3048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125" b="1">
                <a:solidFill>
                  <a:srgbClr val="555555"/>
                </a:solidFill>
                <a:latin typeface="PingFang SC"/>
                <a:ea typeface="PingFang SC"/>
                <a:cs typeface="PingFang SC"/>
              </a:defRPr>
            </a:pPr>
            <a:r>
              <a:rPr sz="1125" b="1">
                <a:solidFill>
                  <a:srgbClr val="555555"/>
                </a:solidFill>
                <a:latin typeface="PingFang SC"/>
                <a:ea typeface="PingFang SC"/>
                <a:cs typeface="PingFang SC"/>
              </a:rPr>
              <a:t>extension guide</a:t>
            </a:r>
          </a:p>
        </p:txBody>
      </p:sp>
      <p:sp>
        <p:nvSpPr>
          <p:cNvPr id="2" name="title">
            <a:extLst xmlns:a="http://schemas.openxmlformats.org/drawingml/2006/main">
              <a:ext uri="{FF2B5EF4-FFF2-40B4-BE49-F238E27FC236}">
                <a16:creationId xmlns:a16="http://schemas.microsoft.com/office/drawing/2014/main" id="{A7CC2BB8-9E58-4C99-9A0C-8667C1C07057}"/>
              </a:ext>
            </a:extLst>
          </p:cNvPr>
          <p:cNvSpPr>
            <a:spLocks xmlns:a="http://schemas.openxmlformats.org/drawingml/2006/main" noGrp="1"/>
          </p:cNvSpPr>
          <p:nvPr/>
        </p:nvSpPr>
        <p:spPr>
          <a:xfrm xmlns:a="http://schemas.openxmlformats.org/drawingml/2006/main">
            <a:off x="400050" y="723900"/>
            <a:ext cx="838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750" b="1">
                <a:solidFill>
                  <a:srgbClr val="111111"/>
                </a:solidFill>
                <a:latin typeface="PingFang SC"/>
                <a:ea typeface="PingFang SC"/>
                <a:cs typeface="PingFang SC"/>
              </a:defRPr>
            </a:pPr>
            <a:r>
              <a:rPr sz="3750" b="1">
                <a:solidFill>
                  <a:srgbClr val="111111"/>
                </a:solidFill>
                <a:latin typeface="PingFang SC"/>
                <a:ea typeface="PingFang SC"/>
                <a:cs typeface="PingFang SC"/>
              </a:rPr>
              <a:t>后续扩展该改哪里</a:t>
            </a:r>
          </a:p>
        </p:txBody>
      </p:sp>
      <p:sp>
        <p:nvSpPr>
          <p:cNvPr id="3" name="subtitle">
            <a:extLst xmlns:a="http://schemas.openxmlformats.org/drawingml/2006/main">
              <a:ext uri="{FF2B5EF4-FFF2-40B4-BE49-F238E27FC236}">
                <a16:creationId xmlns:a16="http://schemas.microsoft.com/office/drawing/2014/main" id="{AF2EFE1E-B514-426C-B2F0-93FDF41DB56B}"/>
              </a:ext>
            </a:extLst>
          </p:cNvPr>
          <p:cNvSpPr>
            <a:spLocks xmlns:a="http://schemas.openxmlformats.org/drawingml/2006/main" noGrp="1"/>
          </p:cNvSpPr>
          <p:nvPr/>
        </p:nvSpPr>
        <p:spPr>
          <a:xfrm xmlns:a="http://schemas.openxmlformats.org/drawingml/2006/main">
            <a:off x="400050" y="1600200"/>
            <a:ext cx="742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55555"/>
                </a:solidFill>
                <a:latin typeface="PingFang SC"/>
                <a:ea typeface="PingFang SC"/>
                <a:cs typeface="PingFang SC"/>
              </a:defRPr>
            </a:pPr>
            <a:r>
              <a:rPr sz="1650" b="0">
                <a:solidFill>
                  <a:srgbClr val="555555"/>
                </a:solidFill>
                <a:latin typeface="PingFang SC"/>
                <a:ea typeface="PingFang SC"/>
                <a:cs typeface="PingFang SC"/>
              </a:rPr>
              <a:t>给同事一个最小导航表：先定位运行模型，再进入对应目录。</a:t>
            </a:r>
          </a:p>
        </p:txBody>
      </p:sp>
      <p:sp>
        <p:nvSpPr>
          <p:cNvPr id="4" name="footer-left">
            <a:extLst xmlns:a="http://schemas.openxmlformats.org/drawingml/2006/main">
              <a:ext uri="{FF2B5EF4-FFF2-40B4-BE49-F238E27FC236}">
                <a16:creationId xmlns:a16="http://schemas.microsoft.com/office/drawing/2014/main" id="{EB8D16FE-F574-4B81-A712-9BBFBB39B950}"/>
              </a:ext>
            </a:extLst>
          </p:cNvPr>
          <p:cNvSpPr>
            <a:spLocks xmlns:a="http://schemas.openxmlformats.org/drawingml/2006/main" noGrp="1"/>
          </p:cNvSpPr>
          <p:nvPr/>
        </p:nvSpPr>
        <p:spPr>
          <a:xfrm xmlns:a="http://schemas.openxmlformats.org/drawingml/2006/main">
            <a:off x="400050" y="64008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tt project introduction</a:t>
            </a:r>
          </a:p>
        </p:txBody>
      </p:sp>
      <p:sp>
        <p:nvSpPr>
          <p:cNvPr id="5" name="footer-no">
            <a:extLst xmlns:a="http://schemas.openxmlformats.org/drawingml/2006/main">
              <a:ext uri="{FF2B5EF4-FFF2-40B4-BE49-F238E27FC236}">
                <a16:creationId xmlns:a16="http://schemas.microsoft.com/office/drawing/2014/main" id="{A890907E-1F6E-445B-B296-8B9BA6386F6B}"/>
              </a:ext>
            </a:extLst>
          </p:cNvPr>
          <p:cNvSpPr>
            <a:spLocks xmlns:a="http://schemas.openxmlformats.org/drawingml/2006/main" noGrp="1"/>
          </p:cNvSpPr>
          <p:nvPr/>
        </p:nvSpPr>
        <p:spPr>
          <a:xfrm xmlns:a="http://schemas.openxmlformats.org/drawingml/2006/main">
            <a:off x="11296650" y="64008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2000"/>
              </a:lnSpc>
              <a:buNone/>
              <a:defRPr sz="1050" b="0">
                <a:solidFill>
                  <a:srgbClr val="555555"/>
                </a:solidFill>
                <a:latin typeface="PingFang SC"/>
                <a:ea typeface="PingFang SC"/>
                <a:cs typeface="PingFang SC"/>
              </a:defRPr>
            </a:pPr>
            <a:r>
              <a:rPr sz="1050" b="0">
                <a:solidFill>
                  <a:srgbClr val="555555"/>
                </a:solidFill>
                <a:latin typeface="PingFang SC"/>
                <a:ea typeface="PingFang SC"/>
                <a:cs typeface="PingFang SC"/>
              </a:rPr>
              <a:t>17</a:t>
            </a:r>
          </a:p>
        </p:txBody>
      </p:sp>
      <p:sp>
        <p:nvSpPr>
          <p:cNvPr id="6" name="ext-row-220">
            <a:extLst xmlns:a="http://schemas.openxmlformats.org/drawingml/2006/main">
              <a:ext uri="{FF2B5EF4-FFF2-40B4-BE49-F238E27FC236}">
                <a16:creationId xmlns:a16="http://schemas.microsoft.com/office/drawing/2014/main" id="{9EE4C6BE-BFB5-42B4-8947-855982382EDF}"/>
              </a:ext>
            </a:extLst>
          </p:cNvPr>
          <p:cNvSpPr>
            <a:spLocks xmlns:a="http://schemas.openxmlformats.org/drawingml/2006/main" noGrp="1"/>
          </p:cNvSpPr>
          <p:nvPr/>
        </p:nvSpPr>
        <p:spPr>
          <a:xfrm xmlns:a="http://schemas.openxmlformats.org/drawingml/2006/main">
            <a:off x="609600" y="2095500"/>
            <a:ext cx="10953750" cy="590550"/>
          </a:xfrm>
          <a:prstGeom xmlns:a="http://schemas.openxmlformats.org/drawingml/2006/main" prst="rect">
            <a:avLst/>
          </a:prstGeom>
          <a:solidFill xmlns:a="http://schemas.openxmlformats.org/drawingml/2006/main">
            <a:srgbClr val="F7F7F7"/>
          </a:solidFill>
          <a:ln xmlns:a="http://schemas.openxmlformats.org/drawingml/2006/main" w="9525">
            <a:solidFill>
              <a:srgbClr val="E0E0E0"/>
            </a:solidFill>
            <a:prstDash val="solid"/>
          </a:ln>
        </p:spPr>
      </p:sp>
      <p:sp>
        <p:nvSpPr>
          <p:cNvPr id="7" name="ext-want-220">
            <a:extLst xmlns:a="http://schemas.openxmlformats.org/drawingml/2006/main">
              <a:ext uri="{FF2B5EF4-FFF2-40B4-BE49-F238E27FC236}">
                <a16:creationId xmlns:a16="http://schemas.microsoft.com/office/drawing/2014/main" id="{2F7415D6-B5C3-4AE2-A6F1-04D592282813}"/>
              </a:ext>
            </a:extLst>
          </p:cNvPr>
          <p:cNvSpPr>
            <a:spLocks xmlns:a="http://schemas.openxmlformats.org/drawingml/2006/main" noGrp="1"/>
          </p:cNvSpPr>
          <p:nvPr/>
        </p:nvSpPr>
        <p:spPr>
          <a:xfrm xmlns:a="http://schemas.openxmlformats.org/drawingml/2006/main">
            <a:off x="857250" y="22574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加一个根命令</a:t>
            </a:r>
          </a:p>
        </p:txBody>
      </p:sp>
      <p:sp>
        <p:nvSpPr>
          <p:cNvPr id="8" name="ext-path-220">
            <a:extLst xmlns:a="http://schemas.openxmlformats.org/drawingml/2006/main">
              <a:ext uri="{FF2B5EF4-FFF2-40B4-BE49-F238E27FC236}">
                <a16:creationId xmlns:a16="http://schemas.microsoft.com/office/drawing/2014/main" id="{97E9DF95-5802-4122-AA3E-735EAE344791}"/>
              </a:ext>
            </a:extLst>
          </p:cNvPr>
          <p:cNvSpPr>
            <a:spLocks xmlns:a="http://schemas.openxmlformats.org/drawingml/2006/main" noGrp="1"/>
          </p:cNvSpPr>
          <p:nvPr/>
        </p:nvSpPr>
        <p:spPr>
          <a:xfrm xmlns:a="http://schemas.openxmlformats.org/drawingml/2006/main">
            <a:off x="3429000" y="225742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FF6B35"/>
                </a:solidFill>
                <a:latin typeface="SF Mono"/>
                <a:ea typeface="SF Mono"/>
                <a:cs typeface="SF Mono"/>
              </a:defRPr>
            </a:pPr>
            <a:r>
              <a:rPr sz="1275" b="0">
                <a:solidFill>
                  <a:srgbClr val="FF6B35"/>
                </a:solidFill>
                <a:latin typeface="SF Mono"/>
                <a:ea typeface="SF Mono"/>
                <a:cs typeface="SF Mono"/>
              </a:rPr>
              <a:t>cmd/&lt;name&gt;.go</a:t>
            </a:r>
          </a:p>
        </p:txBody>
      </p:sp>
      <p:sp>
        <p:nvSpPr>
          <p:cNvPr id="9" name="ext-action-220">
            <a:extLst xmlns:a="http://schemas.openxmlformats.org/drawingml/2006/main">
              <a:ext uri="{FF2B5EF4-FFF2-40B4-BE49-F238E27FC236}">
                <a16:creationId xmlns:a16="http://schemas.microsoft.com/office/drawing/2014/main" id="{3810BE09-DDEF-4EFF-83B3-C0C8FBE26603}"/>
              </a:ext>
            </a:extLst>
          </p:cNvPr>
          <p:cNvSpPr>
            <a:spLocks xmlns:a="http://schemas.openxmlformats.org/drawingml/2006/main" noGrp="1"/>
          </p:cNvSpPr>
          <p:nvPr/>
        </p:nvSpPr>
        <p:spPr>
          <a:xfrm xmlns:a="http://schemas.openxmlformats.org/drawingml/2006/main">
            <a:off x="7810500" y="22574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Cobra command + flags + init 注册</a:t>
            </a:r>
          </a:p>
        </p:txBody>
      </p:sp>
      <p:sp>
        <p:nvSpPr>
          <p:cNvPr id="10" name="ext-row-282">
            <a:extLst xmlns:a="http://schemas.openxmlformats.org/drawingml/2006/main">
              <a:ext uri="{FF2B5EF4-FFF2-40B4-BE49-F238E27FC236}">
                <a16:creationId xmlns:a16="http://schemas.microsoft.com/office/drawing/2014/main" id="{239152FE-B6C6-44F3-9796-664D3A0035F5}"/>
              </a:ext>
            </a:extLst>
          </p:cNvPr>
          <p:cNvSpPr>
            <a:spLocks xmlns:a="http://schemas.openxmlformats.org/drawingml/2006/main" noGrp="1"/>
          </p:cNvSpPr>
          <p:nvPr/>
        </p:nvSpPr>
        <p:spPr>
          <a:xfrm xmlns:a="http://schemas.openxmlformats.org/drawingml/2006/main">
            <a:off x="609600" y="2686050"/>
            <a:ext cx="10953750" cy="590550"/>
          </a:xfrm>
          <a:prstGeom xmlns:a="http://schemas.openxmlformats.org/drawingml/2006/main" prst="rect">
            <a:avLst/>
          </a:prstGeom>
          <a:solidFill xmlns:a="http://schemas.openxmlformats.org/drawingml/2006/main">
            <a:srgbClr val="F7F7F7"/>
          </a:solidFill>
          <a:ln xmlns:a="http://schemas.openxmlformats.org/drawingml/2006/main" w="9525">
            <a:solidFill>
              <a:srgbClr val="E0E0E0"/>
            </a:solidFill>
            <a:prstDash val="solid"/>
          </a:ln>
        </p:spPr>
      </p:sp>
      <p:sp>
        <p:nvSpPr>
          <p:cNvPr id="11" name="ext-want-282">
            <a:extLst xmlns:a="http://schemas.openxmlformats.org/drawingml/2006/main">
              <a:ext uri="{FF2B5EF4-FFF2-40B4-BE49-F238E27FC236}">
                <a16:creationId xmlns:a16="http://schemas.microsoft.com/office/drawing/2014/main" id="{4921288A-AB0C-4800-8591-DCB2711FAEEF}"/>
              </a:ext>
            </a:extLst>
          </p:cNvPr>
          <p:cNvSpPr>
            <a:spLocks xmlns:a="http://schemas.openxmlformats.org/drawingml/2006/main" noGrp="1"/>
          </p:cNvSpPr>
          <p:nvPr/>
        </p:nvSpPr>
        <p:spPr>
          <a:xfrm xmlns:a="http://schemas.openxmlformats.org/drawingml/2006/main">
            <a:off x="857250" y="28479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加 formula 子命令</a:t>
            </a:r>
          </a:p>
        </p:txBody>
      </p:sp>
      <p:sp>
        <p:nvSpPr>
          <p:cNvPr id="12" name="ext-path-282">
            <a:extLst xmlns:a="http://schemas.openxmlformats.org/drawingml/2006/main">
              <a:ext uri="{FF2B5EF4-FFF2-40B4-BE49-F238E27FC236}">
                <a16:creationId xmlns:a16="http://schemas.microsoft.com/office/drawing/2014/main" id="{EEBE7CA3-6AFC-4573-B6C9-C584A1559FFE}"/>
              </a:ext>
            </a:extLst>
          </p:cNvPr>
          <p:cNvSpPr>
            <a:spLocks xmlns:a="http://schemas.openxmlformats.org/drawingml/2006/main" noGrp="1"/>
          </p:cNvSpPr>
          <p:nvPr/>
        </p:nvSpPr>
        <p:spPr>
          <a:xfrm xmlns:a="http://schemas.openxmlformats.org/drawingml/2006/main">
            <a:off x="3429000" y="284797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FF6B35"/>
                </a:solidFill>
                <a:latin typeface="SF Mono"/>
                <a:ea typeface="SF Mono"/>
                <a:cs typeface="SF Mono"/>
              </a:defRPr>
            </a:pPr>
            <a:r>
              <a:rPr sz="1275" b="0">
                <a:solidFill>
                  <a:srgbClr val="FF6B35"/>
                </a:solidFill>
                <a:latin typeface="SF Mono"/>
                <a:ea typeface="SF Mono"/>
                <a:cs typeface="SF Mono"/>
              </a:rPr>
              <a:t>cmd/formula/</a:t>
            </a:r>
          </a:p>
        </p:txBody>
      </p:sp>
      <p:sp>
        <p:nvSpPr>
          <p:cNvPr id="13" name="ext-action-282">
            <a:extLst xmlns:a="http://schemas.openxmlformats.org/drawingml/2006/main">
              <a:ext uri="{FF2B5EF4-FFF2-40B4-BE49-F238E27FC236}">
                <a16:creationId xmlns:a16="http://schemas.microsoft.com/office/drawing/2014/main" id="{0DF88F89-0AC2-4D12-A71A-C60BD9E22482}"/>
              </a:ext>
            </a:extLst>
          </p:cNvPr>
          <p:cNvSpPr>
            <a:spLocks xmlns:a="http://schemas.openxmlformats.org/drawingml/2006/main" noGrp="1"/>
          </p:cNvSpPr>
          <p:nvPr/>
        </p:nvSpPr>
        <p:spPr>
          <a:xfrm xmlns:a="http://schemas.openxmlformats.org/drawingml/2006/main">
            <a:off x="7810500" y="28479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891"/>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Dependencies/App/options + run/show/resume glue</a:t>
            </a:r>
          </a:p>
        </p:txBody>
      </p:sp>
      <p:sp>
        <p:nvSpPr>
          <p:cNvPr id="14" name="ext-row-344">
            <a:extLst xmlns:a="http://schemas.openxmlformats.org/drawingml/2006/main">
              <a:ext uri="{FF2B5EF4-FFF2-40B4-BE49-F238E27FC236}">
                <a16:creationId xmlns:a16="http://schemas.microsoft.com/office/drawing/2014/main" id="{53F6BA87-2A40-40F2-9E47-56C67017D6F9}"/>
              </a:ext>
            </a:extLst>
          </p:cNvPr>
          <p:cNvSpPr>
            <a:spLocks xmlns:a="http://schemas.openxmlformats.org/drawingml/2006/main" noGrp="1"/>
          </p:cNvSpPr>
          <p:nvPr/>
        </p:nvSpPr>
        <p:spPr>
          <a:xfrm xmlns:a="http://schemas.openxmlformats.org/drawingml/2006/main">
            <a:off x="609600" y="3276600"/>
            <a:ext cx="10953750" cy="590550"/>
          </a:xfrm>
          <a:prstGeom xmlns:a="http://schemas.openxmlformats.org/drawingml/2006/main" prst="rect">
            <a:avLst/>
          </a:prstGeom>
          <a:solidFill xmlns:a="http://schemas.openxmlformats.org/drawingml/2006/main">
            <a:srgbClr val="F7F7F7"/>
          </a:solidFill>
          <a:ln xmlns:a="http://schemas.openxmlformats.org/drawingml/2006/main" w="9525">
            <a:solidFill>
              <a:srgbClr val="E0E0E0"/>
            </a:solidFill>
            <a:prstDash val="solid"/>
          </a:ln>
        </p:spPr>
      </p:sp>
      <p:sp>
        <p:nvSpPr>
          <p:cNvPr id="15" name="ext-want-344">
            <a:extLst xmlns:a="http://schemas.openxmlformats.org/drawingml/2006/main">
              <a:ext uri="{FF2B5EF4-FFF2-40B4-BE49-F238E27FC236}">
                <a16:creationId xmlns:a16="http://schemas.microsoft.com/office/drawing/2014/main" id="{2E0F1D3A-A1B5-4EFF-AFE2-3B362EB5F840}"/>
              </a:ext>
            </a:extLst>
          </p:cNvPr>
          <p:cNvSpPr>
            <a:spLocks xmlns:a="http://schemas.openxmlformats.org/drawingml/2006/main" noGrp="1"/>
          </p:cNvSpPr>
          <p:nvPr/>
        </p:nvSpPr>
        <p:spPr>
          <a:xfrm xmlns:a="http://schemas.openxmlformats.org/drawingml/2006/main">
            <a:off x="857250" y="34385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加 workflow 模板</a:t>
            </a:r>
          </a:p>
        </p:txBody>
      </p:sp>
      <p:sp>
        <p:nvSpPr>
          <p:cNvPr id="16" name="ext-path-344">
            <a:extLst xmlns:a="http://schemas.openxmlformats.org/drawingml/2006/main">
              <a:ext uri="{FF2B5EF4-FFF2-40B4-BE49-F238E27FC236}">
                <a16:creationId xmlns:a16="http://schemas.microsoft.com/office/drawing/2014/main" id="{D6B30705-9583-40F7-82EB-714E95D9CAE2}"/>
              </a:ext>
            </a:extLst>
          </p:cNvPr>
          <p:cNvSpPr>
            <a:spLocks xmlns:a="http://schemas.openxmlformats.org/drawingml/2006/main" noGrp="1"/>
          </p:cNvSpPr>
          <p:nvPr/>
        </p:nvSpPr>
        <p:spPr>
          <a:xfrm xmlns:a="http://schemas.openxmlformats.org/drawingml/2006/main">
            <a:off x="3429000" y="343852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FF6B35"/>
                </a:solidFill>
                <a:latin typeface="SF Mono"/>
                <a:ea typeface="SF Mono"/>
                <a:cs typeface="SF Mono"/>
              </a:defRPr>
            </a:pPr>
            <a:r>
              <a:rPr sz="1275" b="0">
                <a:solidFill>
                  <a:srgbClr val="FF6B35"/>
                </a:solidFill>
                <a:latin typeface="SF Mono"/>
                <a:ea typeface="SF Mono"/>
                <a:cs typeface="SF Mono"/>
              </a:rPr>
              <a:t>.tt/formulas 或 internal/formula/builtin/formulas</a:t>
            </a:r>
          </a:p>
        </p:txBody>
      </p:sp>
      <p:sp>
        <p:nvSpPr>
          <p:cNvPr id="17" name="ext-action-344">
            <a:extLst xmlns:a="http://schemas.openxmlformats.org/drawingml/2006/main">
              <a:ext uri="{FF2B5EF4-FFF2-40B4-BE49-F238E27FC236}">
                <a16:creationId xmlns:a16="http://schemas.microsoft.com/office/drawing/2014/main" id="{F50985E3-A1CF-420E-9FEC-2A8A72CB61A2}"/>
              </a:ext>
            </a:extLst>
          </p:cNvPr>
          <p:cNvSpPr>
            <a:spLocks xmlns:a="http://schemas.openxmlformats.org/drawingml/2006/main" noGrp="1"/>
          </p:cNvSpPr>
          <p:nvPr/>
        </p:nvSpPr>
        <p:spPr>
          <a:xfrm xmlns:a="http://schemas.openxmlformats.org/drawingml/2006/main">
            <a:off x="7810500" y="34385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44"/>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从 builtin copy；先 validate，再 run --dry-run</a:t>
            </a:r>
          </a:p>
        </p:txBody>
      </p:sp>
      <p:sp>
        <p:nvSpPr>
          <p:cNvPr id="18" name="ext-row-406">
            <a:extLst xmlns:a="http://schemas.openxmlformats.org/drawingml/2006/main">
              <a:ext uri="{FF2B5EF4-FFF2-40B4-BE49-F238E27FC236}">
                <a16:creationId xmlns:a16="http://schemas.microsoft.com/office/drawing/2014/main" id="{45C04B30-49E9-4470-B65A-1929F921CCA3}"/>
              </a:ext>
            </a:extLst>
          </p:cNvPr>
          <p:cNvSpPr>
            <a:spLocks xmlns:a="http://schemas.openxmlformats.org/drawingml/2006/main" noGrp="1"/>
          </p:cNvSpPr>
          <p:nvPr/>
        </p:nvSpPr>
        <p:spPr>
          <a:xfrm xmlns:a="http://schemas.openxmlformats.org/drawingml/2006/main">
            <a:off x="609600" y="3867150"/>
            <a:ext cx="10953750" cy="590550"/>
          </a:xfrm>
          <a:prstGeom xmlns:a="http://schemas.openxmlformats.org/drawingml/2006/main" prst="rect">
            <a:avLst/>
          </a:prstGeom>
          <a:solidFill xmlns:a="http://schemas.openxmlformats.org/drawingml/2006/main">
            <a:srgbClr val="F7F7F7"/>
          </a:solidFill>
          <a:ln xmlns:a="http://schemas.openxmlformats.org/drawingml/2006/main" w="9525">
            <a:solidFill>
              <a:srgbClr val="E0E0E0"/>
            </a:solidFill>
            <a:prstDash val="solid"/>
          </a:ln>
        </p:spPr>
      </p:sp>
      <p:sp>
        <p:nvSpPr>
          <p:cNvPr id="19" name="ext-want-406">
            <a:extLst xmlns:a="http://schemas.openxmlformats.org/drawingml/2006/main">
              <a:ext uri="{FF2B5EF4-FFF2-40B4-BE49-F238E27FC236}">
                <a16:creationId xmlns:a16="http://schemas.microsoft.com/office/drawing/2014/main" id="{37B3C9A0-4B98-45B4-A55D-EB48CD260458}"/>
              </a:ext>
            </a:extLst>
          </p:cNvPr>
          <p:cNvSpPr>
            <a:spLocks xmlns:a="http://schemas.openxmlformats.org/drawingml/2006/main" noGrp="1"/>
          </p:cNvSpPr>
          <p:nvPr/>
        </p:nvSpPr>
        <p:spPr>
          <a:xfrm xmlns:a="http://schemas.openxmlformats.org/drawingml/2006/main">
            <a:off x="857250" y="40290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加 step kind</a:t>
            </a:r>
          </a:p>
        </p:txBody>
      </p:sp>
      <p:sp>
        <p:nvSpPr>
          <p:cNvPr id="20" name="ext-path-406">
            <a:extLst xmlns:a="http://schemas.openxmlformats.org/drawingml/2006/main">
              <a:ext uri="{FF2B5EF4-FFF2-40B4-BE49-F238E27FC236}">
                <a16:creationId xmlns:a16="http://schemas.microsoft.com/office/drawing/2014/main" id="{7458DCF1-5E85-41A5-B2F1-0BDABAD18B10}"/>
              </a:ext>
            </a:extLst>
          </p:cNvPr>
          <p:cNvSpPr>
            <a:spLocks xmlns:a="http://schemas.openxmlformats.org/drawingml/2006/main" noGrp="1"/>
          </p:cNvSpPr>
          <p:nvPr/>
        </p:nvSpPr>
        <p:spPr>
          <a:xfrm xmlns:a="http://schemas.openxmlformats.org/drawingml/2006/main">
            <a:off x="3429000" y="402907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FF6B35"/>
                </a:solidFill>
                <a:latin typeface="SF Mono"/>
                <a:ea typeface="SF Mono"/>
                <a:cs typeface="SF Mono"/>
              </a:defRPr>
            </a:pPr>
            <a:r>
              <a:rPr sz="1275" b="0">
                <a:solidFill>
                  <a:srgbClr val="FF6B35"/>
                </a:solidFill>
                <a:latin typeface="SF Mono"/>
                <a:ea typeface="SF Mono"/>
                <a:cs typeface="SF Mono"/>
              </a:rPr>
              <a:t>internal/formula/steps + runtime capabilities</a:t>
            </a:r>
          </a:p>
        </p:txBody>
      </p:sp>
      <p:sp>
        <p:nvSpPr>
          <p:cNvPr id="21" name="ext-action-406">
            <a:extLst xmlns:a="http://schemas.openxmlformats.org/drawingml/2006/main">
              <a:ext uri="{FF2B5EF4-FFF2-40B4-BE49-F238E27FC236}">
                <a16:creationId xmlns:a16="http://schemas.microsoft.com/office/drawing/2014/main" id="{029B8FEF-EBD1-4CD5-8E01-BA965B1B03B8}"/>
              </a:ext>
            </a:extLst>
          </p:cNvPr>
          <p:cNvSpPr>
            <a:spLocks xmlns:a="http://schemas.openxmlformats.org/drawingml/2006/main" noGrp="1"/>
          </p:cNvSpPr>
          <p:nvPr/>
        </p:nvSpPr>
        <p:spPr>
          <a:xfrm xmlns:a="http://schemas.openxmlformats.org/drawingml/2006/main">
            <a:off x="7810500" y="40290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009"/>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定义 Step/Executable、Registry decoder、测试</a:t>
            </a:r>
          </a:p>
        </p:txBody>
      </p:sp>
      <p:sp>
        <p:nvSpPr>
          <p:cNvPr id="22" name="ext-row-468">
            <a:extLst xmlns:a="http://schemas.openxmlformats.org/drawingml/2006/main">
              <a:ext uri="{FF2B5EF4-FFF2-40B4-BE49-F238E27FC236}">
                <a16:creationId xmlns:a16="http://schemas.microsoft.com/office/drawing/2014/main" id="{8391BFF5-052D-41C0-B397-BACA290EF16D}"/>
              </a:ext>
            </a:extLst>
          </p:cNvPr>
          <p:cNvSpPr>
            <a:spLocks xmlns:a="http://schemas.openxmlformats.org/drawingml/2006/main" noGrp="1"/>
          </p:cNvSpPr>
          <p:nvPr/>
        </p:nvSpPr>
        <p:spPr>
          <a:xfrm xmlns:a="http://schemas.openxmlformats.org/drawingml/2006/main">
            <a:off x="609600" y="4457700"/>
            <a:ext cx="10953750" cy="590550"/>
          </a:xfrm>
          <a:prstGeom xmlns:a="http://schemas.openxmlformats.org/drawingml/2006/main" prst="rect">
            <a:avLst/>
          </a:prstGeom>
          <a:solidFill xmlns:a="http://schemas.openxmlformats.org/drawingml/2006/main">
            <a:srgbClr val="F7F7F7"/>
          </a:solidFill>
          <a:ln xmlns:a="http://schemas.openxmlformats.org/drawingml/2006/main" w="9525">
            <a:solidFill>
              <a:srgbClr val="E0E0E0"/>
            </a:solidFill>
            <a:prstDash val="solid"/>
          </a:ln>
        </p:spPr>
      </p:sp>
      <p:sp>
        <p:nvSpPr>
          <p:cNvPr id="23" name="ext-want-468">
            <a:extLst xmlns:a="http://schemas.openxmlformats.org/drawingml/2006/main">
              <a:ext uri="{FF2B5EF4-FFF2-40B4-BE49-F238E27FC236}">
                <a16:creationId xmlns:a16="http://schemas.microsoft.com/office/drawing/2014/main" id="{D87FEB3A-73C3-4B94-95CC-596880188987}"/>
              </a:ext>
            </a:extLst>
          </p:cNvPr>
          <p:cNvSpPr>
            <a:spLocks xmlns:a="http://schemas.openxmlformats.org/drawingml/2006/main" noGrp="1"/>
          </p:cNvSpPr>
          <p:nvPr/>
        </p:nvSpPr>
        <p:spPr>
          <a:xfrm xmlns:a="http://schemas.openxmlformats.org/drawingml/2006/main">
            <a:off x="857250" y="46196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加 embedded agent</a:t>
            </a:r>
          </a:p>
        </p:txBody>
      </p:sp>
      <p:sp>
        <p:nvSpPr>
          <p:cNvPr id="24" name="ext-path-468">
            <a:extLst xmlns:a="http://schemas.openxmlformats.org/drawingml/2006/main">
              <a:ext uri="{FF2B5EF4-FFF2-40B4-BE49-F238E27FC236}">
                <a16:creationId xmlns:a16="http://schemas.microsoft.com/office/drawing/2014/main" id="{38FA67AA-A16E-41C6-B2E0-9373833A3CD0}"/>
              </a:ext>
            </a:extLst>
          </p:cNvPr>
          <p:cNvSpPr>
            <a:spLocks xmlns:a="http://schemas.openxmlformats.org/drawingml/2006/main" noGrp="1"/>
          </p:cNvSpPr>
          <p:nvPr/>
        </p:nvSpPr>
        <p:spPr>
          <a:xfrm xmlns:a="http://schemas.openxmlformats.org/drawingml/2006/main">
            <a:off x="3429000" y="461962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FF6B35"/>
                </a:solidFill>
                <a:latin typeface="SF Mono"/>
                <a:ea typeface="SF Mono"/>
                <a:cs typeface="SF Mono"/>
              </a:defRPr>
            </a:pPr>
            <a:r>
              <a:rPr sz="1275" b="0">
                <a:solidFill>
                  <a:srgbClr val="FF6B35"/>
                </a:solidFill>
                <a:latin typeface="SF Mono"/>
                <a:ea typeface="SF Mono"/>
                <a:cs typeface="SF Mono"/>
              </a:rPr>
              <a:t>internal/agents/embedded/&lt;category&gt;/*.md</a:t>
            </a:r>
          </a:p>
        </p:txBody>
      </p:sp>
      <p:sp>
        <p:nvSpPr>
          <p:cNvPr id="25" name="ext-action-468">
            <a:extLst xmlns:a="http://schemas.openxmlformats.org/drawingml/2006/main">
              <a:ext uri="{FF2B5EF4-FFF2-40B4-BE49-F238E27FC236}">
                <a16:creationId xmlns:a16="http://schemas.microsoft.com/office/drawing/2014/main" id="{B12FAFB1-080E-411B-9F1F-DFCB52ACDD74}"/>
              </a:ext>
            </a:extLst>
          </p:cNvPr>
          <p:cNvSpPr>
            <a:spLocks xmlns:a="http://schemas.openxmlformats.org/drawingml/2006/main" noGrp="1"/>
          </p:cNvSpPr>
          <p:nvPr/>
        </p:nvSpPr>
        <p:spPr>
          <a:xfrm xmlns:a="http://schemas.openxmlformats.org/drawingml/2006/main">
            <a:off x="7810500" y="46196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YAML frontmatter + prompt body</a:t>
            </a:r>
          </a:p>
        </p:txBody>
      </p:sp>
      <p:sp>
        <p:nvSpPr>
          <p:cNvPr id="26" name="ext-row-530">
            <a:extLst xmlns:a="http://schemas.openxmlformats.org/drawingml/2006/main">
              <a:ext uri="{FF2B5EF4-FFF2-40B4-BE49-F238E27FC236}">
                <a16:creationId xmlns:a16="http://schemas.microsoft.com/office/drawing/2014/main" id="{788189CE-142A-4E5C-827C-6E40791D58FB}"/>
              </a:ext>
            </a:extLst>
          </p:cNvPr>
          <p:cNvSpPr>
            <a:spLocks xmlns:a="http://schemas.openxmlformats.org/drawingml/2006/main" noGrp="1"/>
          </p:cNvSpPr>
          <p:nvPr/>
        </p:nvSpPr>
        <p:spPr>
          <a:xfrm xmlns:a="http://schemas.openxmlformats.org/drawingml/2006/main">
            <a:off x="609600" y="5048250"/>
            <a:ext cx="10953750" cy="590550"/>
          </a:xfrm>
          <a:prstGeom xmlns:a="http://schemas.openxmlformats.org/drawingml/2006/main" prst="rect">
            <a:avLst/>
          </a:prstGeom>
          <a:solidFill xmlns:a="http://schemas.openxmlformats.org/drawingml/2006/main">
            <a:srgbClr val="F7F7F7"/>
          </a:solidFill>
          <a:ln xmlns:a="http://schemas.openxmlformats.org/drawingml/2006/main" w="9525">
            <a:solidFill>
              <a:srgbClr val="E0E0E0"/>
            </a:solidFill>
            <a:prstDash val="solid"/>
          </a:ln>
        </p:spPr>
      </p:sp>
      <p:sp>
        <p:nvSpPr>
          <p:cNvPr id="27" name="ext-want-530">
            <a:extLst xmlns:a="http://schemas.openxmlformats.org/drawingml/2006/main">
              <a:ext uri="{FF2B5EF4-FFF2-40B4-BE49-F238E27FC236}">
                <a16:creationId xmlns:a16="http://schemas.microsoft.com/office/drawing/2014/main" id="{DC8B8333-5B8F-4E67-9392-00E31A9957F1}"/>
              </a:ext>
            </a:extLst>
          </p:cNvPr>
          <p:cNvSpPr>
            <a:spLocks xmlns:a="http://schemas.openxmlformats.org/drawingml/2006/main" noGrp="1"/>
          </p:cNvSpPr>
          <p:nvPr/>
        </p:nvSpPr>
        <p:spPr>
          <a:xfrm xmlns:a="http://schemas.openxmlformats.org/drawingml/2006/main">
            <a:off x="857250" y="521017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500" b="1">
                <a:solidFill>
                  <a:srgbClr val="111111"/>
                </a:solidFill>
                <a:latin typeface="PingFang SC"/>
                <a:ea typeface="PingFang SC"/>
                <a:cs typeface="PingFang SC"/>
              </a:defRPr>
            </a:pPr>
            <a:r>
              <a:rPr sz="1500" b="1">
                <a:solidFill>
                  <a:srgbClr val="111111"/>
                </a:solidFill>
                <a:latin typeface="PingFang SC"/>
                <a:ea typeface="PingFang SC"/>
                <a:cs typeface="PingFang SC"/>
              </a:rPr>
              <a:t>加 Web UI surface</a:t>
            </a:r>
          </a:p>
        </p:txBody>
      </p:sp>
      <p:sp>
        <p:nvSpPr>
          <p:cNvPr id="28" name="ext-path-530">
            <a:extLst xmlns:a="http://schemas.openxmlformats.org/drawingml/2006/main">
              <a:ext uri="{FF2B5EF4-FFF2-40B4-BE49-F238E27FC236}">
                <a16:creationId xmlns:a16="http://schemas.microsoft.com/office/drawing/2014/main" id="{52A72553-7C33-4E44-9AE1-F08BEA4881B6}"/>
              </a:ext>
            </a:extLst>
          </p:cNvPr>
          <p:cNvSpPr>
            <a:spLocks xmlns:a="http://schemas.openxmlformats.org/drawingml/2006/main" noGrp="1"/>
          </p:cNvSpPr>
          <p:nvPr/>
        </p:nvSpPr>
        <p:spPr>
          <a:xfrm xmlns:a="http://schemas.openxmlformats.org/drawingml/2006/main">
            <a:off x="3429000" y="5210175"/>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FF6B35"/>
                </a:solidFill>
                <a:latin typeface="SF Mono"/>
                <a:ea typeface="SF Mono"/>
                <a:cs typeface="SF Mono"/>
              </a:defRPr>
            </a:pPr>
            <a:r>
              <a:rPr sz="1275" b="0">
                <a:solidFill>
                  <a:srgbClr val="FF6B35"/>
                </a:solidFill>
                <a:latin typeface="SF Mono"/>
                <a:ea typeface="SF Mono"/>
                <a:cs typeface="SF Mono"/>
              </a:rPr>
              <a:t>web/apps/* + internal/webui</a:t>
            </a:r>
          </a:p>
        </p:txBody>
      </p:sp>
      <p:sp>
        <p:nvSpPr>
          <p:cNvPr id="29" name="ext-action-530">
            <a:extLst xmlns:a="http://schemas.openxmlformats.org/drawingml/2006/main">
              <a:ext uri="{FF2B5EF4-FFF2-40B4-BE49-F238E27FC236}">
                <a16:creationId xmlns:a16="http://schemas.microsoft.com/office/drawing/2014/main" id="{5300B29C-7106-4E4D-BA16-64B9681FEA3E}"/>
              </a:ext>
            </a:extLst>
          </p:cNvPr>
          <p:cNvSpPr>
            <a:spLocks xmlns:a="http://schemas.openxmlformats.org/drawingml/2006/main" noGrp="1"/>
          </p:cNvSpPr>
          <p:nvPr/>
        </p:nvSpPr>
        <p:spPr>
          <a:xfrm xmlns:a="http://schemas.openxmlformats.org/drawingml/2006/main">
            <a:off x="7810500" y="52101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a:solidFill>
                  <a:srgbClr val="555555"/>
                </a:solidFill>
                <a:latin typeface="PingFang SC"/>
                <a:ea typeface="PingFang SC"/>
                <a:cs typeface="PingFang SC"/>
              </a:defRPr>
            </a:pPr>
            <a:r>
              <a:rPr sz="1275" b="0">
                <a:solidFill>
                  <a:srgbClr val="555555"/>
                </a:solidFill>
                <a:latin typeface="PingFang SC"/>
                <a:ea typeface="PingFang SC"/>
                <a:cs typeface="PingFang SC"/>
              </a:rPr>
              <a:t>Vite build -&gt; embed -&gt; local HTTP handler</a:t>
            </a:r>
          </a:p>
        </p:txBody>
      </p:sp>
    </p:spTree>
    <p:extLst>
      <p:ext uri="{BB962C8B-B14F-4D97-AF65-F5344CB8AC3E}">
        <p14:creationId xmlns:p14="http://schemas.microsoft.com/office/powerpoint/2010/main" val="1884742296"/>
      </p:ext>
    </p:extLst>
  </p:cSld>
</p:sld>
</file>

<file path=ppt/slides/slide1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 name="section">
            <a:extLst xmlns:a="http://schemas.openxmlformats.org/drawingml/2006/main">
              <a:ext uri="{FF2B5EF4-FFF2-40B4-BE49-F238E27FC236}">
                <a16:creationId xmlns:a16="http://schemas.microsoft.com/office/drawing/2014/main" id="{91FF9163-E8ED-4363-8FC1-846A9833A598}"/>
              </a:ext>
            </a:extLst>
          </p:cNvPr>
          <p:cNvSpPr>
            <a:spLocks xmlns:a="http://schemas.openxmlformats.org/drawingml/2006/main" noGrp="1"/>
          </p:cNvSpPr>
          <p:nvPr/>
        </p:nvSpPr>
        <p:spPr>
          <a:xfrm xmlns:a="http://schemas.openxmlformats.org/drawingml/2006/main">
            <a:off x="666750" y="5905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1">
                <a:solidFill>
                  <a:srgbClr val="FFFFFF"/>
                </a:solidFill>
                <a:latin typeface="PingFang SC"/>
                <a:ea typeface="PingFang SC"/>
                <a:cs typeface="PingFang SC"/>
              </a:defRPr>
            </a:pPr>
            <a:r>
              <a:rPr sz="1200" b="1">
                <a:solidFill>
                  <a:srgbClr val="FFFFFF"/>
                </a:solidFill>
                <a:latin typeface="PingFang SC"/>
                <a:ea typeface="PingFang SC"/>
                <a:cs typeface="PingFang SC"/>
              </a:rPr>
              <a:t>wrap-up</a:t>
            </a:r>
          </a:p>
        </p:txBody>
      </p:sp>
      <p:sp>
        <p:nvSpPr>
          <p:cNvPr id="2" name="title">
            <a:extLst xmlns:a="http://schemas.openxmlformats.org/drawingml/2006/main">
              <a:ext uri="{FF2B5EF4-FFF2-40B4-BE49-F238E27FC236}">
                <a16:creationId xmlns:a16="http://schemas.microsoft.com/office/drawing/2014/main" id="{D46F47FC-4833-4195-BEF9-2770D2E2820B}"/>
              </a:ext>
            </a:extLst>
          </p:cNvPr>
          <p:cNvSpPr>
            <a:spLocks xmlns:a="http://schemas.openxmlformats.org/drawingml/2006/main" noGrp="1"/>
          </p:cNvSpPr>
          <p:nvPr/>
        </p:nvSpPr>
        <p:spPr>
          <a:xfrm xmlns:a="http://schemas.openxmlformats.org/drawingml/2006/main">
            <a:off x="666750" y="12001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349"/>
          </a:bodyPr>
          <a:lstStyle xmlns:a="http://schemas.openxmlformats.org/drawingml/2006/main"/>
          <a:p xmlns:a="http://schemas.openxmlformats.org/drawingml/2006/main">
            <a:pPr algn="l">
              <a:lnSpc>
                <a:spcPct val="112000"/>
              </a:lnSpc>
              <a:buNone/>
              <a:defRPr sz="4200" b="1">
                <a:solidFill>
                  <a:srgbClr val="FFFFFF"/>
                </a:solidFill>
                <a:latin typeface="PingFang SC"/>
                <a:ea typeface="PingFang SC"/>
                <a:cs typeface="PingFang SC"/>
              </a:defRPr>
            </a:pPr>
            <a:r>
              <a:rPr sz="4200" b="1">
                <a:solidFill>
                  <a:srgbClr val="FFFFFF"/>
                </a:solidFill>
                <a:latin typeface="PingFang SC"/>
                <a:ea typeface="PingFang SC"/>
                <a:cs typeface="PingFang SC"/>
              </a:rPr>
              <a:t>现场 demo 建议</a:t>
            </a:r>
          </a:p>
        </p:txBody>
      </p:sp>
      <p:sp>
        <p:nvSpPr>
          <p:cNvPr id="3" name="subtitle">
            <a:extLst xmlns:a="http://schemas.openxmlformats.org/drawingml/2006/main">
              <a:ext uri="{FF2B5EF4-FFF2-40B4-BE49-F238E27FC236}">
                <a16:creationId xmlns:a16="http://schemas.microsoft.com/office/drawing/2014/main" id="{D8C6A012-4E76-4E83-ADE2-B5A6C789CD31}"/>
              </a:ext>
            </a:extLst>
          </p:cNvPr>
          <p:cNvSpPr>
            <a:spLocks xmlns:a="http://schemas.openxmlformats.org/drawingml/2006/main" noGrp="1"/>
          </p:cNvSpPr>
          <p:nvPr/>
        </p:nvSpPr>
        <p:spPr>
          <a:xfrm xmlns:a="http://schemas.openxmlformats.org/drawingml/2006/main">
            <a:off x="685800" y="1971675"/>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0">
                <a:solidFill>
                  <a:srgbClr val="D8D8D8"/>
                </a:solidFill>
                <a:latin typeface="PingFang SC"/>
                <a:ea typeface="PingFang SC"/>
                <a:cs typeface="PingFang SC"/>
              </a:defRPr>
            </a:pPr>
            <a:r>
              <a:rPr sz="1800" b="0">
                <a:solidFill>
                  <a:srgbClr val="D8D8D8"/>
                </a:solidFill>
                <a:latin typeface="PingFang SC"/>
                <a:ea typeface="PingFang SC"/>
                <a:cs typeface="PingFang SC"/>
              </a:rPr>
              <a:t>用 8-10 分钟让同事看到 tt 的真实触感。</a:t>
            </a:r>
          </a:p>
        </p:txBody>
      </p:sp>
      <p:sp>
        <p:nvSpPr>
          <p:cNvPr id="4" name="tag-tt --help-90">
            <a:extLst xmlns:a="http://schemas.openxmlformats.org/drawingml/2006/main">
              <a:ext uri="{FF2B5EF4-FFF2-40B4-BE49-F238E27FC236}">
                <a16:creationId xmlns:a16="http://schemas.microsoft.com/office/drawing/2014/main" id="{86DBC23F-100F-4BAA-9F9D-8F330CA38C7D}"/>
              </a:ext>
            </a:extLst>
          </p:cNvPr>
          <p:cNvSpPr>
            <a:spLocks xmlns:a="http://schemas.openxmlformats.org/drawingml/2006/main" noGrp="1"/>
          </p:cNvSpPr>
          <p:nvPr/>
        </p:nvSpPr>
        <p:spPr>
          <a:xfrm xmlns:a="http://schemas.openxmlformats.org/drawingml/2006/main">
            <a:off x="857250" y="2857500"/>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5" name="tag-text-tt --help-90">
            <a:extLst xmlns:a="http://schemas.openxmlformats.org/drawingml/2006/main">
              <a:ext uri="{FF2B5EF4-FFF2-40B4-BE49-F238E27FC236}">
                <a16:creationId xmlns:a16="http://schemas.microsoft.com/office/drawing/2014/main" id="{E2690FEE-AC7A-471C-9E7D-45C52760F360}"/>
              </a:ext>
            </a:extLst>
          </p:cNvPr>
          <p:cNvSpPr>
            <a:spLocks xmlns:a="http://schemas.openxmlformats.org/drawingml/2006/main" noGrp="1"/>
          </p:cNvSpPr>
          <p:nvPr/>
        </p:nvSpPr>
        <p:spPr>
          <a:xfrm xmlns:a="http://schemas.openxmlformats.org/drawingml/2006/main">
            <a:off x="971550" y="2943225"/>
            <a:ext cx="3486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05"/>
          </a:bodyPr>
          <a:lstStyle xmlns:a="http://schemas.openxmlformats.org/drawingml/2006/main"/>
          <a:p xmlns:a="http://schemas.openxmlformats.org/drawingml/2006/main">
            <a:pPr algn="l">
              <a:lnSpc>
                <a:spcPct val="112000"/>
              </a:lnSpc>
              <a:buNone/>
              <a:defRPr sz="1200" b="0">
                <a:solidFill>
                  <a:srgbClr val="FF6B35"/>
                </a:solidFill>
                <a:latin typeface="SF Mono"/>
                <a:ea typeface="SF Mono"/>
                <a:cs typeface="SF Mono"/>
              </a:defRPr>
            </a:pPr>
            <a:r>
              <a:rPr sz="1200" b="0">
                <a:solidFill>
                  <a:srgbClr val="FF6B35"/>
                </a:solidFill>
                <a:latin typeface="SF Mono"/>
                <a:ea typeface="SF Mono"/>
                <a:cs typeface="SF Mono"/>
              </a:rPr>
              <a:t>tt --help</a:t>
            </a:r>
          </a:p>
        </p:txBody>
      </p:sp>
      <p:sp>
        <p:nvSpPr>
          <p:cNvPr id="6" name="why-tt --help">
            <a:extLst xmlns:a="http://schemas.openxmlformats.org/drawingml/2006/main">
              <a:ext uri="{FF2B5EF4-FFF2-40B4-BE49-F238E27FC236}">
                <a16:creationId xmlns:a16="http://schemas.microsoft.com/office/drawing/2014/main" id="{A43E05C9-1F98-4734-9BD2-1CB2010FE93A}"/>
              </a:ext>
            </a:extLst>
          </p:cNvPr>
          <p:cNvSpPr>
            <a:spLocks xmlns:a="http://schemas.openxmlformats.org/drawingml/2006/main" noGrp="1"/>
          </p:cNvSpPr>
          <p:nvPr/>
        </p:nvSpPr>
        <p:spPr>
          <a:xfrm xmlns:a="http://schemas.openxmlformats.org/drawingml/2006/main">
            <a:off x="4953000" y="2933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0">
                <a:solidFill>
                  <a:srgbClr val="FFFFFF"/>
                </a:solidFill>
                <a:latin typeface="PingFang SC"/>
                <a:ea typeface="PingFang SC"/>
                <a:cs typeface="PingFang SC"/>
              </a:defRPr>
            </a:pPr>
            <a:r>
              <a:rPr sz="1500" b="0">
                <a:solidFill>
                  <a:srgbClr val="FFFFFF"/>
                </a:solidFill>
                <a:latin typeface="PingFang SC"/>
                <a:ea typeface="PingFang SC"/>
                <a:cs typeface="PingFang SC"/>
              </a:rPr>
              <a:t>看集合式 CLI 的入口形态</a:t>
            </a:r>
          </a:p>
        </p:txBody>
      </p:sp>
      <p:sp>
        <p:nvSpPr>
          <p:cNvPr id="7" name="tag-tt agent --list-90">
            <a:extLst xmlns:a="http://schemas.openxmlformats.org/drawingml/2006/main">
              <a:ext uri="{FF2B5EF4-FFF2-40B4-BE49-F238E27FC236}">
                <a16:creationId xmlns:a16="http://schemas.microsoft.com/office/drawing/2014/main" id="{D7456F03-66C9-4408-8940-82B0279976AB}"/>
              </a:ext>
            </a:extLst>
          </p:cNvPr>
          <p:cNvSpPr>
            <a:spLocks xmlns:a="http://schemas.openxmlformats.org/drawingml/2006/main" noGrp="1"/>
          </p:cNvSpPr>
          <p:nvPr/>
        </p:nvSpPr>
        <p:spPr>
          <a:xfrm xmlns:a="http://schemas.openxmlformats.org/drawingml/2006/main">
            <a:off x="857250" y="3409950"/>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8" name="tag-text-tt agent --list-90">
            <a:extLst xmlns:a="http://schemas.openxmlformats.org/drawingml/2006/main">
              <a:ext uri="{FF2B5EF4-FFF2-40B4-BE49-F238E27FC236}">
                <a16:creationId xmlns:a16="http://schemas.microsoft.com/office/drawing/2014/main" id="{358B905D-B876-4DAB-BB7A-395F44DD9D47}"/>
              </a:ext>
            </a:extLst>
          </p:cNvPr>
          <p:cNvSpPr>
            <a:spLocks xmlns:a="http://schemas.openxmlformats.org/drawingml/2006/main" noGrp="1"/>
          </p:cNvSpPr>
          <p:nvPr/>
        </p:nvSpPr>
        <p:spPr>
          <a:xfrm xmlns:a="http://schemas.openxmlformats.org/drawingml/2006/main">
            <a:off x="971550" y="3495675"/>
            <a:ext cx="3486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05"/>
          </a:bodyPr>
          <a:lstStyle xmlns:a="http://schemas.openxmlformats.org/drawingml/2006/main"/>
          <a:p xmlns:a="http://schemas.openxmlformats.org/drawingml/2006/main">
            <a:pPr algn="l">
              <a:lnSpc>
                <a:spcPct val="112000"/>
              </a:lnSpc>
              <a:buNone/>
              <a:defRPr sz="1200" b="0">
                <a:solidFill>
                  <a:srgbClr val="FF6B35"/>
                </a:solidFill>
                <a:latin typeface="SF Mono"/>
                <a:ea typeface="SF Mono"/>
                <a:cs typeface="SF Mono"/>
              </a:defRPr>
            </a:pPr>
            <a:r>
              <a:rPr sz="1200" b="0">
                <a:solidFill>
                  <a:srgbClr val="FF6B35"/>
                </a:solidFill>
                <a:latin typeface="SF Mono"/>
                <a:ea typeface="SF Mono"/>
                <a:cs typeface="SF Mono"/>
              </a:rPr>
              <a:t>tt agent --list</a:t>
            </a:r>
          </a:p>
        </p:txBody>
      </p:sp>
      <p:sp>
        <p:nvSpPr>
          <p:cNvPr id="9" name="why-tt agent --list">
            <a:extLst xmlns:a="http://schemas.openxmlformats.org/drawingml/2006/main">
              <a:ext uri="{FF2B5EF4-FFF2-40B4-BE49-F238E27FC236}">
                <a16:creationId xmlns:a16="http://schemas.microsoft.com/office/drawing/2014/main" id="{87F46E54-4FBC-4E57-82AD-0C2660B36C12}"/>
              </a:ext>
            </a:extLst>
          </p:cNvPr>
          <p:cNvSpPr>
            <a:spLocks xmlns:a="http://schemas.openxmlformats.org/drawingml/2006/main" noGrp="1"/>
          </p:cNvSpPr>
          <p:nvPr/>
        </p:nvSpPr>
        <p:spPr>
          <a:xfrm xmlns:a="http://schemas.openxmlformats.org/drawingml/2006/main">
            <a:off x="4953000" y="3486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0">
                <a:solidFill>
                  <a:srgbClr val="FFFFFF"/>
                </a:solidFill>
                <a:latin typeface="PingFang SC"/>
                <a:ea typeface="PingFang SC"/>
                <a:cs typeface="PingFang SC"/>
              </a:defRPr>
            </a:pPr>
            <a:r>
              <a:rPr sz="1500" b="0">
                <a:solidFill>
                  <a:srgbClr val="FFFFFF"/>
                </a:solidFill>
                <a:latin typeface="PingFang SC"/>
                <a:ea typeface="PingFang SC"/>
                <a:cs typeface="PingFang SC"/>
              </a:rPr>
              <a:t>看 embedded agents 与 Picoclaw 配置</a:t>
            </a:r>
          </a:p>
        </p:txBody>
      </p:sp>
      <p:sp>
        <p:nvSpPr>
          <p:cNvPr id="10" name="tag-tt formula list --builtin-90">
            <a:extLst xmlns:a="http://schemas.openxmlformats.org/drawingml/2006/main">
              <a:ext uri="{FF2B5EF4-FFF2-40B4-BE49-F238E27FC236}">
                <a16:creationId xmlns:a16="http://schemas.microsoft.com/office/drawing/2014/main" id="{0556507E-B56A-4E16-9128-45EACB66E8EE}"/>
              </a:ext>
            </a:extLst>
          </p:cNvPr>
          <p:cNvSpPr>
            <a:spLocks xmlns:a="http://schemas.openxmlformats.org/drawingml/2006/main" noGrp="1"/>
          </p:cNvSpPr>
          <p:nvPr/>
        </p:nvSpPr>
        <p:spPr>
          <a:xfrm xmlns:a="http://schemas.openxmlformats.org/drawingml/2006/main">
            <a:off x="857250" y="3962400"/>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11" name="tag-text-tt formula list --builtin-90">
            <a:extLst xmlns:a="http://schemas.openxmlformats.org/drawingml/2006/main">
              <a:ext uri="{FF2B5EF4-FFF2-40B4-BE49-F238E27FC236}">
                <a16:creationId xmlns:a16="http://schemas.microsoft.com/office/drawing/2014/main" id="{D8D873DC-A5C8-401B-AE6E-3752CB744CBE}"/>
              </a:ext>
            </a:extLst>
          </p:cNvPr>
          <p:cNvSpPr>
            <a:spLocks xmlns:a="http://schemas.openxmlformats.org/drawingml/2006/main" noGrp="1"/>
          </p:cNvSpPr>
          <p:nvPr/>
        </p:nvSpPr>
        <p:spPr>
          <a:xfrm xmlns:a="http://schemas.openxmlformats.org/drawingml/2006/main">
            <a:off x="971550" y="4048125"/>
            <a:ext cx="3486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05"/>
          </a:bodyPr>
          <a:lstStyle xmlns:a="http://schemas.openxmlformats.org/drawingml/2006/main"/>
          <a:p xmlns:a="http://schemas.openxmlformats.org/drawingml/2006/main">
            <a:pPr algn="l">
              <a:lnSpc>
                <a:spcPct val="112000"/>
              </a:lnSpc>
              <a:buNone/>
              <a:defRPr sz="1200" b="0">
                <a:solidFill>
                  <a:srgbClr val="FF6B35"/>
                </a:solidFill>
                <a:latin typeface="SF Mono"/>
                <a:ea typeface="SF Mono"/>
                <a:cs typeface="SF Mono"/>
              </a:defRPr>
            </a:pPr>
            <a:r>
              <a:rPr sz="1200" b="0">
                <a:solidFill>
                  <a:srgbClr val="FF6B35"/>
                </a:solidFill>
                <a:latin typeface="SF Mono"/>
                <a:ea typeface="SF Mono"/>
                <a:cs typeface="SF Mono"/>
              </a:rPr>
              <a:t>tt formula list --builtin</a:t>
            </a:r>
          </a:p>
        </p:txBody>
      </p:sp>
      <p:sp>
        <p:nvSpPr>
          <p:cNvPr id="12" name="why-tt formula list --builtin">
            <a:extLst xmlns:a="http://schemas.openxmlformats.org/drawingml/2006/main">
              <a:ext uri="{FF2B5EF4-FFF2-40B4-BE49-F238E27FC236}">
                <a16:creationId xmlns:a16="http://schemas.microsoft.com/office/drawing/2014/main" id="{EDE54057-A111-4C14-ADDE-0BD4AEBDD35D}"/>
              </a:ext>
            </a:extLst>
          </p:cNvPr>
          <p:cNvSpPr>
            <a:spLocks xmlns:a="http://schemas.openxmlformats.org/drawingml/2006/main" noGrp="1"/>
          </p:cNvSpPr>
          <p:nvPr/>
        </p:nvSpPr>
        <p:spPr>
          <a:xfrm xmlns:a="http://schemas.openxmlformats.org/drawingml/2006/main">
            <a:off x="4953000" y="40386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0">
                <a:solidFill>
                  <a:srgbClr val="FFFFFF"/>
                </a:solidFill>
                <a:latin typeface="PingFang SC"/>
                <a:ea typeface="PingFang SC"/>
                <a:cs typeface="PingFang SC"/>
              </a:defRPr>
            </a:pPr>
            <a:r>
              <a:rPr sz="1500" b="0">
                <a:solidFill>
                  <a:srgbClr val="FFFFFF"/>
                </a:solidFill>
                <a:latin typeface="PingFang SC"/>
                <a:ea typeface="PingFang SC"/>
                <a:cs typeface="PingFang SC"/>
              </a:rPr>
              <a:t>看内置 workflow 资产库</a:t>
            </a:r>
          </a:p>
        </p:txBody>
      </p:sp>
      <p:sp>
        <p:nvSpPr>
          <p:cNvPr id="13" name="tag-tt formula show bug-fix --markdown-90">
            <a:extLst xmlns:a="http://schemas.openxmlformats.org/drawingml/2006/main">
              <a:ext uri="{FF2B5EF4-FFF2-40B4-BE49-F238E27FC236}">
                <a16:creationId xmlns:a16="http://schemas.microsoft.com/office/drawing/2014/main" id="{A88ECA65-6C88-4780-B938-4642FCA0A3E7}"/>
              </a:ext>
            </a:extLst>
          </p:cNvPr>
          <p:cNvSpPr>
            <a:spLocks xmlns:a="http://schemas.openxmlformats.org/drawingml/2006/main" noGrp="1"/>
          </p:cNvSpPr>
          <p:nvPr/>
        </p:nvSpPr>
        <p:spPr>
          <a:xfrm xmlns:a="http://schemas.openxmlformats.org/drawingml/2006/main">
            <a:off x="857250" y="4514850"/>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14" name="tag-text-tt formula show bug-fix --markdown-90">
            <a:extLst xmlns:a="http://schemas.openxmlformats.org/drawingml/2006/main">
              <a:ext uri="{FF2B5EF4-FFF2-40B4-BE49-F238E27FC236}">
                <a16:creationId xmlns:a16="http://schemas.microsoft.com/office/drawing/2014/main" id="{2A36D301-B0FE-49C2-BF4E-08801D3411AF}"/>
              </a:ext>
            </a:extLst>
          </p:cNvPr>
          <p:cNvSpPr>
            <a:spLocks xmlns:a="http://schemas.openxmlformats.org/drawingml/2006/main" noGrp="1"/>
          </p:cNvSpPr>
          <p:nvPr/>
        </p:nvSpPr>
        <p:spPr>
          <a:xfrm xmlns:a="http://schemas.openxmlformats.org/drawingml/2006/main">
            <a:off x="971550" y="4600575"/>
            <a:ext cx="3486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05"/>
          </a:bodyPr>
          <a:lstStyle xmlns:a="http://schemas.openxmlformats.org/drawingml/2006/main"/>
          <a:p xmlns:a="http://schemas.openxmlformats.org/drawingml/2006/main">
            <a:pPr algn="l">
              <a:lnSpc>
                <a:spcPct val="112000"/>
              </a:lnSpc>
              <a:buNone/>
              <a:defRPr sz="1200" b="0">
                <a:solidFill>
                  <a:srgbClr val="FF6B35"/>
                </a:solidFill>
                <a:latin typeface="SF Mono"/>
                <a:ea typeface="SF Mono"/>
                <a:cs typeface="SF Mono"/>
              </a:defRPr>
            </a:pPr>
            <a:r>
              <a:rPr sz="1200" b="0">
                <a:solidFill>
                  <a:srgbClr val="FF6B35"/>
                </a:solidFill>
                <a:latin typeface="SF Mono"/>
                <a:ea typeface="SF Mono"/>
                <a:cs typeface="SF Mono"/>
              </a:rPr>
              <a:t>tt formula show bug-fix --markdown</a:t>
            </a:r>
          </a:p>
        </p:txBody>
      </p:sp>
      <p:sp>
        <p:nvSpPr>
          <p:cNvPr id="15" name="why-tt formula show bug-fix --markdown">
            <a:extLst xmlns:a="http://schemas.openxmlformats.org/drawingml/2006/main">
              <a:ext uri="{FF2B5EF4-FFF2-40B4-BE49-F238E27FC236}">
                <a16:creationId xmlns:a16="http://schemas.microsoft.com/office/drawing/2014/main" id="{F1D2741E-DDAB-4B18-B286-1052E1DDDD1D}"/>
              </a:ext>
            </a:extLst>
          </p:cNvPr>
          <p:cNvSpPr>
            <a:spLocks xmlns:a="http://schemas.openxmlformats.org/drawingml/2006/main" noGrp="1"/>
          </p:cNvSpPr>
          <p:nvPr/>
        </p:nvSpPr>
        <p:spPr>
          <a:xfrm xmlns:a="http://schemas.openxmlformats.org/drawingml/2006/main">
            <a:off x="4953000" y="45910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0">
                <a:solidFill>
                  <a:srgbClr val="FFFFFF"/>
                </a:solidFill>
                <a:latin typeface="PingFang SC"/>
                <a:ea typeface="PingFang SC"/>
                <a:cs typeface="PingFang SC"/>
              </a:defRPr>
            </a:pPr>
            <a:r>
              <a:rPr sz="1500" b="0">
                <a:solidFill>
                  <a:srgbClr val="FFFFFF"/>
                </a:solidFill>
                <a:latin typeface="PingFang SC"/>
                <a:ea typeface="PingFang SC"/>
                <a:cs typeface="PingFang SC"/>
              </a:rPr>
              <a:t>看 formula 文档化和图示</a:t>
            </a:r>
          </a:p>
        </p:txBody>
      </p:sp>
      <p:sp>
        <p:nvSpPr>
          <p:cNvPr id="16" name="tag-tt markdown README.md-90">
            <a:extLst xmlns:a="http://schemas.openxmlformats.org/drawingml/2006/main">
              <a:ext uri="{FF2B5EF4-FFF2-40B4-BE49-F238E27FC236}">
                <a16:creationId xmlns:a16="http://schemas.microsoft.com/office/drawing/2014/main" id="{54538ABE-CE5B-447B-946E-689C19E32E92}"/>
              </a:ext>
            </a:extLst>
          </p:cNvPr>
          <p:cNvSpPr>
            <a:spLocks xmlns:a="http://schemas.openxmlformats.org/drawingml/2006/main" noGrp="1"/>
          </p:cNvSpPr>
          <p:nvPr/>
        </p:nvSpPr>
        <p:spPr>
          <a:xfrm xmlns:a="http://schemas.openxmlformats.org/drawingml/2006/main">
            <a:off x="857250" y="5067300"/>
            <a:ext cx="3714750" cy="342900"/>
          </a:xfrm>
          <a:prstGeom xmlns:a="http://schemas.openxmlformats.org/drawingml/2006/main" prst="rect">
            <a:avLst/>
          </a:prstGeom>
          <a:solidFill xmlns:a="http://schemas.openxmlformats.org/drawingml/2006/main">
            <a:srgbClr val="FFFFFF"/>
          </a:solidFill>
          <a:ln xmlns:a="http://schemas.openxmlformats.org/drawingml/2006/main" w="9525">
            <a:solidFill>
              <a:srgbClr val="D8D8D8"/>
            </a:solidFill>
            <a:prstDash val="solid"/>
          </a:ln>
        </p:spPr>
      </p:sp>
      <p:sp>
        <p:nvSpPr>
          <p:cNvPr id="17" name="tag-text-tt markdown README.md-90">
            <a:extLst xmlns:a="http://schemas.openxmlformats.org/drawingml/2006/main">
              <a:ext uri="{FF2B5EF4-FFF2-40B4-BE49-F238E27FC236}">
                <a16:creationId xmlns:a16="http://schemas.microsoft.com/office/drawing/2014/main" id="{755DA068-AC8A-4793-BB13-71012DDD7FB4}"/>
              </a:ext>
            </a:extLst>
          </p:cNvPr>
          <p:cNvSpPr>
            <a:spLocks xmlns:a="http://schemas.openxmlformats.org/drawingml/2006/main" noGrp="1"/>
          </p:cNvSpPr>
          <p:nvPr/>
        </p:nvSpPr>
        <p:spPr>
          <a:xfrm xmlns:a="http://schemas.openxmlformats.org/drawingml/2006/main">
            <a:off x="971550" y="5153025"/>
            <a:ext cx="3486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705"/>
          </a:bodyPr>
          <a:lstStyle xmlns:a="http://schemas.openxmlformats.org/drawingml/2006/main"/>
          <a:p xmlns:a="http://schemas.openxmlformats.org/drawingml/2006/main">
            <a:pPr algn="l">
              <a:lnSpc>
                <a:spcPct val="112000"/>
              </a:lnSpc>
              <a:buNone/>
              <a:defRPr sz="1200" b="0">
                <a:solidFill>
                  <a:srgbClr val="FF6B35"/>
                </a:solidFill>
                <a:latin typeface="SF Mono"/>
                <a:ea typeface="SF Mono"/>
                <a:cs typeface="SF Mono"/>
              </a:defRPr>
            </a:pPr>
            <a:r>
              <a:rPr sz="1200" b="0">
                <a:solidFill>
                  <a:srgbClr val="FF6B35"/>
                </a:solidFill>
                <a:latin typeface="SF Mono"/>
                <a:ea typeface="SF Mono"/>
                <a:cs typeface="SF Mono"/>
              </a:rPr>
              <a:t>tt markdown README.md</a:t>
            </a:r>
          </a:p>
        </p:txBody>
      </p:sp>
      <p:sp>
        <p:nvSpPr>
          <p:cNvPr id="18" name="why-tt markdown README.md">
            <a:extLst xmlns:a="http://schemas.openxmlformats.org/drawingml/2006/main">
              <a:ext uri="{FF2B5EF4-FFF2-40B4-BE49-F238E27FC236}">
                <a16:creationId xmlns:a16="http://schemas.microsoft.com/office/drawing/2014/main" id="{F8D11D30-459E-407E-A61B-FB720E59024D}"/>
              </a:ext>
            </a:extLst>
          </p:cNvPr>
          <p:cNvSpPr>
            <a:spLocks xmlns:a="http://schemas.openxmlformats.org/drawingml/2006/main" noGrp="1"/>
          </p:cNvSpPr>
          <p:nvPr/>
        </p:nvSpPr>
        <p:spPr>
          <a:xfrm xmlns:a="http://schemas.openxmlformats.org/drawingml/2006/main">
            <a:off x="4953000" y="51435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845"/>
          </a:bodyPr>
          <a:lstStyle xmlns:a="http://schemas.openxmlformats.org/drawingml/2006/main"/>
          <a:p xmlns:a="http://schemas.openxmlformats.org/drawingml/2006/main">
            <a:pPr algn="l">
              <a:lnSpc>
                <a:spcPct val="112000"/>
              </a:lnSpc>
              <a:buNone/>
              <a:defRPr sz="1500" b="0">
                <a:solidFill>
                  <a:srgbClr val="FFFFFF"/>
                </a:solidFill>
                <a:latin typeface="PingFang SC"/>
                <a:ea typeface="PingFang SC"/>
                <a:cs typeface="PingFang SC"/>
              </a:defRPr>
            </a:pPr>
            <a:r>
              <a:rPr sz="1500" b="0">
                <a:solidFill>
                  <a:srgbClr val="FFFFFF"/>
                </a:solidFill>
                <a:latin typeface="PingFang SC"/>
                <a:ea typeface="PingFang SC"/>
                <a:cs typeface="PingFang SC"/>
              </a:rPr>
              <a:t>看本地 Web UI 的体验</a:t>
            </a:r>
          </a:p>
        </p:txBody>
      </p:sp>
      <p:sp>
        <p:nvSpPr>
          <p:cNvPr id="19" name="final-accent">
            <a:extLst xmlns:a="http://schemas.openxmlformats.org/drawingml/2006/main">
              <a:ext uri="{FF2B5EF4-FFF2-40B4-BE49-F238E27FC236}">
                <a16:creationId xmlns:a16="http://schemas.microsoft.com/office/drawing/2014/main" id="{0B17AD48-A8BE-4547-A27B-837BC0A7D1AC}"/>
              </a:ext>
            </a:extLst>
          </p:cNvPr>
          <p:cNvSpPr>
            <a:spLocks xmlns:a="http://schemas.openxmlformats.org/drawingml/2006/main" noGrp="1"/>
          </p:cNvSpPr>
          <p:nvPr/>
        </p:nvSpPr>
        <p:spPr>
          <a:xfrm xmlns:a="http://schemas.openxmlformats.org/drawingml/2006/main">
            <a:off x="10458450" y="0"/>
            <a:ext cx="1733550" cy="68580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0" name="final-ask">
            <a:extLst xmlns:a="http://schemas.openxmlformats.org/drawingml/2006/main">
              <a:ext uri="{FF2B5EF4-FFF2-40B4-BE49-F238E27FC236}">
                <a16:creationId xmlns:a16="http://schemas.microsoft.com/office/drawing/2014/main" id="{12E8874B-8CF4-41B3-B6E4-703C29827B3B}"/>
              </a:ext>
            </a:extLst>
          </p:cNvPr>
          <p:cNvSpPr>
            <a:spLocks xmlns:a="http://schemas.openxmlformats.org/drawingml/2006/main" noGrp="1"/>
          </p:cNvSpPr>
          <p:nvPr/>
        </p:nvSpPr>
        <p:spPr>
          <a:xfrm xmlns:a="http://schemas.openxmlformats.org/drawingml/2006/main">
            <a:off x="10744200" y="876300"/>
            <a:ext cx="1047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73"/>
          </a:bodyPr>
          <a:lstStyle xmlns:a="http://schemas.openxmlformats.org/drawingml/2006/main"/>
          <a:p xmlns:a="http://schemas.openxmlformats.org/drawingml/2006/main">
            <a:pPr algn="ctr">
              <a:lnSpc>
                <a:spcPct val="112000"/>
              </a:lnSpc>
              <a:buNone/>
              <a:defRPr sz="2700" b="1">
                <a:solidFill>
                  <a:srgbClr val="111111"/>
                </a:solidFill>
                <a:latin typeface="PingFang SC"/>
                <a:ea typeface="PingFang SC"/>
                <a:cs typeface="PingFang SC"/>
              </a:defRPr>
            </a:pPr>
            <a:r>
              <a:rPr sz="2700" b="1">
                <a:solidFill>
                  <a:srgbClr val="111111"/>
                </a:solidFill>
                <a:latin typeface="PingFang SC"/>
                <a:ea typeface="PingFang SC"/>
                <a:cs typeface="PingFang SC"/>
              </a:rPr>
              <a:t>Next</a:t>
            </a:r>
          </a:p>
        </p:txBody>
      </p:sp>
      <p:sp>
        <p:nvSpPr>
          <p:cNvPr id="21" name="final-copy">
            <a:extLst xmlns:a="http://schemas.openxmlformats.org/drawingml/2006/main">
              <a:ext uri="{FF2B5EF4-FFF2-40B4-BE49-F238E27FC236}">
                <a16:creationId xmlns:a16="http://schemas.microsoft.com/office/drawing/2014/main" id="{7865D69D-6AD6-4467-962A-AB416DD35C26}"/>
              </a:ext>
            </a:extLst>
          </p:cNvPr>
          <p:cNvSpPr>
            <a:spLocks xmlns:a="http://schemas.openxmlformats.org/drawingml/2006/main" noGrp="1"/>
          </p:cNvSpPr>
          <p:nvPr/>
        </p:nvSpPr>
        <p:spPr>
          <a:xfrm xmlns:a="http://schemas.openxmlformats.org/drawingml/2006/main">
            <a:off x="10744200" y="1571625"/>
            <a:ext cx="1047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111111"/>
                </a:solidFill>
                <a:latin typeface="PingFang SC"/>
                <a:ea typeface="PingFang SC"/>
                <a:cs typeface="PingFang SC"/>
              </a:defRPr>
            </a:pPr>
            <a:r>
              <a:rPr sz="1800" b="1">
                <a:solidFill>
                  <a:srgbClr val="111111"/>
                </a:solidFill>
                <a:latin typeface="PingFang SC"/>
                <a:ea typeface="PingFang SC"/>
                <a:cs typeface="PingFang SC"/>
              </a:rPr>
              <a:t>把一个团队真实重复任务 formula 化。</a:t>
            </a:r>
          </a:p>
        </p:txBody>
      </p:sp>
      <p:sp>
        <p:nvSpPr>
          <p:cNvPr id="22" name="footer">
            <a:extLst xmlns:a="http://schemas.openxmlformats.org/drawingml/2006/main">
              <a:ext uri="{FF2B5EF4-FFF2-40B4-BE49-F238E27FC236}">
                <a16:creationId xmlns:a16="http://schemas.microsoft.com/office/drawing/2014/main" id="{3F0E5419-2DF0-46CF-A448-73375D6DF3B1}"/>
              </a:ext>
            </a:extLst>
          </p:cNvPr>
          <p:cNvSpPr>
            <a:spLocks xmlns:a="http://schemas.openxmlformats.org/drawingml/2006/main" noGrp="1"/>
          </p:cNvSpPr>
          <p:nvPr/>
        </p:nvSpPr>
        <p:spPr>
          <a:xfrm xmlns:a="http://schemas.openxmlformats.org/drawingml/2006/main">
            <a:off x="666750" y="61912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D8D8D8"/>
                </a:solidFill>
                <a:latin typeface="PingFang SC"/>
                <a:ea typeface="PingFang SC"/>
                <a:cs typeface="PingFang SC"/>
              </a:defRPr>
            </a:pPr>
            <a:r>
              <a:rPr sz="1200" b="0">
                <a:solidFill>
                  <a:srgbClr val="D8D8D8"/>
                </a:solidFill>
                <a:latin typeface="PingFang SC"/>
                <a:ea typeface="PingFang SC"/>
                <a:cs typeface="PingFang SC"/>
              </a:rPr>
              <a:t>90 min total</a:t>
            </a:r>
          </a:p>
        </p:txBody>
      </p:sp>
    </p:spTree>
    <p:extLst>
      <p:ext uri="{BB962C8B-B14F-4D97-AF65-F5344CB8AC3E}">
        <p14:creationId xmlns:p14="http://schemas.microsoft.com/office/powerpoint/2010/main" val="19509216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2026-06-29T06:23:40.3840000Z</dcterms:created>
  <dcterms:modified xsi:type="dcterms:W3CDTF">2026-06-29T06:23:40.3840000Z</dcterms:modified>
</coreProperties>
</file>